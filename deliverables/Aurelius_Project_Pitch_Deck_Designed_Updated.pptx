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792457d934d17" /><Relationship Type="http://schemas.openxmlformats.org/officeDocument/2006/relationships/extended-properties" Target="/docProps/app.xml" Id="R844378d3f5c746b7" /><Relationship Type="http://schemas.openxmlformats.org/officeDocument/2006/relationships/officeDocument" Target="/ppt/presentation.xml" Id="Re02d2344c016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03b1fb5c74db0"/>
  </p:sldMasterIdLst>
  <p:notesMasterIdLst>
    <p:notesMasterId xmlns:r="http://schemas.openxmlformats.org/officeDocument/2006/relationships" r:id="R73e7491eba1349cf"/>
  </p:notesMasterIdLst>
  <p:sldIdLst>
    <p:sldId xmlns:r="http://schemas.openxmlformats.org/officeDocument/2006/relationships" id="256" r:id="Rbe8e5266395a4d67"/>
    <p:sldId xmlns:r="http://schemas.openxmlformats.org/officeDocument/2006/relationships" id="257" r:id="Rcbfb351bc5c74cb3"/>
    <p:sldId xmlns:r="http://schemas.openxmlformats.org/officeDocument/2006/relationships" id="258" r:id="Rdcbf6f352d614234"/>
    <p:sldId xmlns:r="http://schemas.openxmlformats.org/officeDocument/2006/relationships" id="259" r:id="R2357ee0d2a774679"/>
    <p:sldId xmlns:r="http://schemas.openxmlformats.org/officeDocument/2006/relationships" id="260" r:id="R0fdddadcf1c24a2b"/>
    <p:sldId xmlns:r="http://schemas.openxmlformats.org/officeDocument/2006/relationships" id="261" r:id="R3a00d6fc63f64da3"/>
    <p:sldId xmlns:r="http://schemas.openxmlformats.org/officeDocument/2006/relationships" id="262" r:id="Rfc757173cfc24ef9"/>
    <p:sldId xmlns:r="http://schemas.openxmlformats.org/officeDocument/2006/relationships" id="263" r:id="R6ff863c0af074d13"/>
    <p:sldId xmlns:r="http://schemas.openxmlformats.org/officeDocument/2006/relationships" id="264" r:id="R9d7ff51afbaf4ef5"/>
    <p:sldId xmlns:r="http://schemas.openxmlformats.org/officeDocument/2006/relationships" id="265" r:id="R16b0e7765d614f16"/>
    <p:sldId xmlns:r="http://schemas.openxmlformats.org/officeDocument/2006/relationships" id="266" r:id="R21681005079a49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03b1fb5c74db0" /><Relationship Type="http://schemas.openxmlformats.org/officeDocument/2006/relationships/theme" Target="/ppt/theme/theme1.xml" Id="Rbe94535cac314c44" /><Relationship Type="http://schemas.openxmlformats.org/officeDocument/2006/relationships/notesMaster" Target="/ppt/notesMasters/notesMaster1.xml" Id="R73e7491eba1349cf" /><Relationship Type="http://schemas.openxmlformats.org/officeDocument/2006/relationships/presProps" Target="/ppt/presProps.xml" Id="R36f31b9cc9104b90" /><Relationship Type="http://schemas.openxmlformats.org/officeDocument/2006/relationships/viewProps" Target="/ppt/viewProps.xml" Id="R699b750f22924d1b" /><Relationship Type="http://schemas.openxmlformats.org/officeDocument/2006/relationships/tableStyles" Target="/ppt/tableStyles.xml" Id="Rff40badcb0014c12" /><Relationship Type="http://schemas.openxmlformats.org/officeDocument/2006/relationships/slide" Target="/ppt/slides/slide1.xml" Id="Rbe8e5266395a4d67" /><Relationship Type="http://schemas.openxmlformats.org/officeDocument/2006/relationships/slide" Target="/ppt/slides/slide2.xml" Id="Rcbfb351bc5c74cb3" /><Relationship Type="http://schemas.openxmlformats.org/officeDocument/2006/relationships/slide" Target="/ppt/slides/slide3.xml" Id="Rdcbf6f352d614234" /><Relationship Type="http://schemas.openxmlformats.org/officeDocument/2006/relationships/slide" Target="/ppt/slides/slide4.xml" Id="R2357ee0d2a774679" /><Relationship Type="http://schemas.openxmlformats.org/officeDocument/2006/relationships/slide" Target="/ppt/slides/slide5.xml" Id="R0fdddadcf1c24a2b" /><Relationship Type="http://schemas.openxmlformats.org/officeDocument/2006/relationships/slide" Target="/ppt/slides/slide6.xml" Id="R3a00d6fc63f64da3" /><Relationship Type="http://schemas.openxmlformats.org/officeDocument/2006/relationships/slide" Target="/ppt/slides/slide7.xml" Id="Rfc757173cfc24ef9" /><Relationship Type="http://schemas.openxmlformats.org/officeDocument/2006/relationships/slide" Target="/ppt/slides/slide8.xml" Id="R6ff863c0af074d13" /><Relationship Type="http://schemas.openxmlformats.org/officeDocument/2006/relationships/slide" Target="/ppt/slides/slide9.xml" Id="R9d7ff51afbaf4ef5" /><Relationship Type="http://schemas.openxmlformats.org/officeDocument/2006/relationships/slide" Target="/ppt/slides/slide10.xml" Id="R16b0e7765d614f16" /><Relationship Type="http://schemas.openxmlformats.org/officeDocument/2006/relationships/slide" Target="/ppt/slides/slide11.xml" Id="R21681005079a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e09d39381c49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da25dc0b4944c8" /><Relationship Type="http://schemas.openxmlformats.org/officeDocument/2006/relationships/notesMaster" Target="/ppt/notesMasters/notesMaster1.xml" Id="Ra204f6da6817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03fee508245e8" /><Relationship Type="http://schemas.openxmlformats.org/officeDocument/2006/relationships/notesMaster" Target="/ppt/notesMasters/notesMaster1.xml" Id="R508f46c9f0e9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4ca91c6ab438e" /><Relationship Type="http://schemas.openxmlformats.org/officeDocument/2006/relationships/notesMaster" Target="/ppt/notesMasters/notesMaster1.xml" Id="Reeff2d03ef26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2f8326f62479b" /><Relationship Type="http://schemas.openxmlformats.org/officeDocument/2006/relationships/notesMaster" Target="/ppt/notesMasters/notesMaster1.xml" Id="Ra5e6e6b5ada847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bdf208d30843c0" /><Relationship Type="http://schemas.openxmlformats.org/officeDocument/2006/relationships/notesMaster" Target="/ppt/notesMasters/notesMaster1.xml" Id="R7ded65e85f60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0abac2b6f4ce5" /><Relationship Type="http://schemas.openxmlformats.org/officeDocument/2006/relationships/notesMaster" Target="/ppt/notesMasters/notesMaster1.xml" Id="Ra87ef275a556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ecf244ee6f463d" /><Relationship Type="http://schemas.openxmlformats.org/officeDocument/2006/relationships/notesMaster" Target="/ppt/notesMasters/notesMaster1.xml" Id="Rb9bb6dcc3f2242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19e1c2ffc4324" /><Relationship Type="http://schemas.openxmlformats.org/officeDocument/2006/relationships/notesMaster" Target="/ppt/notesMasters/notesMaster1.xml" Id="R87584529a15741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7ce8fb13b34df7" /><Relationship Type="http://schemas.openxmlformats.org/officeDocument/2006/relationships/notesMaster" Target="/ppt/notesMasters/notesMaster1.xml" Id="Rb997552f42b147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66d92083b46e7" /><Relationship Type="http://schemas.openxmlformats.org/officeDocument/2006/relationships/notesMaster" Target="/ppt/notesMasters/notesMaster1.xml" Id="R379be465107a4f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409fbb9c8b4516" /><Relationship Type="http://schemas.openxmlformats.org/officeDocument/2006/relationships/notesMaster" Target="/ppt/notesMasters/notesMaster1.xml" Id="Rb6eee76ef51a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56338eb3a4c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bacdf9b94f4018" /><Relationship Type="http://schemas.openxmlformats.org/officeDocument/2006/relationships/slideLayout" Target="/ppt/slideLayouts/slideLayout2.xml" Id="Rf6c99be836a9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99be836a9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9dd3b38a646b9" /><Relationship Type="http://schemas.openxmlformats.org/officeDocument/2006/relationships/notesSlide" Target="/ppt/notesSlides/notesSlide1.xml" Id="Rb89b314073ba47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5ba16c24843d1" /><Relationship Type="http://schemas.openxmlformats.org/officeDocument/2006/relationships/notesSlide" Target="/ppt/notesSlides/notesSlide2.xml" Id="Ree4ddc4d0c98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394123fdb748d6" /><Relationship Type="http://schemas.openxmlformats.org/officeDocument/2006/relationships/notesSlide" Target="/ppt/notesSlides/notesSlide3.xml" Id="R06bebd6bb1b0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3c634d039477a" /><Relationship Type="http://schemas.openxmlformats.org/officeDocument/2006/relationships/notesSlide" Target="/ppt/notesSlides/notesSlide4.xml" Id="R00dc3235c07940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1b9eb375e416b" /><Relationship Type="http://schemas.openxmlformats.org/officeDocument/2006/relationships/notesSlide" Target="/ppt/notesSlides/notesSlide5.xml" Id="R589b3e6c86714e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f857adae349f1" /><Relationship Type="http://schemas.openxmlformats.org/officeDocument/2006/relationships/notesSlide" Target="/ppt/notesSlides/notesSlide6.xml" Id="Rcf217447c7984f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14c58c2fe4265" /><Relationship Type="http://schemas.openxmlformats.org/officeDocument/2006/relationships/notesSlide" Target="/ppt/notesSlides/notesSlide7.xml" Id="R009d2242c96844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033f886954685" /><Relationship Type="http://schemas.openxmlformats.org/officeDocument/2006/relationships/notesSlide" Target="/ppt/notesSlides/notesSlide8.xml" Id="R027d3a7d4974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ac72829c4a47ac" /><Relationship Type="http://schemas.openxmlformats.org/officeDocument/2006/relationships/notesSlide" Target="/ppt/notesSlides/notesSlide9.xml" Id="Re9c14b7498c3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c4eeeaae7490f" /><Relationship Type="http://schemas.openxmlformats.org/officeDocument/2006/relationships/notesSlide" Target="/ppt/notesSlides/notesSlide10.xml" Id="R8f95ef6f6dc74f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6fae819b443ce" /><Relationship Type="http://schemas.openxmlformats.org/officeDocument/2006/relationships/notesSlide" Target="/ppt/notesSlides/notesSlide11.xml" Id="R11257ffd242840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68EAC-429A-4B27-BC3F-4318907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22FED-F1E8-420E-95FD-983EB576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57A1C-5929-49D6-B362-0A9743C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CCC03-8A1B-4121-A054-68343153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9F05-90D9-4A3C-8F4C-09BE443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D622A-5B2D-4F31-B38E-A0B2B3DA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Aurelius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DAF36-FD11-4D20-9F44-CAA62DC5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Autonomous management intelligence for HR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C0EB7-2838-4951-8DB0-459827D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The system reads HR data through APIs or demo import, stores it in one place, and turns it into explainable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AC6C1-F084-48D0-A460-BFAE154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D1168-A425-4CC5-BE94-EF8BF34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API-first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31EEF-E22E-47CD-9D8C-501995A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1DD20-B60D-41AE-93E1-6224F96B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385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8A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8A3D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0CDDA-AD6B-426B-B10F-C94BBFEF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00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5C64C-1871-45AD-8AD7-9DF0D17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3850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C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C58A"/>
                </a:solidFill>
                <a:latin typeface="Aptos"/>
                <a:ea typeface="Aptos"/>
                <a:cs typeface="Aptos"/>
              </a:rPr>
              <a:t>Demo-ready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0998B-A749-4BEB-AEF6-F650EE2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A9320-7067-4109-A232-CA42651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BA8BA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DDB49-29C5-4AAA-BC8C-577B4764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F294E-45AD-4C62-A036-CD8E70B1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386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Problem and opening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55C26-9424-4245-8B6F-34D0ED30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F2EC0-8370-4648-8D49-DA94D9B3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Architecture and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9185F-5DAE-48B3-A336-168FC62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93B6C-2561-4B1D-B0AD-89FE6E5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72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Core functions and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7BF9D-84A9-4402-86CD-DFC392E0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91248-9AD6-4558-9A59-8EAC4B6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387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Uniqueness and 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999D7-7053-431D-A47C-AF84027F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14400"/>
            <a:ext cx="200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C0BB5-86FA-4D9A-8D21-BA8840D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430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What the panel should remember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D4D3E-CD06-44B6-ACA3-550FF06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2E537-156E-4CA4-9B1A-0F48CE9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HR data</a:t>
            </a:r>
          </a:p>
          <a:p xmlns:a="http://schemas.openxmlformats.org/drawingml/2006/main">
            <a:pPr algn="ctr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comes 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022F6-D857-4E8D-BFC6-CE1A3440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B9A8F0-D039-46B0-814B-135E7288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Aurelius</a:t>
            </a:r>
          </a:p>
          <a:p xmlns:a="http://schemas.openxmlformats.org/drawingml/2006/main">
            <a:pPr algn="ctr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interprets 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6C1B1-B6DC-481A-A63E-EB1E976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113600-1F75-444A-BAB5-C6D87EA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116183-2020-4394-9DB2-067187DE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0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story is simple: connect, analyze, explain, act.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04154-4CAF-4D33-B74D-A1815177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590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BD28EB-82BE-4D89-815E-771DE4C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2763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TEAM PRESENTATION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17319E-DA26-4288-8B56-DFBF835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15 minutes</a:t>
            </a:r>
          </a:p>
          <a:p xmlns:a="http://schemas.openxmlformats.org/drawingml/2006/main">
            <a:pPr algn="ctr">
              <a:defRPr sz="22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11 slides</a:t>
            </a:r>
          </a:p>
          <a:p xmlns:a="http://schemas.openxmlformats.org/drawingml/2006/main">
            <a:pPr algn="ctr">
              <a:defRPr sz="22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1 clear 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AD7660-7BFD-428A-B69B-92985E8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9B8C65-F318-461E-8D4A-60BD2B62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Not a data dump. A decision system that can be explained in plain language.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7759FB-0F3F-4B64-96E5-76E9BB76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0BD6F-99E2-4704-B77C-86874DB2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F123B-9EE7-412A-8B6C-ACE9C454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internal project docs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92E923-689E-45A7-A1D4-D39A602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69463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178DB-7EDE-4A32-8BB2-A2C2A14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FB2C-3170-4D0A-A54D-79676324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78B5E-4702-4793-B240-C61273E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9B71F-AAB5-4C67-87D3-22740D1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90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presentation moves from the problem to the platform, then to the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68E95-469D-4DAA-8291-0AC66F9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order is designed for a live panel: first the pain, then the system, then the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03D7E-175E-4AE1-B832-6818BE6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A4430-6E20-41F0-B530-CCEB8D6F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D73A1-4365-4555-9761-51967D3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05FC8-2FC6-43D6-8D43-10EB812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Why HR teams lose time and clarity.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8EDC2-13AB-4DB8-8159-A7D1B3AE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E8521-045C-4EBA-B1E4-A501F10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80BA0-E2E2-442A-B99B-FD73920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B8FB9-00EF-4C3C-B48B-BEC50B0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What Aurelius 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A8A1C-A869-4816-B132-BE1070AC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system role and why it sits above existing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E284F-6553-42FF-B5CA-67B7EE4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93F7E-395B-4CA6-B456-7518F208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D4D9A-C316-4A7D-A92D-31CDD99D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17E4C-DA42-469C-9B03-FB1E23A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28151-E186-49C8-A451-0A36D107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API or demo input -&gt; database -&gt; intelligence endpoints -&gt; UI.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EE44D-3FF0-41EF-8655-1C3B17E0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8BA46-8CF9-45FD-8930-EECBB4A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EE568-3F03-48B5-AFD0-079FAAF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97DD0-BE25-4EDC-96D3-74FCEA0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Core 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DA1D8-8714-483A-8739-A950CBF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Attrition, network analysis, career path, and team optimization.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614A6-B309-4638-AAA1-77D12C2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AEE7F-DC6B-44B1-8E15-DA14F6E0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7D3D0-03AA-4E8F-A458-DA32118C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1EC9D-AFD1-49FA-ABDE-F6183081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2AD10-3674-4D1B-B67B-BE4123EB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Explainability, workflow, governance, and performance.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30A77-8EDF-46F2-9717-44C55C7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A9D4F9-0016-408F-A4D7-6820840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2956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1D13D-A705-4011-9383-41FD8044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Group roles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5EE2B-AD94-4DE7-B84C-2F63F19F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2DA3B5-D3CD-450E-91EB-677EB648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4B7EEB-E183-4463-9DA5-3E23729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Problem and opening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A22642-129C-43C9-8B1E-CDF07C4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A6662F-2DA3-42AE-9649-AB751B47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00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6E064A-E789-46FD-853B-FE0AF8A3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Architecture and 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6BBC83-BC1B-4A13-9F3A-5951BC2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887E3B-84FD-4084-9F9A-EA2003EB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EB81B-58D0-468A-856E-EC9F1BA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Functions and 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5EEB39-A9A4-4EA6-BDFE-7EAEFB3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244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6D0EC7-15FD-47BE-986C-F69D6DED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2FEBEC-A5FB-4E71-B7D9-13495B3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9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Uniqueness and close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AA832A-FB8E-4A94-AA6C-8B3E1882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E070E7-1837-4341-AB80-214B7B38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A96559-D0E2-4DC8-8E65-9AAA31A0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project brief and internal docs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9DBDCE-B6E4-4C63-A650-C52EEBBD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72102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AEF0C-23B3-47EB-8C31-595FC3E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E4ABD-EE07-453A-865E-22EDA99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F78A7-3767-46EF-A145-9BC1B115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CB662-133B-415E-A477-AFDAF03A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90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HR stack is expensive, slow, and fragmented.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953F2-927C-4CE5-A3CE-2429AD6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This is the slide that should feel like the old pitch deck: two big numbers, one pain point, one sharp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2EA26-8BD2-4D88-8080-EFCC0424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D7E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D7E6"/>
                </a:solidFill>
                <a:latin typeface="Georgia"/>
                <a:ea typeface="Georgia"/>
                <a:cs typeface="Georgia"/>
              </a:rPr>
              <a:t>2.5x Salary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FF8B2-880C-47E7-AF66-980A12CD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Replacement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3B4A3-DC3C-4E48-8EFB-1388EA39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Average cost to replace a critical skilled software developer.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CBA6D-0B53-418C-86AF-D10EB93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9555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D7E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D7E6"/>
                </a:solidFill>
                <a:latin typeface="Georgia"/>
                <a:ea typeface="Georgia"/>
                <a:cs typeface="Georgia"/>
              </a:rPr>
              <a:t>22 Admin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810AA-BBCA-4B74-A999-5A6B92BB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05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Manual reporting drag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A36C6-576F-4E3F-9F17-009BEB1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Time lost each month to compiled searches and administrative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06FAB-0515-4C36-8B55-C040C7E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5905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D4664-F678-4182-8861-0BE343C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What this means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9278E-33E6-4260-84DA-1E0C1AA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502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Data sits in separate systems. By the time leaders see a report, the workforce problem has already moved.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F5ED8-E0D0-4C7D-9584-D1F9C05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exists to shorten that distance: detect early, explain clearly, and act in the same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A912D-902B-4C71-9198-52008EDD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45269-EEBD-4AC5-9885-24EE701D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The problem is not data volume. The problem is decision delay.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33259-4DAB-42B5-BDCF-1EA3895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9CF71-7C3A-418B-B2DB-6196926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40408-77F8-43F3-9972-C0C1CCF2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old pitch-deck framing + internal project 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7031D-BD08-46C5-BD37-B71DBE2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04132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041DD-82CE-4D83-B1AD-4585788B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DBD9A-2554-46B0-9FB2-CD3CA26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534E1-07F0-467F-8E9C-6B9B1F89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F105C-8FF8-4B2D-B53B-998E98F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Aurelius turns scattered HR records into one decision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5CEE0-3481-444B-921B-2C913B8D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It is not a raw database viewer. It is a platform that explains, guides, and tracks HR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A43E0-FB7C-43AA-8A5C-8543AD8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3238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17D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8905C-6577-4AEB-A555-2ECC2CCD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95143-A8DC-4AAC-8E62-2751BF41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Predictive insights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FEF71-9D2D-4055-A290-8813985F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3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Attrition risk, skill gaps, and collaboration structure are computed from the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F6044-F819-4664-BE08-DECA494B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3238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D88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E506E-706E-463B-B7CE-7477A810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2342C-410F-4D7E-B022-7222A91C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Action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123D8-EE37-4FAC-AD33-426E1B26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293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UI surfaces what to do next instead of only showing a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E3A97-33DB-4BEE-A2FA-AC34408B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238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2EC5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B95E4-ABB6-4862-BEBD-8751C57D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B34B7-62DF-44DD-A914-656D9C7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Workflow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F49E-DB17-40D7-A49C-433D099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293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platform keeps the decision visible so managers can revisit it later.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0DD5B-E326-4E85-9F8D-72B6F49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688D2-2886-4B34-81C9-46602295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24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product story is: find risk early, explain why, and close the loop with an action the manager can actually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5EE06-E63D-48A6-AF1E-38A036E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DA4EB-16D3-4B2F-B557-C211157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B697E-A46B-4AE2-9A63-6CB2464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README.md + landing blueprint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AB253-C4F8-471D-B885-71A66529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00617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100F8-6630-4905-AAF2-7F037D20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AE0A7-C635-48AE-954C-9F2A459B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10100-E40A-46D6-9F9E-45CECE7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C5F40-9C0B-4552-BE24-64E8243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app is an API pipeline, not a file viewer.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5B33B-EA40-4F5E-9050-FE6D087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That sentence is the cleanest way to explain how the system works in front of a panel.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BFC3D-38DA-436B-8221-2C2B51C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E964D-2331-44CC-8713-4DC8D584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Source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B8E4A-A9FD-4777-8E86-FAA4D5F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HRIS, ATS, engagement tools, or demo import.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9BF5D-2812-41B0-BF68-1D5C348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38400"/>
            <a:ext cx="1866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A7F3E-E306-4803-8E12-FBC18585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Connectors and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32290-78B7-4CA4-A56B-8C875966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Inbound calls and sync jobs normalize incoming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A3869-72DE-40C4-8E53-EB6C6F4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1771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7CE68-E907-4F2F-8C2D-576501D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FE92A-EBF2-4C38-B21E-503B3869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504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One store for employees, candidates, skills, and logs.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A4364-3643-43FA-A2E7-A3064694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1866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1E2CE-477B-4862-BECF-693EA10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Intelligence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EE930-1EC9-4860-95B8-A529F3C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003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Attrition, ONA, career path, and team optimization.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441D5-B5BD-43A0-ABA9-85D30FEF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057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E05B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3E08D-A01A-4B27-A429-A51DBC69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Student-facing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01F15-E999-47EA-A68D-F54C49C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0035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 React dashboard that presents the results in plain language.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B98E-5414-46D5-AC0D-173BBDFD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D65B4-0BC1-4DCD-95B1-D9C3F7A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0AF9A-529B-4D8E-BDC3-77FE863A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50BC1-B884-4EA7-9DA9-97BB092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3EF66-58A7-4320-9DAB-BA124F76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B3B08-6CAC-4E07-AE83-A9E9DD4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F496D-61A2-42D0-8A46-99BF277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9CFE9-43B5-4817-AEEA-16F7D87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2AED0-1455-4E26-9944-5B8452E1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5118A-3E7B-4B51-B180-449A6DE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C5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C58A"/>
                </a:solidFill>
                <a:latin typeface="Aptos"/>
                <a:ea typeface="Aptos"/>
                <a:cs typeface="Aptos"/>
              </a:rPr>
              <a:t>How to say it simply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CAFD8-200A-4A65-A862-9543813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948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Data enters by API or import, is stored once, and is then turned into explainable HR intelligence.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E24441-4E82-4CE2-B050-0B8B249E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03864-7C62-42AA-899E-FB546BE2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34910E-7E02-47F2-9EA2-0FFD648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main.py + intelligence.py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CAA16-66BB-422E-8276-C0294002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82553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C11F2-F769-4D14-898E-E40D066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4FE8E-BD86-4B08-8698-5DD6BF3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32030-C286-4177-B8B8-4E437CC4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ATTRITION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53E0A-9A95-4F44-8EE5-F873AA56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attrition slide shows a risk curve and the factors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482AB-7543-47C7-ABCC-72B9098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This replaces guesswork with a simple survival story: what is the current hazard, and why?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2DE9B-E654-438A-8A42-A6E807B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448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61EA7-1640-48AF-B38A-199DA92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Attrition hazard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450A8-2583-4793-8C4E-A33C303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Tenure-based survival curve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A1F92-4B85-400E-8B45-509B5FF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endpoint calculates a monthly hazard rate and then explains which covariates push risk up or down.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22F00-4490-469C-BEF6-C5A43345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FBFC2-4D68-45E4-B050-5D58BFC8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7D14E-16B7-4A9C-9D15-6EE7B8F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434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FC106-22A6-4258-8D3B-FEAECD55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Risk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0F385-1DEA-41DB-A9AA-1B9EC40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43400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F1862-C9C8-49D3-9F18-30780B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7EF92-0B65-439C-81E0-744E788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7162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92B48-B391-40E9-B9A1-E3E90445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C5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C58A"/>
                </a:solidFill>
                <a:latin typeface="Aptos"/>
                <a:ea typeface="Aptos"/>
                <a:cs typeface="Aptos"/>
              </a:rPr>
              <a:t>What the panel should hear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7DEDE-65C6-4F4E-B3E7-FD0A1AB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- The model is math-driven, not random.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8C20A-8E71-40D0-90B3-0B70D4E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- The risk output is accompanied by explanation factors.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A8A60-6076-4D7F-BE61-737C583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- The slide is meant to show decision support, not just a score.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47606-1747-4B00-A93B-A27DA9FE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[1] Explainable AI literature supports the need for interpretable outputs.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70C63-5CAA-415D-8E06-E8EB234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E27E3-6ED4-44B0-A594-C52B004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30C50-4633-449C-B3D9-5B48E1C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intelligence.py + DOI reference [1]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1DB3F-98E5-46E8-80A1-EF7E115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75454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97B403-A5A7-4721-B666-0DFDADFC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10067-52C8-4710-9D69-D8A6BB7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795B9-83E7-49E7-940B-2DF204D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6F36C-CE8C-4119-ACE0-0E590EC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Network analysis shows influence and bridges, not just hierarchy.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E5509-23EF-4EAE-A9F2-F1915D17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It is useful when the question is who connects teams, where knowledge lives, and where bottlenecks may appear.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0FED1-DD17-4A0C-9FC2-90556A85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762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EE0C5-0A15-4F60-BA2A-AF7917B8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Organizational network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5822F-B90C-4AD5-ADD9-B80AF99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24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app builds a graph from shared skills and collaboration signals, then identifies influence and bridging roles.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18761-C56B-49F3-A46A-6CCCDCA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[2] and [3] support the argument that analytics should lead to real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5D831-4D00-4C2D-929A-15675EE3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771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7FF25-DA62-4513-AB3F-E20F535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4D77A-F877-4C6B-8E9D-CF0EF695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3B0F7-E222-4D6D-8339-1E4DBAE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mentor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65858-EE84-43A9-83CD-5962F7F2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C8BC0-BA0D-4611-A2F7-270ADEF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Node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9DC0E-D35A-41BA-BDF9-4EB0C54B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194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493BF-855C-449E-83A7-BC51FD8F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113A3-D510-4BAC-92D4-27A58EF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Node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8A9D4-0E1A-4549-9548-3B0FAC16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65E67-36EF-44B3-AEBA-CCF6A0F2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CA16F-1B69-45B8-B63B-D2BC336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76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Node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E5258-4590-4918-8AFB-4E41FD8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125E2-2007-4E16-BCEE-6D6F15A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5DD79-70F8-498C-AB47-BCF57E54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76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Node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D598A-1A6F-4EF6-BBF7-F463665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E2D79-B4B2-4C63-AB8D-5169B456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-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B39F6-C882-46A3-814A-50D8060B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DB524-CB22-417B-BF85-410C594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956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80C28-E017-444E-A284-C9E1D612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2B6CF-092A-43BE-90DA-35CCD0EE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-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6EE1F-A8A0-4A54-A51C-E0C8E91B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24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0485D-F563-47C6-A31E-EE6814D1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60CA2-2B91-4279-8B34-5F1782D7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24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834994-70C1-4354-AECD-0C4947A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0C5301-845E-4FB5-AC48-AF75C68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C8B1B-C43D-4255-A555-1EBD1A7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intelligence.py + analytics references [2] [3]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F881E4-C505-4839-90CF-607DBBC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4273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698BC-A789-49EB-9620-89E19BEB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483D-1FB9-42A0-9495-D5BFEBF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A369C-B6DE-471E-A328-5F897CA0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A6739-1E22-4FAA-8570-D2BD05D8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Team assembly uses heuristic search because brute force is too large.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EEB8A-6490-4BD6-BFF3-67EA7DF2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This slide explains why the system uses simulated annealing: it is a practical way to find a good team under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01A15-9ABD-4A59-B997-0E4689D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55143-E481-4FBA-A045-A94124B9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8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8A3D"/>
                </a:solidFill>
                <a:latin typeface="Aptos"/>
                <a:ea typeface="Aptos"/>
                <a:cs typeface="Aptos"/>
              </a:rPr>
              <a:t>The search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4C3A4-AEDF-42B4-B15B-F131FDED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possible team combinations grow too quickly.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EC14C-B8CD-4410-A3E3-07C332A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Brute force is not practical for a live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B39AA-90AF-46B7-9020-2F1000E2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D7E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7D7E6"/>
                </a:solidFill>
                <a:latin typeface="Georgia"/>
                <a:ea typeface="Georgia"/>
                <a:cs typeface="Georgia"/>
              </a:rPr>
              <a:t>75M+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3BEC2-9678-4A9D-BDAC-D95C1F9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Possible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EC64B-BC45-41AC-8A1F-0BF63278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Illustrative combination count for a large team search.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2EBFA-F20B-4B6A-9A8D-9AB6F02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697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D8F28-CCAE-427A-B132-06BBDB7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How the solver behaves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8AFA2-A175-489A-9779-B5B4C8B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D88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80F9C-47A7-4FD4-9344-0FFBF99E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5BDA1-1FE5-4B1C-A22C-61A2C57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High temperature: explore many candidate swaps.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57F74-BAF8-4CC6-BEBE-0A21B08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17D7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501C6-A881-47F7-99B0-489C5B6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5AAFA-14F2-41EA-9158-934E932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Mid temperature: keep the good moves and drop weak 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84AAF-A0A3-4220-8A45-A968A9B0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96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EC5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C3E74-D3B2-4F95-83A2-05DBFAB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14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Stage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46E68-D399-4859-B943-AEEFB4AC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Low temperature: converge on a practical team.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AF9A7-C0AF-4FE0-B081-F91BC862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834EC-48E2-4738-8AE3-80EEFC1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3B29A-12F3-47DA-959E-D50F9FE4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intelligence.py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29E94-452F-4C64-803B-74400A38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23140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B9899-F810-4E0E-BC3A-116A268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44BA4-2203-4F53-A638-D37B2CC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9BF18-EE4E-4091-B2AD-73362059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C5D22-5DFA-4E2B-B189-48D8070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Governance keeps the system useful without letting automation overreach.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55CFE-0073-48FD-B215-C2899B68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This is where the product becomes safer: role checks, audit trails, and human confirmation for sensitive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28BF0-6916-4198-AFD5-7C374EE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314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D88A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492D9-F8FD-4E88-BAF7-0ECC5CF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AFF4E-5A37-49A6-87A7-C230D90F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D9CC6-0B81-4869-AE90-688BCED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3009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User and admin actions are separated so the system knows what each role can 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771F1-3F20-441D-ADC8-C10133A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314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17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EB63-C146-485B-BCEF-C12912E4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34F70-E5A4-4A8A-A810-9C5AC915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Human-in-the-loop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02203-6EF0-4775-86B6-4CCB8397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3009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High-impact actions remain reviewable instead of being blindly executed by the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B28E4-BD15-4B59-90CD-D190B1B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314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10478">
            <a:solidFill>
              <a:srgbClr val="2EC5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F1E85-DDEA-4B35-A8F8-19A3F96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CA4ED-271A-49B9-A0F4-96181339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78A57-B3C2-4FB8-9681-A7CEE0D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3009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The app keeps logs so a decision can be checked after the fact.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1BD75-51C9-495B-AA8E-AEEA321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7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784BC-FB8F-4BB3-96FA-27C874F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1011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real message is not "AI does everything". The message is that AI explains the option, and the human keeps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2759A-4314-4CAF-B254-8771851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2EFA9-F385-40FC-AC7A-3D27A7D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992C9-F644-4451-97CD-FF4B0C4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security and governance logic in the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5ADE4-F607-46A6-A23E-947C8C9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39667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F3FB08-DC11-4BF2-81C3-A8B8AAAB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521B-83CE-4EDE-A0C0-4F53F2D0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313D-8459-4D2E-B1C1-5DD9F66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AB292-AFB6-412F-86BA-63BB41C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Caching and prefetching keep the demo fast and 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3F80A-8D4B-47B8-A069-60420A8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This slide explains why the app feels responsive even when it is doing real analysis in the backend.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8979C-14BE-49DC-96B6-BD67171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4762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8F225-3DD4-47B3-943D-8E16E92A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5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5B63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ADB92-7CCC-4CF1-8697-C654E55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Repeated SQL loops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B31BD-C236-4F05-9E29-C1CB8430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Earlier versions used repeated database calls. That made the flow slower and harder to present live.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B833E-EA99-44C4-96C9-BDFBE7E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FA395-1DB4-49FC-96E7-5832DB9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67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many round-trips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98136-CDC1-4133-873F-86AE285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762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97056-B540-46D6-90FD-1E75E8D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C5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C58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AE36C-1F3B-4858-9CFD-F6088D7A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Prefetch + in-memory maps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DC219-3D87-480C-A12D-2A50DE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Skills are loaded once and reused. That keeps the app responsive and makes the classroom demo much safer.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36873-2745-42BF-A33B-A096B2C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A29F4-AB65-411D-AFAD-47794B6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fewer queries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71A18-5387-42DB-A590-0570491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4F941-BBEC-4B4A-8E21-8B48FD0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9343A-BCB1-4B2A-B2E9-B241561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intelligence.py and backend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D02C7-D03F-4B43-B80B-11153356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98287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3AAE8-8489-4D9B-B022-AE0308C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BDD54-68F0-4C51-9C0B-BEED39F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6ACA4-CFDE-4C67-967C-37F2241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4527B-35E9-4C58-82D1-B51BAB78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0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EAF0F7"/>
                </a:solidFill>
                <a:latin typeface="Georgia"/>
                <a:ea typeface="Georgia"/>
                <a:cs typeface="Georgia"/>
              </a:rPr>
              <a:t>The explanation is grounded in the codebase and academic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7F614-9DE1-41B8-B3DA-CDE5F52F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334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BAC2-2FEB-4C32-BEF6-DC116C2B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3721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9525">
            <a:solidFill>
              <a:srgbClr val="243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32E73-A146-4A40-A125-8B1D7AE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D7E6"/>
                </a:solidFill>
                <a:latin typeface="Aptos"/>
                <a:ea typeface="Aptos"/>
                <a:cs typeface="Aptos"/>
              </a:rPr>
              <a:t>Academic 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D1F3-5EC2-4C07-B6D0-849D3173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[1] Ribeiro, Singh, Guestrin (2016)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893E7-E036-4A7F-A5A7-8061F696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70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Why Should I Trust You?: Explaining the Predictions of Any Classifier. DOI: 10.1145/2939672.2939778.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184D1-6DD9-4488-95CA-5C0F1885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F7881-E395-4336-92D7-7719BD2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[2] Human resources analytics systematization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081B4-2BE2-473E-BD5F-EDDF2C4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70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Human resources analytics: a systematization of research topics and directions for future research. DOI: 10.1016/j.hrmr.2020.100795.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BC748-29BF-4C7D-B4F8-03D562A0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0A1E4-4DA5-4569-8932-ED16A9E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0F7"/>
                </a:solidFill>
                <a:latin typeface="Aptos"/>
                <a:ea typeface="Aptos"/>
                <a:cs typeface="Aptos"/>
              </a:rPr>
              <a:t>[3] Moving people analytics to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F1F5A-E9DC-4741-B487-24B90EF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0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Moving people analytics from insight to impact. DOI: 10.1177/15344843231207220.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1FAE0-2B2D-4DE6-98CD-845FC5F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1082E-BAA1-4D7B-8D45-01ECD61B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A3D"/>
                </a:solidFill>
                <a:latin typeface="Aptos"/>
                <a:ea typeface="Aptos"/>
                <a:cs typeface="Aptos"/>
              </a:rPr>
              <a:t>Internal project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D11B4-A38D-4C7E-BD74-0C0C1C9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README.md - product positioning and hybrid intelligence.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97237-AAD5-4304-A42F-DE412466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1FB5E-0415-47FB-B20A-B865A13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Docs/Worked/aurelius_status_report.md - current mode and optional pieces.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69E86-2648-4445-8108-A9E3741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389B2-FE3B-4A54-B649-CC40EFB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Docs/Planned_Architecture/aurelius_landing_page_blueprint.md - audience and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4A5D6-1AF5-4517-9484-CD7A43FC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87D62-020B-43B5-ABE5-AA82DB7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server/app/api/v1/intelligence.py - implemented intelligence endpoints.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882B9-DEE8-4FC9-B612-80F8874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8819C-CD8A-47A6-A602-E093FB1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AF0F7"/>
                </a:solidFill>
                <a:latin typeface="Aptos"/>
                <a:ea typeface="Aptos"/>
                <a:cs typeface="Aptos"/>
              </a:rPr>
              <a:t>server/app/main.py - FastAPI setup and CORS behavior.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E0E4B-F46C-4A6F-A18F-F4E800C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1BC32-97D5-451A-8676-71B6727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55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E56F3-A04F-4C7A-AC7A-CD94E23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E15FF-4F75-47D3-B7E8-F0DCB20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Aurelius | Management 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6649A-5C5A-4177-BDDE-349571C3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769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Source: citations and internal docs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FEE656-25EF-4532-8D17-318AC35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B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8B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7669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2026-05-24T18:40:00.4910000Z</dcterms:created>
  <dcterms:modified xsi:type="dcterms:W3CDTF">2026-05-24T18:40:00.4910000Z</dcterms:modified>
</coreProperties>
</file>