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66" r:id="rId17"/>
    <p:sldId id="267" r:id="rId18"/>
    <p:sldId id="257" r:id="rId3"/>
    <p:sldId id="258" r:id="rId4"/>
    <p:sldId id="259" r:id="rId5"/>
    <p:sldId id="260" r:id="rId6"/>
    <p:sldId id="261" r:id="rId7"/>
    <p:sldId id="262" r:id="rId8"/>
    <p:sldId id="263" r:id="rId9"/>
    <p:sldId id="264" r:id="rId10"/>
    <p:sldId id="265" r:id="rId11"/>
    <p:sldId id="268" r:id="rId19"/>
    <p:sldId id="269" r:id="rId20"/>
  </p:sldIdLst>
  <p:sldSz cx="12191695"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4.xml"/><Relationship Id="rId4" Type="http://schemas.openxmlformats.org/officeDocument/2006/relationships/slide" Target="slides/slide5.xml"/><Relationship Id="rId5" Type="http://schemas.openxmlformats.org/officeDocument/2006/relationships/slide" Target="slides/slide6.xml"/><Relationship Id="rId6" Type="http://schemas.openxmlformats.org/officeDocument/2006/relationships/slide" Target="slides/slide7.xml"/><Relationship Id="rId7" Type="http://schemas.openxmlformats.org/officeDocument/2006/relationships/slide" Target="slides/slide8.xml"/><Relationship Id="rId8" Type="http://schemas.openxmlformats.org/officeDocument/2006/relationships/slide" Target="slides/slide9.xml"/><Relationship Id="rId9" Type="http://schemas.openxmlformats.org/officeDocument/2006/relationships/slide" Target="slides/slide10.xml"/><Relationship Id="rId10" Type="http://schemas.openxmlformats.org/officeDocument/2006/relationships/slide" Target="slides/slide11.xml"/><Relationship Id="rId11" Type="http://schemas.openxmlformats.org/officeDocument/2006/relationships/slide" Target="slides/slide12.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slide" Target="slides/slide2.xml"/><Relationship Id="rId18" Type="http://schemas.openxmlformats.org/officeDocument/2006/relationships/slide" Target="slides/slide3.xml"/><Relationship Id="rId19" Type="http://schemas.openxmlformats.org/officeDocument/2006/relationships/slide" Target="slides/slide13.xml"/><Relationship Id="rId20" Type="http://schemas.openxmlformats.org/officeDocument/2006/relationships/slide" Target="slides/slide1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Baseline</c:v>
                </c:pt>
              </c:strCache>
            </c:strRef>
          </c:tx>
          <c:spPr>
            <a:ln w="31750" cap="flat">
              <a:solidFill>
                <a:srgbClr val="00EBDF"/>
              </a:solidFill>
              <a:prstDash val="solid"/>
              <a:round/>
            </a:ln>
            <a:effectLst/>
          </c:spPr>
          <c:marker>
            <c:symbol val="circle"/>
            <c:size val="6"/>
            <c:spPr>
              <a:solidFill>
                <a:srgbClr val="00EBDF"/>
              </a:solidFill>
              <a:ln w="9525" cap="flat">
                <a:solidFill>
                  <a:srgbClr val="00EBDF"/>
                </a:solidFill>
                <a:prstDash val="solid"/>
                <a:round/>
              </a:ln>
              <a:effectLst/>
            </c:spPr>
          </c:marker>
          <c:cat>
            <c:strRef>
              <c:f>Sheet1!$A$2:$A$8</c:f>
              <c:strCache>
                <c:ptCount val="7"/>
                <c:pt idx="0">
                  <c:v>M0</c:v>
                </c:pt>
                <c:pt idx="1">
                  <c:v>M2</c:v>
                </c:pt>
                <c:pt idx="2">
                  <c:v>M4</c:v>
                </c:pt>
                <c:pt idx="3">
                  <c:v>M6</c:v>
                </c:pt>
                <c:pt idx="4">
                  <c:v>M8</c:v>
                </c:pt>
                <c:pt idx="5">
                  <c:v>M10</c:v>
                </c:pt>
                <c:pt idx="6">
                  <c:v>M12</c:v>
                </c:pt>
              </c:strCache>
            </c:strRef>
          </c:cat>
          <c:val>
            <c:numRef>
              <c:f>Sheet1!$B$2:$B$8</c:f>
              <c:numCache>
                <c:formatCode>General</c:formatCode>
                <c:ptCount val="7"/>
                <c:pt idx="0">
                  <c:v>100</c:v>
                </c:pt>
                <c:pt idx="1">
                  <c:v>96</c:v>
                </c:pt>
                <c:pt idx="2">
                  <c:v>92</c:v>
                </c:pt>
                <c:pt idx="3">
                  <c:v>88</c:v>
                </c:pt>
                <c:pt idx="4">
                  <c:v>83</c:v>
                </c:pt>
                <c:pt idx="5">
                  <c:v>78</c:v>
                </c:pt>
                <c:pt idx="6">
                  <c:v>73</c:v>
                </c:pt>
              </c:numCache>
            </c:numRef>
          </c:val>
          <c:smooth val="0"/>
          <c:extLst>
            <c:ext xmlns:c16="http://schemas.microsoft.com/office/drawing/2014/chart" uri="{C3380CC4-5D6E-409C-BE32-E72D297353CC}">
              <c16:uniqueId val="{00000000-7ABC-4920-A0F6-3A4797CF9E10}"/>
            </c:ext>
          </c:extLst>
        </c:ser>
        <c:ser>
          <c:idx val="1"/>
          <c:order val="1"/>
          <c:tx>
            <c:strRef>
              <c:f>Sheet1!$C$1</c:f>
              <c:strCache>
                <c:ptCount val="1"/>
                <c:pt idx="0">
                  <c:v>At-risk</c:v>
                </c:pt>
              </c:strCache>
            </c:strRef>
          </c:tx>
          <c:spPr>
            <a:ln w="31750" cap="flat">
              <a:solidFill>
                <a:srgbClr val="FF5277"/>
              </a:solidFill>
              <a:prstDash val="solid"/>
              <a:round/>
            </a:ln>
            <a:effectLst/>
          </c:spPr>
          <c:marker>
            <c:symbol val="circle"/>
            <c:size val="6"/>
            <c:spPr>
              <a:solidFill>
                <a:srgbClr val="FF5277"/>
              </a:solidFill>
              <a:ln w="9525" cap="flat">
                <a:solidFill>
                  <a:srgbClr val="FF5277"/>
                </a:solidFill>
                <a:prstDash val="solid"/>
                <a:round/>
              </a:ln>
              <a:effectLst/>
            </c:spPr>
          </c:marker>
          <c:cat>
            <c:strRef>
              <c:f>Sheet1!$A$2:$A$8</c:f>
              <c:strCache>
                <c:ptCount val="7"/>
                <c:pt idx="0">
                  <c:v>M0</c:v>
                </c:pt>
                <c:pt idx="1">
                  <c:v>M2</c:v>
                </c:pt>
                <c:pt idx="2">
                  <c:v>M4</c:v>
                </c:pt>
                <c:pt idx="3">
                  <c:v>M6</c:v>
                </c:pt>
                <c:pt idx="4">
                  <c:v>M8</c:v>
                </c:pt>
                <c:pt idx="5">
                  <c:v>M10</c:v>
                </c:pt>
                <c:pt idx="6">
                  <c:v>M12</c:v>
                </c:pt>
              </c:strCache>
            </c:strRef>
          </c:cat>
          <c:val>
            <c:numRef>
              <c:f>Sheet1!$C$2:$C$8</c:f>
              <c:numCache>
                <c:formatCode>General</c:formatCode>
                <c:ptCount val="7"/>
                <c:pt idx="0">
                  <c:v>100</c:v>
                </c:pt>
                <c:pt idx="1">
                  <c:v>91</c:v>
                </c:pt>
                <c:pt idx="2">
                  <c:v>82</c:v>
                </c:pt>
                <c:pt idx="3">
                  <c:v>69</c:v>
                </c:pt>
                <c:pt idx="4">
                  <c:v>58</c:v>
                </c:pt>
                <c:pt idx="5">
                  <c:v>47</c:v>
                </c:pt>
                <c:pt idx="6">
                  <c:v>38</c:v>
                </c:pt>
              </c:numCache>
            </c:numRef>
          </c:val>
          <c:smooth val="0"/>
          <c:extLst>
            <c:ext xmlns:c16="http://schemas.microsoft.com/office/drawing/2014/chart" uri="{C3380CC4-5D6E-409C-BE32-E72D297353CC}">
              <c16:uniqueId val="{00000001-7ABC-4920-A0F6-3A4797CF9E10}"/>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B5C7D9"/>
                </a:solidFill>
                <a:latin typeface="Segoe UI"/>
              </a:defRPr>
            </a:pPr>
            <a:endParaRPr lang="en-US"/>
          </a:p>
        </c:txPr>
        <c:crossAx val="2094734552"/>
        <c:crosses val="autoZero"/>
        <c:auto val="1"/>
        <c:lblAlgn val="ctr"/>
        <c:lblOffset val="100"/>
        <c:noMultiLvlLbl val="1"/>
      </c:catAx>
      <c:valAx>
        <c:axId val="2094734552"/>
        <c:scaling>
          <c:orientation val="minMax"/>
          <c:max val="100"/>
          <c:min val="0"/>
        </c:scaling>
        <c:delete val="0"/>
        <c:axPos val="l"/>
        <c:majorGridlines>
          <c:spPr>
            <a:ln w="12700" cap="flat">
              <a:solidFill>
                <a:srgbClr val="1C355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B5C7D9"/>
                </a:solidFill>
                <a:latin typeface="Segoe UI"/>
              </a:defRPr>
            </a:pPr>
            <a:endParaRPr lang="en-US"/>
          </a:p>
        </c:txPr>
        <c:crossAx val="2094734554"/>
        <c:crosses val="autoZero"/>
        <c:crossBetween val="between"/>
      </c:valAx>
      <c:spPr>
        <a:noFill/>
        <a:ln>
          <a:noFill/>
        </a:ln>
        <a:effectLst/>
      </c:spPr>
    </c:plotArea>
    <c:legend>
      <c:legendPos val="r"/>
      <c:overlay val="0"/>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Temperature</c:v>
                </c:pt>
              </c:strCache>
            </c:strRef>
          </c:tx>
          <c:spPr>
            <a:ln w="31750" cap="flat">
              <a:solidFill>
                <a:srgbClr val="00EBDF"/>
              </a:solidFill>
              <a:prstDash val="solid"/>
              <a:round/>
            </a:ln>
            <a:effectLst/>
          </c:spPr>
          <c:marker>
            <c:symbol val="circle"/>
            <c:size val="6"/>
            <c:spPr>
              <a:solidFill>
                <a:srgbClr val="00EBDF"/>
              </a:solidFill>
              <a:ln w="9525" cap="flat">
                <a:solidFill>
                  <a:srgbClr val="00EBDF"/>
                </a:solidFill>
                <a:prstDash val="solid"/>
                <a:round/>
              </a:ln>
              <a:effectLst/>
            </c:spPr>
          </c:marker>
          <c:cat>
            <c:strRef>
              <c:f>Sheet1!$A$2:$A$7</c:f>
              <c:strCache>
                <c:ptCount val="6"/>
                <c:pt idx="0">
                  <c:v>100</c:v>
                </c:pt>
                <c:pt idx="1">
                  <c:v>80</c:v>
                </c:pt>
                <c:pt idx="2">
                  <c:v>60</c:v>
                </c:pt>
                <c:pt idx="3">
                  <c:v>40</c:v>
                </c:pt>
                <c:pt idx="4">
                  <c:v>20</c:v>
                </c:pt>
                <c:pt idx="5">
                  <c:v>0.1</c:v>
                </c:pt>
              </c:strCache>
            </c:strRef>
          </c:cat>
          <c:val>
            <c:numRef>
              <c:f>Sheet1!$B$2:$B$7</c:f>
              <c:numCache>
                <c:formatCode>General</c:formatCode>
                <c:ptCount val="6"/>
                <c:pt idx="0">
                  <c:v>100</c:v>
                </c:pt>
                <c:pt idx="1">
                  <c:v>69</c:v>
                </c:pt>
                <c:pt idx="2">
                  <c:v>44</c:v>
                </c:pt>
                <c:pt idx="3">
                  <c:v>22</c:v>
                </c:pt>
                <c:pt idx="4">
                  <c:v>8</c:v>
                </c:pt>
                <c:pt idx="5">
                  <c:v>0.1</c:v>
                </c:pt>
              </c:numCache>
            </c:numRef>
          </c:val>
          <c:smooth val="0"/>
          <c:extLst>
            <c:ext xmlns:c16="http://schemas.microsoft.com/office/drawing/2014/chart" uri="{C3380CC4-5D6E-409C-BE32-E72D297353CC}">
              <c16:uniqueId val="{00000000-8300-4031-8446-0CEC792E193B}"/>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B5C7D9"/>
                </a:solidFill>
                <a:latin typeface="Arial"/>
              </a:defRPr>
            </a:pPr>
            <a:endParaRPr lang="en-US"/>
          </a:p>
        </c:txPr>
        <c:crossAx val="2094734552"/>
        <c:crosses val="autoZero"/>
        <c:auto val="1"/>
        <c:lblAlgn val="ctr"/>
        <c:lblOffset val="100"/>
        <c:noMultiLvlLbl val="1"/>
      </c:catAx>
      <c:valAx>
        <c:axId val="2094734552"/>
        <c:scaling>
          <c:orientation val="minMax"/>
          <c:max val="100"/>
          <c:min val="0"/>
        </c:scaling>
        <c:delete val="0"/>
        <c:axPos val="l"/>
        <c:majorGridlines>
          <c:spPr>
            <a:ln w="12700" cap="flat">
              <a:solidFill>
                <a:srgbClr val="1C355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B5C7D9"/>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DB queries</c:v>
                </c:pt>
              </c:strCache>
            </c:strRef>
          </c:tx>
          <c:spPr>
            <a:solidFill>
              <a:srgbClr val="FF5277"/>
            </a:solidFill>
            <a:effectLst/>
          </c:spPr>
          <c:invertIfNegative val="0"/>
          <c:cat>
            <c:strRef>
              <c:f>Sheet1!$A$2:$A$3</c:f>
              <c:strCache>
                <c:ptCount val="2"/>
                <c:pt idx="0">
                  <c:v>Before</c:v>
                </c:pt>
                <c:pt idx="1">
                  <c:v>After</c:v>
                </c:pt>
              </c:strCache>
            </c:strRef>
          </c:cat>
          <c:val>
            <c:numRef>
              <c:f>Sheet1!$B$2:$B$3</c:f>
              <c:numCache>
                <c:formatCode>General</c:formatCode>
                <c:ptCount val="2"/>
                <c:pt idx="0">
                  <c:v>300</c:v>
                </c:pt>
                <c:pt idx="1">
                  <c:v>2</c:v>
                </c:pt>
              </c:numCache>
            </c:numRef>
          </c:val>
          <c:extLst>
            <c:ext xmlns:c16="http://schemas.microsoft.com/office/drawing/2014/chart" uri="{C3380CC4-5D6E-409C-BE32-E72D297353CC}">
              <c16:uniqueId val="{00000000-F54C-4E5A-A763-089B07F68BF3}"/>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B5C7D9"/>
                </a:solidFill>
                <a:latin typeface="Arial"/>
              </a:defRPr>
            </a:pPr>
            <a:endParaRPr lang="en-US"/>
          </a:p>
        </c:txPr>
        <c:crossAx val="2094734552"/>
        <c:crosses val="autoZero"/>
        <c:auto val="1"/>
        <c:lblAlgn val="ctr"/>
        <c:lblOffset val="100"/>
        <c:noMultiLvlLbl val="1"/>
      </c:catAx>
      <c:valAx>
        <c:axId val="2094734552"/>
        <c:scaling>
          <c:orientation val="minMax"/>
          <c:max val="320"/>
          <c:min val="0"/>
        </c:scaling>
        <c:delete val="0"/>
        <c:axPos val="l"/>
        <c:majorGridlines>
          <c:spPr>
            <a:ln w="12700" cap="flat">
              <a:solidFill>
                <a:srgbClr val="1C355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B5C7D9"/>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313293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members of the evaluation committee. Today, I am proud to present Aurelius—an innovative, next-generation administrative operating system designed to transform corporate resource allocation and proactive workforce analytics from simple databases into highly active, predictive, and agentic systems.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Modern organizational systems are failing in three major areas. First, they are passive data silos. They do not warn you when critical developers are burning out. Second, talent acquisition is highly subjective, resulting in poor team alignments. Third, data remains locked behind rigid, non-interactive dashboards. Aurelius resolves all three points.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Aurelius shifts the paradigm. It integrates proactive mathematical algorithms, like graph PageRank and Simulated Annealing, directly with a secure, real-time natural language agent. It is a system that thinks, predicts, and acts under strict guidelines.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technical stack is built for performance and stability. Aurelius uses a React frontend connected to a fast FastAPI backend, leveraging SQLModel. By streaming real-time tokens and reasoning steps through Server-Sent Events, it delivers a beautiful, executive-grade glassmorphism UI.</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of Aurelius’s key innovations is predictive attrition modeling. Rather than waiting for resignation letters, it computes a twelve-month mathematical survival probability for each employee. The model uses compensation ratios, sentiment scores, and workload signals, enabling targeted, pre-emptive retention strategies.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Traditional hierarchy charts tell you who reports to whom; they do not show how information actually flows. The ONA graph models organic collaborative networks. Aurelius runs PageRank iterations to identify true knowledge mentors, and Brandes Betweenness Centrality to locate bridge employees whose sudden exit would isolate entire departments.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Building a project team is a hard combinatorial problem. By applying a Simulated Annealing thermodynamic heuristic, Aurelius can solve millions of combinations quickly. It accepts intermediate bad states early on to escape local traps, ensuring we find highly optimized, multi-disciplinary teams.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and compliance are core capstone constraints. Aurelius enforces strict Role-Based Access Control. The AI agent is barred from performing autonomous database deletions. Any delete requests require explicit human-in-the-loop validation, all recorded in a secure database audit ledger.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make Aurelius production-ready, we eliminated database thread lock issues and nested loop bottlenecks. By pre-fetching skills once and grouping them in-memory, database roundtrips drop from over 300 to exactly 2. This brings endpoint execution speeds under 5 milliseconds, representing a major performance increase.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Looking forward, Aurelius integrates Markov career roadmaps. It transitions administrative HR tools from simple records into proactive engines. Aurelius is not just a concept—it is a live, production-grade platform ready for enterprise-style deployment. Thank you, and I now open the floor to questions.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chart" Target="../charts/char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7.png"/><Relationship Id="rId4" Type="http://schemas.openxmlformats.org/officeDocument/2006/relationships/chart" Target="../charts/char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9.png"/><Relationship Id="rId4" Type="http://schemas.openxmlformats.org/officeDocument/2006/relationships/chart" Target="../charts/char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32B"/>
        </a:solidFill>
        <a:effectLst/>
      </p:bgPr>
    </p:bg>
    <p:spTree>
      <p:nvGrpSpPr>
        <p:cNvPr id="1" name=""/>
        <p:cNvGrpSpPr/>
        <p:nvPr/>
      </p:nvGrpSpPr>
      <p:grpSpPr>
        <a:xfrm>
          <a:off x="0" y="0"/>
          <a:ext cx="0" cy="0"/>
          <a:chOff x="0" y="0"/>
          <a:chExt cx="0" cy="0"/>
        </a:xfrm>
      </p:grpSpPr>
      <p:pic>
        <p:nvPicPr>
          <p:cNvPr id="2" name="Image 0" descr="/mnt/data/a_high_tech_sci_fi_holographic_scene_on_a_dark_nav_batch_1.png"/>
          <p:cNvPicPr>
            <a:picLocks noChangeAspect="1"/>
          </p:cNvPicPr>
          <p:nvPr/>
        </p:nvPicPr>
        <p:blipFill>
          <a:blip r:embed="rId3"/>
          <a:srcRect t="25" b="25"/>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B132B">
              <a:alpha val="62000"/>
            </a:srgbClr>
          </a:solidFill>
          <a:ln w="12700">
            <a:solidFill>
              <a:srgbClr val="333333">
                <a:alpha val="0"/>
              </a:srgbClr>
            </a:solidFill>
            <a:prstDash val="solid"/>
          </a:ln>
        </p:spPr>
        <p:txBody>
          <a:bodyPr/>
          <a:lstStyle/>
          <a:p>
            <a:endParaRPr lang="en-US"/>
          </a:p>
        </p:txBody>
      </p:sp>
      <p:sp>
        <p:nvSpPr>
          <p:cNvPr id="4" name="Shape 1"/>
          <p:cNvSpPr/>
          <p:nvPr/>
        </p:nvSpPr>
        <p:spPr>
          <a:xfrm>
            <a:off x="0" y="0"/>
            <a:ext cx="12191695" cy="6858000"/>
          </a:xfrm>
          <a:prstGeom prst="rect">
            <a:avLst/>
          </a:prstGeom>
          <a:solidFill>
            <a:srgbClr val="000000">
              <a:alpha val="32000"/>
            </a:srgbClr>
          </a:solidFill>
          <a:ln w="12700">
            <a:solidFill>
              <a:srgbClr val="333333">
                <a:alpha val="0"/>
              </a:srgbClr>
            </a:solidFill>
            <a:prstDash val="solid"/>
          </a:ln>
        </p:spPr>
        <p:txBody>
          <a:bodyPr/>
          <a:lstStyle/>
          <a:p>
            <a:endParaRPr lang="en-US" dirty="0"/>
          </a:p>
        </p:txBody>
      </p:sp>
      <p:sp>
        <p:nvSpPr>
          <p:cNvPr id="5" name="Text 2"/>
          <p:cNvSpPr/>
          <p:nvPr/>
        </p:nvSpPr>
        <p:spPr>
          <a:xfrm>
            <a:off x="777240" y="621792"/>
            <a:ext cx="5120640" cy="246888"/>
          </a:xfrm>
          <a:prstGeom prst="rect">
            <a:avLst/>
          </a:prstGeom>
          <a:noFill/>
          <a:ln/>
        </p:spPr>
        <p:txBody>
          <a:bodyPr wrap="square" lIns="0" tIns="0" rIns="0" bIns="0" rtlCol="0" anchor="ctr"/>
          <a:lstStyle/>
          <a:p>
            <a:pPr marL="0" indent="0">
              <a:buNone/>
            </a:pPr>
            <a:r>
              <a:rPr lang="en-US" sz="850" dirty="0">
                <a:solidFill>
                  <a:srgbClr val="00EBDF"/>
                </a:solidFill>
                <a:latin typeface="Segoe UI Semibold" pitchFamily="34" charset="0"/>
                <a:ea typeface="Segoe UI Semibold" pitchFamily="34" charset="-122"/>
                <a:cs typeface="Segoe UI Semibold" pitchFamily="34" charset="-120"/>
              </a:rPr>
              <a:t>UNIVERSITY CAPSTONE PROJECT PRESENTATION</a:t>
            </a:r>
            <a:endParaRPr lang="en-US" sz="850" dirty="0"/>
          </a:p>
        </p:txBody>
      </p:sp>
      <p:sp>
        <p:nvSpPr>
          <p:cNvPr id="6" name="Text 3"/>
          <p:cNvSpPr/>
          <p:nvPr/>
        </p:nvSpPr>
        <p:spPr>
          <a:xfrm>
            <a:off x="749808" y="1234440"/>
            <a:ext cx="5257800" cy="749808"/>
          </a:xfrm>
          <a:prstGeom prst="rect">
            <a:avLst/>
          </a:prstGeom>
          <a:noFill/>
          <a:ln/>
        </p:spPr>
        <p:txBody>
          <a:bodyPr wrap="square" lIns="0" tIns="0" rIns="0" bIns="0" rtlCol="0" anchor="ctr">
            <a:normAutofit/>
          </a:bodyPr>
          <a:lstStyle/>
          <a:p>
            <a:pPr marL="0" indent="0">
              <a:buNone/>
            </a:pPr>
            <a:r>
              <a:rPr lang="en-US" sz="4600" b="1" dirty="0">
                <a:solidFill>
                  <a:srgbClr val="F5FBFF"/>
                </a:solidFill>
                <a:latin typeface="Segoe UI Semibold" pitchFamily="34" charset="0"/>
                <a:ea typeface="Segoe UI Semibold" pitchFamily="34" charset="-122"/>
                <a:cs typeface="Segoe UI Semibold" pitchFamily="34" charset="-120"/>
              </a:rPr>
              <a:t>AURELIUS</a:t>
            </a:r>
            <a:endParaRPr lang="en-US" sz="4600" dirty="0"/>
          </a:p>
        </p:txBody>
      </p:sp>
      <p:sp>
        <p:nvSpPr>
          <p:cNvPr id="7" name="Shape 4"/>
          <p:cNvSpPr/>
          <p:nvPr/>
        </p:nvSpPr>
        <p:spPr>
          <a:xfrm>
            <a:off x="768096" y="2103120"/>
            <a:ext cx="2834640" cy="0"/>
          </a:xfrm>
          <a:prstGeom prst="line">
            <a:avLst/>
          </a:prstGeom>
          <a:noFill/>
          <a:ln w="27940">
            <a:solidFill>
              <a:srgbClr val="00EBDF"/>
            </a:solidFill>
            <a:prstDash val="solid"/>
          </a:ln>
        </p:spPr>
        <p:txBody>
          <a:bodyPr/>
          <a:lstStyle/>
          <a:p>
            <a:endParaRPr lang="en-US"/>
          </a:p>
        </p:txBody>
      </p:sp>
      <p:sp>
        <p:nvSpPr>
          <p:cNvPr id="8" name="Text 5"/>
          <p:cNvSpPr/>
          <p:nvPr/>
        </p:nvSpPr>
        <p:spPr>
          <a:xfrm>
            <a:off x="768096" y="2331720"/>
            <a:ext cx="5577840" cy="658368"/>
          </a:xfrm>
          <a:prstGeom prst="rect">
            <a:avLst/>
          </a:prstGeom>
          <a:noFill/>
          <a:ln/>
        </p:spPr>
        <p:txBody>
          <a:bodyPr wrap="square" lIns="0" tIns="0" rIns="0" bIns="0" rtlCol="0" anchor="ctr">
            <a:normAutofit/>
          </a:bodyPr>
          <a:lstStyle/>
          <a:p>
            <a:pPr marL="0" indent="0">
              <a:buNone/>
            </a:pPr>
            <a:r>
              <a:rPr lang="en-US" sz="2000" dirty="0">
                <a:solidFill>
                  <a:srgbClr val="B5C7D9"/>
                </a:solidFill>
                <a:latin typeface="Segoe UI" pitchFamily="34" charset="0"/>
                <a:ea typeface="Segoe UI" pitchFamily="34" charset="-122"/>
                <a:cs typeface="Segoe UI" pitchFamily="34" charset="-120"/>
              </a:rPr>
              <a:t>Next-Generation Autonomous AI-Agent</a:t>
            </a:r>
            <a:endParaRPr lang="en-US" sz="2000" dirty="0"/>
          </a:p>
          <a:p>
            <a:pPr marL="0" indent="0">
              <a:buNone/>
            </a:pPr>
            <a:r>
              <a:rPr lang="en-US" sz="2000" dirty="0">
                <a:solidFill>
                  <a:srgbClr val="B5C7D9"/>
                </a:solidFill>
                <a:latin typeface="Segoe UI" pitchFamily="34" charset="0"/>
                <a:ea typeface="Segoe UI" pitchFamily="34" charset="-122"/>
                <a:cs typeface="Segoe UI" pitchFamily="34" charset="-120"/>
              </a:rPr>
              <a:t>Human Resource Management OS</a:t>
            </a:r>
            <a:endParaRPr lang="en-US" sz="2000" dirty="0"/>
          </a:p>
        </p:txBody>
      </p:sp>
      <p:sp>
        <p:nvSpPr>
          <p:cNvPr id="9" name="Shape 6"/>
          <p:cNvSpPr/>
          <p:nvPr/>
        </p:nvSpPr>
        <p:spPr>
          <a:xfrm>
            <a:off x="768096" y="3310128"/>
            <a:ext cx="1298448" cy="292608"/>
          </a:xfrm>
          <a:prstGeom prst="roundRect">
            <a:avLst>
              <a:gd name="adj" fmla="val 31250"/>
            </a:avLst>
          </a:prstGeom>
          <a:solidFill>
            <a:srgbClr val="00EBDF">
              <a:alpha val="17000"/>
            </a:srgbClr>
          </a:solidFill>
          <a:ln w="12700">
            <a:solidFill>
              <a:srgbClr val="00EBDF">
                <a:alpha val="70000"/>
              </a:srgbClr>
            </a:solidFill>
            <a:prstDash val="solid"/>
          </a:ln>
        </p:spPr>
        <p:txBody>
          <a:bodyPr/>
          <a:lstStyle/>
          <a:p>
            <a:endParaRPr lang="en-US"/>
          </a:p>
        </p:txBody>
      </p:sp>
      <p:sp>
        <p:nvSpPr>
          <p:cNvPr id="10" name="Text 7"/>
          <p:cNvSpPr/>
          <p:nvPr/>
        </p:nvSpPr>
        <p:spPr>
          <a:xfrm>
            <a:off x="859536" y="3378708"/>
            <a:ext cx="1115568" cy="137160"/>
          </a:xfrm>
          <a:prstGeom prst="rect">
            <a:avLst/>
          </a:prstGeom>
          <a:noFill/>
          <a:ln/>
        </p:spPr>
        <p:txBody>
          <a:bodyPr wrap="square" lIns="0" tIns="0" rIns="0" bIns="0" rtlCol="0" anchor="ctr">
            <a:normAutofit/>
          </a:bodyPr>
          <a:lstStyle/>
          <a:p>
            <a:pPr marL="0" indent="0" algn="ctr">
              <a:buNone/>
            </a:pPr>
            <a:r>
              <a:rPr lang="en-US" sz="780" dirty="0">
                <a:solidFill>
                  <a:srgbClr val="F5FBFF"/>
                </a:solidFill>
                <a:latin typeface="Segoe UI Semibold" pitchFamily="34" charset="0"/>
                <a:ea typeface="Segoe UI Semibold" pitchFamily="34" charset="-122"/>
                <a:cs typeface="Segoe UI Semibold" pitchFamily="34" charset="-120"/>
              </a:rPr>
              <a:t>PREDICTIVE MATH</a:t>
            </a:r>
            <a:endParaRPr lang="en-US" sz="780" dirty="0"/>
          </a:p>
        </p:txBody>
      </p:sp>
      <p:sp>
        <p:nvSpPr>
          <p:cNvPr id="11" name="Shape 8"/>
          <p:cNvSpPr/>
          <p:nvPr/>
        </p:nvSpPr>
        <p:spPr>
          <a:xfrm>
            <a:off x="2212848" y="3310128"/>
            <a:ext cx="1417320" cy="292608"/>
          </a:xfrm>
          <a:prstGeom prst="roundRect">
            <a:avLst>
              <a:gd name="adj" fmla="val 31250"/>
            </a:avLst>
          </a:prstGeom>
          <a:solidFill>
            <a:srgbClr val="48CAE4">
              <a:alpha val="17000"/>
            </a:srgbClr>
          </a:solidFill>
          <a:ln w="12700">
            <a:solidFill>
              <a:srgbClr val="48CAE4">
                <a:alpha val="70000"/>
              </a:srgbClr>
            </a:solidFill>
            <a:prstDash val="solid"/>
          </a:ln>
        </p:spPr>
        <p:txBody>
          <a:bodyPr/>
          <a:lstStyle/>
          <a:p>
            <a:endParaRPr lang="en-US"/>
          </a:p>
        </p:txBody>
      </p:sp>
      <p:sp>
        <p:nvSpPr>
          <p:cNvPr id="12" name="Text 9"/>
          <p:cNvSpPr/>
          <p:nvPr/>
        </p:nvSpPr>
        <p:spPr>
          <a:xfrm>
            <a:off x="2304288" y="3378708"/>
            <a:ext cx="1234440" cy="137160"/>
          </a:xfrm>
          <a:prstGeom prst="rect">
            <a:avLst/>
          </a:prstGeom>
          <a:noFill/>
          <a:ln/>
        </p:spPr>
        <p:txBody>
          <a:bodyPr wrap="square" lIns="0" tIns="0" rIns="0" bIns="0" rtlCol="0" anchor="ctr">
            <a:normAutofit/>
          </a:bodyPr>
          <a:lstStyle/>
          <a:p>
            <a:pPr marL="0" indent="0" algn="ctr">
              <a:buNone/>
            </a:pPr>
            <a:r>
              <a:rPr lang="en-US" sz="780" dirty="0">
                <a:solidFill>
                  <a:srgbClr val="F5FBFF"/>
                </a:solidFill>
                <a:latin typeface="Segoe UI Semibold" pitchFamily="34" charset="0"/>
                <a:ea typeface="Segoe UI Semibold" pitchFamily="34" charset="-122"/>
                <a:cs typeface="Segoe UI Semibold" pitchFamily="34" charset="-120"/>
              </a:rPr>
              <a:t>SECURE AI AGENT</a:t>
            </a:r>
            <a:endParaRPr lang="en-US" sz="780" dirty="0"/>
          </a:p>
        </p:txBody>
      </p:sp>
      <p:sp>
        <p:nvSpPr>
          <p:cNvPr id="13" name="Shape 10"/>
          <p:cNvSpPr/>
          <p:nvPr/>
        </p:nvSpPr>
        <p:spPr>
          <a:xfrm>
            <a:off x="3785616" y="3310128"/>
            <a:ext cx="1389888" cy="292608"/>
          </a:xfrm>
          <a:prstGeom prst="roundRect">
            <a:avLst>
              <a:gd name="adj" fmla="val 31250"/>
            </a:avLst>
          </a:prstGeom>
          <a:solidFill>
            <a:srgbClr val="8E7CFF">
              <a:alpha val="17000"/>
            </a:srgbClr>
          </a:solidFill>
          <a:ln w="12700">
            <a:solidFill>
              <a:srgbClr val="8E7CFF">
                <a:alpha val="70000"/>
              </a:srgbClr>
            </a:solidFill>
            <a:prstDash val="solid"/>
          </a:ln>
        </p:spPr>
        <p:txBody>
          <a:bodyPr/>
          <a:lstStyle/>
          <a:p>
            <a:endParaRPr lang="en-US"/>
          </a:p>
        </p:txBody>
      </p:sp>
      <p:sp>
        <p:nvSpPr>
          <p:cNvPr id="14" name="Text 11"/>
          <p:cNvSpPr/>
          <p:nvPr/>
        </p:nvSpPr>
        <p:spPr>
          <a:xfrm>
            <a:off x="3877056" y="3378708"/>
            <a:ext cx="1207008" cy="137160"/>
          </a:xfrm>
          <a:prstGeom prst="rect">
            <a:avLst/>
          </a:prstGeom>
          <a:noFill/>
          <a:ln/>
        </p:spPr>
        <p:txBody>
          <a:bodyPr wrap="square" lIns="0" tIns="0" rIns="0" bIns="0" rtlCol="0" anchor="ctr">
            <a:normAutofit/>
          </a:bodyPr>
          <a:lstStyle/>
          <a:p>
            <a:pPr marL="0" indent="0" algn="ctr">
              <a:buNone/>
            </a:pPr>
            <a:r>
              <a:rPr lang="en-US" sz="780" dirty="0">
                <a:solidFill>
                  <a:srgbClr val="F5FBFF"/>
                </a:solidFill>
                <a:latin typeface="Segoe UI Semibold" pitchFamily="34" charset="0"/>
                <a:ea typeface="Segoe UI Semibold" pitchFamily="34" charset="-122"/>
                <a:cs typeface="Segoe UI Semibold" pitchFamily="34" charset="-120"/>
              </a:rPr>
              <a:t>REAL-TIME HR OS</a:t>
            </a:r>
            <a:endParaRPr lang="en-US" sz="780" dirty="0"/>
          </a:p>
        </p:txBody>
      </p:sp>
      <p:sp>
        <p:nvSpPr>
          <p:cNvPr id="15" name="Shape 12"/>
          <p:cNvSpPr/>
          <p:nvPr/>
        </p:nvSpPr>
        <p:spPr>
          <a:xfrm>
            <a:off x="768096" y="5175504"/>
            <a:ext cx="4937760" cy="566928"/>
          </a:xfrm>
          <a:prstGeom prst="roundRect">
            <a:avLst>
              <a:gd name="adj" fmla="val 19355"/>
            </a:avLst>
          </a:prstGeom>
          <a:solidFill>
            <a:srgbClr val="020916">
              <a:alpha val="80000"/>
            </a:srgbClr>
          </a:solidFill>
          <a:ln w="12700">
            <a:solidFill>
              <a:srgbClr val="00EBDF">
                <a:alpha val="40000"/>
              </a:srgbClr>
            </a:solidFill>
            <a:prstDash val="solid"/>
          </a:ln>
          <a:effectLst>
            <a:outerShdw blurRad="25400" dist="50800" dir="2700000" algn="bl" rotWithShape="0">
              <a:srgbClr val="00EBDF">
                <a:alpha val="18000"/>
              </a:srgbClr>
            </a:outerShdw>
          </a:effectLst>
        </p:spPr>
        <p:txBody>
          <a:bodyPr/>
          <a:lstStyle/>
          <a:p>
            <a:endParaRPr lang="en-US"/>
          </a:p>
        </p:txBody>
      </p:sp>
      <p:sp>
        <p:nvSpPr>
          <p:cNvPr id="16" name="Text 13"/>
          <p:cNvSpPr/>
          <p:nvPr/>
        </p:nvSpPr>
        <p:spPr>
          <a:xfrm>
            <a:off x="987552" y="5385816"/>
            <a:ext cx="4480560" cy="137160"/>
          </a:xfrm>
          <a:prstGeom prst="rect">
            <a:avLst/>
          </a:prstGeom>
          <a:noFill/>
          <a:ln/>
        </p:spPr>
        <p:txBody>
          <a:bodyPr wrap="square" lIns="0" tIns="0" rIns="0" bIns="0" rtlCol="0" anchor="ctr">
            <a:normAutofit fontScale="92500"/>
          </a:bodyPr>
          <a:lstStyle/>
          <a:p>
            <a:pPr marL="0" indent="0" algn="ctr">
              <a:buNone/>
              <a:defRPr sz="1100">
                <a:solidFill>
                  <a:srgbClr val="AFC4DC"/>
                </a:solidFill>
              </a:defRPr>
            </a:pPr>
            <a:r>
              <a:t>University: ____________________  |  Program: ____________________  |  Teacher: ____________________</a:t>
            </a:r>
            <a:endParaRPr lang="en-US" sz="860" dirty="0"/>
          </a:p>
        </p:txBody>
      </p:sp>
      <p:sp>
        <p:nvSpPr>
          <p:cNvPr id="17" name="Shape 14"/>
          <p:cNvSpPr/>
          <p:nvPr/>
        </p:nvSpPr>
        <p:spPr>
          <a:xfrm>
            <a:off x="548640" y="6446520"/>
            <a:ext cx="11109960" cy="0"/>
          </a:xfrm>
          <a:prstGeom prst="line">
            <a:avLst/>
          </a:prstGeom>
          <a:noFill/>
          <a:ln w="15240">
            <a:solidFill>
              <a:srgbClr val="00EBDF">
                <a:alpha val="45000"/>
              </a:srgbClr>
            </a:solidFill>
            <a:prstDash val="solid"/>
          </a:ln>
        </p:spPr>
        <p:txBody>
          <a:bodyPr/>
          <a:lstStyle/>
          <a:p>
            <a:endParaRPr lang="en-US"/>
          </a:p>
        </p:txBody>
      </p:sp>
      <p:sp>
        <p:nvSpPr>
          <p:cNvPr id="18" name="Text 15"/>
          <p:cNvSpPr/>
          <p:nvPr/>
        </p:nvSpPr>
        <p:spPr>
          <a:xfrm>
            <a:off x="594360" y="6528816"/>
            <a:ext cx="4937760" cy="182880"/>
          </a:xfrm>
          <a:prstGeom prst="rect">
            <a:avLst/>
          </a:prstGeom>
          <a:noFill/>
          <a:ln/>
        </p:spPr>
        <p:txBody>
          <a:bodyPr wrap="square" lIns="0" tIns="0" rIns="0" bIns="0" rtlCol="0" anchor="ctr"/>
          <a:lstStyle/>
          <a:p>
            <a:pPr marL="0" indent="0">
              <a:buNone/>
            </a:pPr>
            <a:r>
              <a:rPr lang="en-US" sz="750" dirty="0">
                <a:solidFill>
                  <a:srgbClr val="6D7F96"/>
                </a:solidFill>
                <a:latin typeface="Segoe UI" pitchFamily="34" charset="0"/>
                <a:ea typeface="Segoe UI" pitchFamily="34" charset="-122"/>
                <a:cs typeface="Segoe UI" pitchFamily="34" charset="-120"/>
              </a:rPr>
              <a:t>Executive Pitch Deck</a:t>
            </a:r>
            <a:endParaRPr lang="en-US" sz="750" dirty="0"/>
          </a:p>
        </p:txBody>
      </p:sp>
      <p:sp>
        <p:nvSpPr>
          <p:cNvPr id="19" name="Text 16"/>
          <p:cNvSpPr/>
          <p:nvPr/>
        </p:nvSpPr>
        <p:spPr>
          <a:xfrm>
            <a:off x="11384280" y="6473952"/>
            <a:ext cx="320040" cy="228600"/>
          </a:xfrm>
          <a:prstGeom prst="rect">
            <a:avLst/>
          </a:prstGeom>
          <a:noFill/>
          <a:ln/>
        </p:spPr>
        <p:txBody>
          <a:bodyPr wrap="square" lIns="0" tIns="0" rIns="0" bIns="0" rtlCol="0" anchor="ctr"/>
          <a:lstStyle/>
          <a:p>
            <a:pPr marL="0" indent="0" algn="r">
              <a:buNone/>
            </a:pPr>
            <a:r>
              <a:rPr lang="en-US" sz="800" dirty="0">
                <a:solidFill>
                  <a:srgbClr val="00EBDF"/>
                </a:solidFill>
                <a:latin typeface="Segoe UI Semibold" pitchFamily="34" charset="0"/>
                <a:ea typeface="Segoe UI Semibold" pitchFamily="34" charset="-122"/>
                <a:cs typeface="Segoe UI Semibold" pitchFamily="34" charset="-120"/>
              </a:rPr>
              <a:t>01</a:t>
            </a:r>
            <a:endParaRPr lang="en-US" sz="800" dirty="0"/>
          </a:p>
        </p:txBody>
      </p:sp>
      <p:sp>
        <p:nvSpPr>
          <p:cNvPr id="20" name="Rounded Rectangle 19"/>
          <p:cNvSpPr/>
          <p:nvPr/>
        </p:nvSpPr>
        <p:spPr>
          <a:xfrm>
            <a:off x="7498079" y="1965960"/>
            <a:ext cx="4069080" cy="2057400"/>
          </a:xfrm>
          <a:prstGeom prst="roundRect">
            <a:avLst/>
          </a:prstGeom>
          <a:solidFill>
            <a:srgbClr val="101F3A"/>
          </a:solidFill>
          <a:ln>
            <a:solidFill>
              <a:srgbClr val="00EB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26679" y="2148840"/>
            <a:ext cx="3611880" cy="1691640"/>
          </a:xfrm>
          <a:prstGeom prst="rect">
            <a:avLst/>
          </a:prstGeom>
          <a:noFill/>
        </p:spPr>
        <p:txBody>
          <a:bodyPr wrap="square">
            <a:spAutoFit/>
          </a:bodyPr>
          <a:lstStyle/>
          <a:p>
            <a:pPr>
              <a:spcAft>
                <a:spcPts val="400"/>
              </a:spcAft>
              <a:defRPr sz="1300" b="1">
                <a:solidFill>
                  <a:srgbClr val="00EBDF"/>
                </a:solidFill>
              </a:defRPr>
            </a:pPr>
            <a:r>
              <a:t>Academic Submission Details</a:t>
            </a:r>
          </a:p>
          <a:p>
            <a:pPr>
              <a:spcAft>
                <a:spcPts val="400"/>
              </a:spcAft>
              <a:defRPr sz="1050" b="0">
                <a:solidFill>
                  <a:srgbClr val="F5F8FF"/>
                </a:solidFill>
              </a:defRPr>
            </a:pPr>
            <a:r>
              <a:t>Course / Module: ____________________</a:t>
            </a:r>
          </a:p>
          <a:p>
            <a:pPr>
              <a:spcAft>
                <a:spcPts val="400"/>
              </a:spcAft>
              <a:defRPr sz="1050" b="0">
                <a:solidFill>
                  <a:srgbClr val="F5F8FF"/>
                </a:solidFill>
              </a:defRPr>
            </a:pPr>
            <a:r>
              <a:t>Teacher / Supervisor: _______________</a:t>
            </a:r>
          </a:p>
          <a:p>
            <a:pPr>
              <a:spcAft>
                <a:spcPts val="400"/>
              </a:spcAft>
              <a:defRPr sz="1050" b="0">
                <a:solidFill>
                  <a:srgbClr val="F5F8FF"/>
                </a:solidFill>
              </a:defRPr>
            </a:pPr>
            <a:r>
              <a:t>Presentation Date: __________________</a:t>
            </a:r>
          </a:p>
          <a:p>
            <a:pPr>
              <a:spcAft>
                <a:spcPts val="400"/>
              </a:spcAft>
              <a:defRPr sz="1050" b="0">
                <a:solidFill>
                  <a:srgbClr val="F5F8FF"/>
                </a:solidFill>
              </a:defRPr>
            </a:pPr>
            <a:r>
              <a:t>Group: 4 students</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32B"/>
        </a:solidFill>
        <a:effectLst/>
      </p:bgPr>
    </p:bg>
    <p:spTree>
      <p:nvGrpSpPr>
        <p:cNvPr id="1" name=""/>
        <p:cNvGrpSpPr/>
        <p:nvPr/>
      </p:nvGrpSpPr>
      <p:grpSpPr/>
      <p:sp>
        <p:nvSpPr>
          <p:cNvPr id="2" name="TextBox 1"/>
          <p:cNvSpPr txBox="1"/>
          <p:nvPr/>
        </p:nvSpPr>
        <p:spPr>
          <a:xfrm>
            <a:off x="594360" y="320040"/>
            <a:ext cx="5029200" cy="320040"/>
          </a:xfrm>
          <a:prstGeom prst="rect">
            <a:avLst/>
          </a:prstGeom>
          <a:noFill/>
        </p:spPr>
        <p:txBody>
          <a:bodyPr wrap="none">
            <a:spAutoFit/>
          </a:bodyPr>
          <a:lstStyle/>
          <a:p>
            <a:pPr>
              <a:defRPr sz="1000" b="1">
                <a:solidFill>
                  <a:srgbClr val="00EBDF"/>
                </a:solidFill>
              </a:defRPr>
            </a:pPr>
            <a:r>
              <a:t>PROJECT TEAM</a:t>
            </a:r>
          </a:p>
        </p:txBody>
      </p:sp>
      <p:sp>
        <p:nvSpPr>
          <p:cNvPr id="3" name="TextBox 2"/>
          <p:cNvSpPr txBox="1"/>
          <p:nvPr/>
        </p:nvSpPr>
        <p:spPr>
          <a:xfrm>
            <a:off x="594360" y="685800"/>
            <a:ext cx="9326880" cy="502920"/>
          </a:xfrm>
          <a:prstGeom prst="rect">
            <a:avLst/>
          </a:prstGeom>
          <a:noFill/>
        </p:spPr>
        <p:txBody>
          <a:bodyPr wrap="none">
            <a:spAutoFit/>
          </a:bodyPr>
          <a:lstStyle/>
          <a:p>
            <a:pPr>
              <a:defRPr sz="2600" b="1">
                <a:solidFill>
                  <a:srgbClr val="F5F8FF"/>
                </a:solidFill>
              </a:defRPr>
            </a:pPr>
            <a:r>
              <a:t>Group Members and Roles</a:t>
            </a:r>
          </a:p>
        </p:txBody>
      </p:sp>
      <p:sp>
        <p:nvSpPr>
          <p:cNvPr id="4" name="TextBox 3"/>
          <p:cNvSpPr txBox="1"/>
          <p:nvPr/>
        </p:nvSpPr>
        <p:spPr>
          <a:xfrm>
            <a:off x="612648" y="1170432"/>
            <a:ext cx="9875520" cy="320040"/>
          </a:xfrm>
          <a:prstGeom prst="rect">
            <a:avLst/>
          </a:prstGeom>
          <a:noFill/>
        </p:spPr>
        <p:txBody>
          <a:bodyPr wrap="none">
            <a:spAutoFit/>
          </a:bodyPr>
          <a:lstStyle/>
          <a:p>
            <a:pPr>
              <a:defRPr sz="1250">
                <a:solidFill>
                  <a:srgbClr val="AFC4DC"/>
                </a:solidFill>
              </a:defRPr>
            </a:pPr>
            <a:r>
              <a:t>Replace the placeholder names with the real names before submission.</a:t>
            </a:r>
          </a:p>
        </p:txBody>
      </p:sp>
      <p:sp>
        <p:nvSpPr>
          <p:cNvPr id="5" name="Rectangle 4"/>
          <p:cNvSpPr/>
          <p:nvPr/>
        </p:nvSpPr>
        <p:spPr>
          <a:xfrm>
            <a:off x="594360" y="6199632"/>
            <a:ext cx="10744200" cy="9144"/>
          </a:xfrm>
          <a:prstGeom prst="rect">
            <a:avLst/>
          </a:prstGeom>
          <a:solidFill>
            <a:srgbClr val="355375"/>
          </a:solidFill>
          <a:ln>
            <a:solidFill>
              <a:srgbClr val="3553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291072"/>
            <a:ext cx="5486400" cy="228600"/>
          </a:xfrm>
          <a:prstGeom prst="rect">
            <a:avLst/>
          </a:prstGeom>
          <a:noFill/>
        </p:spPr>
        <p:txBody>
          <a:bodyPr wrap="none">
            <a:spAutoFit/>
          </a:bodyPr>
          <a:lstStyle/>
          <a:p>
            <a:pPr>
              <a:defRPr sz="950">
                <a:solidFill>
                  <a:srgbClr val="AFC4DC"/>
                </a:solidFill>
              </a:defRPr>
            </a:pPr>
            <a:r>
              <a:t>AURELIUS Management OS | University Presentation</a:t>
            </a:r>
          </a:p>
        </p:txBody>
      </p:sp>
      <p:sp>
        <p:nvSpPr>
          <p:cNvPr id="7" name="TextBox 6"/>
          <p:cNvSpPr txBox="1"/>
          <p:nvPr/>
        </p:nvSpPr>
        <p:spPr>
          <a:xfrm>
            <a:off x="10972800" y="6272784"/>
            <a:ext cx="640080" cy="228600"/>
          </a:xfrm>
          <a:prstGeom prst="rect">
            <a:avLst/>
          </a:prstGeom>
          <a:noFill/>
        </p:spPr>
        <p:txBody>
          <a:bodyPr wrap="none">
            <a:spAutoFit/>
          </a:bodyPr>
          <a:lstStyle/>
          <a:p>
            <a:pPr algn="r">
              <a:defRPr sz="1000" b="1">
                <a:solidFill>
                  <a:srgbClr val="00EBDF"/>
                </a:solidFill>
              </a:defRPr>
            </a:pPr>
            <a:r>
              <a:t>02</a:t>
            </a:r>
          </a:p>
        </p:txBody>
      </p:sp>
      <p:sp>
        <p:nvSpPr>
          <p:cNvPr id="8" name="Rounded Rectangle 7"/>
          <p:cNvSpPr/>
          <p:nvPr/>
        </p:nvSpPr>
        <p:spPr>
          <a:xfrm>
            <a:off x="731520" y="1645920"/>
            <a:ext cx="5074920" cy="1325880"/>
          </a:xfrm>
          <a:prstGeom prst="roundRect">
            <a:avLst/>
          </a:prstGeom>
          <a:solidFill>
            <a:srgbClr val="14213D"/>
          </a:solidFill>
          <a:ln>
            <a:solidFill>
              <a:srgbClr val="48CA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1901952"/>
            <a:ext cx="713232" cy="713232"/>
          </a:xfrm>
          <a:prstGeom prst="ellipse">
            <a:avLst/>
          </a:prstGeom>
          <a:solidFill>
            <a:srgbClr val="00EBDF"/>
          </a:solidFill>
          <a:ln>
            <a:solidFill>
              <a:srgbClr val="00EB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828800" y="1847088"/>
            <a:ext cx="3657600" cy="320040"/>
          </a:xfrm>
          <a:prstGeom prst="rect">
            <a:avLst/>
          </a:prstGeom>
          <a:noFill/>
        </p:spPr>
        <p:txBody>
          <a:bodyPr wrap="none">
            <a:spAutoFit/>
          </a:bodyPr>
          <a:lstStyle/>
          <a:p>
            <a:pPr>
              <a:defRPr sz="1400" b="1">
                <a:solidFill>
                  <a:srgbClr val="F5F8FF"/>
                </a:solidFill>
              </a:defRPr>
            </a:pPr>
            <a:r>
              <a:t>Student 1 Name: ____________________</a:t>
            </a:r>
          </a:p>
        </p:txBody>
      </p:sp>
      <p:sp>
        <p:nvSpPr>
          <p:cNvPr id="11" name="TextBox 10"/>
          <p:cNvSpPr txBox="1"/>
          <p:nvPr/>
        </p:nvSpPr>
        <p:spPr>
          <a:xfrm>
            <a:off x="1828800" y="2267712"/>
            <a:ext cx="3657600" cy="320040"/>
          </a:xfrm>
          <a:prstGeom prst="rect">
            <a:avLst/>
          </a:prstGeom>
          <a:noFill/>
        </p:spPr>
        <p:txBody>
          <a:bodyPr wrap="none">
            <a:spAutoFit/>
          </a:bodyPr>
          <a:lstStyle/>
          <a:p>
            <a:pPr>
              <a:defRPr sz="1150">
                <a:solidFill>
                  <a:srgbClr val="AFC4DC"/>
                </a:solidFill>
              </a:defRPr>
            </a:pPr>
            <a:r>
              <a:t>Role: Research and Requirements</a:t>
            </a:r>
          </a:p>
        </p:txBody>
      </p:sp>
      <p:sp>
        <p:nvSpPr>
          <p:cNvPr id="12" name="TextBox 11"/>
          <p:cNvSpPr txBox="1"/>
          <p:nvPr/>
        </p:nvSpPr>
        <p:spPr>
          <a:xfrm>
            <a:off x="1828800" y="2587752"/>
            <a:ext cx="3657600" cy="228600"/>
          </a:xfrm>
          <a:prstGeom prst="rect">
            <a:avLst/>
          </a:prstGeom>
          <a:noFill/>
        </p:spPr>
        <p:txBody>
          <a:bodyPr wrap="none">
            <a:spAutoFit/>
          </a:bodyPr>
          <a:lstStyle/>
          <a:p>
            <a:pPr>
              <a:defRPr sz="1050">
                <a:solidFill>
                  <a:srgbClr val="AFC4DC"/>
                </a:solidFill>
              </a:defRPr>
            </a:pPr>
            <a:r>
              <a:t>Student ID: ____________________</a:t>
            </a:r>
          </a:p>
        </p:txBody>
      </p:sp>
      <p:sp>
        <p:nvSpPr>
          <p:cNvPr id="13" name="Rounded Rectangle 12"/>
          <p:cNvSpPr/>
          <p:nvPr/>
        </p:nvSpPr>
        <p:spPr>
          <a:xfrm>
            <a:off x="6309359" y="1645920"/>
            <a:ext cx="5074920" cy="1325880"/>
          </a:xfrm>
          <a:prstGeom prst="roundRect">
            <a:avLst/>
          </a:prstGeom>
          <a:solidFill>
            <a:srgbClr val="14213D"/>
          </a:solidFill>
          <a:ln>
            <a:solidFill>
              <a:srgbClr val="48CA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537959" y="1901952"/>
            <a:ext cx="713232" cy="713232"/>
          </a:xfrm>
          <a:prstGeom prst="ellipse">
            <a:avLst/>
          </a:prstGeom>
          <a:solidFill>
            <a:srgbClr val="00EBDF"/>
          </a:solidFill>
          <a:ln>
            <a:solidFill>
              <a:srgbClr val="00EB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06640" y="1847088"/>
            <a:ext cx="3657600" cy="320040"/>
          </a:xfrm>
          <a:prstGeom prst="rect">
            <a:avLst/>
          </a:prstGeom>
          <a:noFill/>
        </p:spPr>
        <p:txBody>
          <a:bodyPr wrap="none">
            <a:spAutoFit/>
          </a:bodyPr>
          <a:lstStyle/>
          <a:p>
            <a:pPr>
              <a:defRPr sz="1400" b="1">
                <a:solidFill>
                  <a:srgbClr val="F5F8FF"/>
                </a:solidFill>
              </a:defRPr>
            </a:pPr>
            <a:r>
              <a:t>Student 2 Name: ____________________</a:t>
            </a:r>
          </a:p>
        </p:txBody>
      </p:sp>
      <p:sp>
        <p:nvSpPr>
          <p:cNvPr id="16" name="TextBox 15"/>
          <p:cNvSpPr txBox="1"/>
          <p:nvPr/>
        </p:nvSpPr>
        <p:spPr>
          <a:xfrm>
            <a:off x="7406640" y="2267712"/>
            <a:ext cx="3657600" cy="320040"/>
          </a:xfrm>
          <a:prstGeom prst="rect">
            <a:avLst/>
          </a:prstGeom>
          <a:noFill/>
        </p:spPr>
        <p:txBody>
          <a:bodyPr wrap="none">
            <a:spAutoFit/>
          </a:bodyPr>
          <a:lstStyle/>
          <a:p>
            <a:pPr>
              <a:defRPr sz="1150">
                <a:solidFill>
                  <a:srgbClr val="AFC4DC"/>
                </a:solidFill>
              </a:defRPr>
            </a:pPr>
            <a:r>
              <a:t>Role: Backend and Data Layer</a:t>
            </a:r>
          </a:p>
        </p:txBody>
      </p:sp>
      <p:sp>
        <p:nvSpPr>
          <p:cNvPr id="17" name="TextBox 16"/>
          <p:cNvSpPr txBox="1"/>
          <p:nvPr/>
        </p:nvSpPr>
        <p:spPr>
          <a:xfrm>
            <a:off x="7406640" y="2587752"/>
            <a:ext cx="3657600" cy="228600"/>
          </a:xfrm>
          <a:prstGeom prst="rect">
            <a:avLst/>
          </a:prstGeom>
          <a:noFill/>
        </p:spPr>
        <p:txBody>
          <a:bodyPr wrap="none">
            <a:spAutoFit/>
          </a:bodyPr>
          <a:lstStyle/>
          <a:p>
            <a:pPr>
              <a:defRPr sz="1050">
                <a:solidFill>
                  <a:srgbClr val="AFC4DC"/>
                </a:solidFill>
              </a:defRPr>
            </a:pPr>
            <a:r>
              <a:t>Student ID: ____________________</a:t>
            </a:r>
          </a:p>
        </p:txBody>
      </p:sp>
      <p:sp>
        <p:nvSpPr>
          <p:cNvPr id="18" name="Rounded Rectangle 17"/>
          <p:cNvSpPr/>
          <p:nvPr/>
        </p:nvSpPr>
        <p:spPr>
          <a:xfrm>
            <a:off x="731520" y="3474720"/>
            <a:ext cx="5074920" cy="1325880"/>
          </a:xfrm>
          <a:prstGeom prst="roundRect">
            <a:avLst/>
          </a:prstGeom>
          <a:solidFill>
            <a:srgbClr val="14213D"/>
          </a:solidFill>
          <a:ln>
            <a:solidFill>
              <a:srgbClr val="48CA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730752"/>
            <a:ext cx="713232" cy="713232"/>
          </a:xfrm>
          <a:prstGeom prst="ellipse">
            <a:avLst/>
          </a:prstGeom>
          <a:solidFill>
            <a:srgbClr val="00EBDF"/>
          </a:solidFill>
          <a:ln>
            <a:solidFill>
              <a:srgbClr val="00EB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828800" y="3675887"/>
            <a:ext cx="3657600" cy="320040"/>
          </a:xfrm>
          <a:prstGeom prst="rect">
            <a:avLst/>
          </a:prstGeom>
          <a:noFill/>
        </p:spPr>
        <p:txBody>
          <a:bodyPr wrap="none">
            <a:spAutoFit/>
          </a:bodyPr>
          <a:lstStyle/>
          <a:p>
            <a:pPr>
              <a:defRPr sz="1400" b="1">
                <a:solidFill>
                  <a:srgbClr val="F5F8FF"/>
                </a:solidFill>
              </a:defRPr>
            </a:pPr>
            <a:r>
              <a:t>Student 3 Name: ____________________</a:t>
            </a:r>
          </a:p>
        </p:txBody>
      </p:sp>
      <p:sp>
        <p:nvSpPr>
          <p:cNvPr id="21" name="TextBox 20"/>
          <p:cNvSpPr txBox="1"/>
          <p:nvPr/>
        </p:nvSpPr>
        <p:spPr>
          <a:xfrm>
            <a:off x="1828800" y="4096511"/>
            <a:ext cx="3657600" cy="320040"/>
          </a:xfrm>
          <a:prstGeom prst="rect">
            <a:avLst/>
          </a:prstGeom>
          <a:noFill/>
        </p:spPr>
        <p:txBody>
          <a:bodyPr wrap="none">
            <a:spAutoFit/>
          </a:bodyPr>
          <a:lstStyle/>
          <a:p>
            <a:pPr>
              <a:defRPr sz="1150">
                <a:solidFill>
                  <a:srgbClr val="AFC4DC"/>
                </a:solidFill>
              </a:defRPr>
            </a:pPr>
            <a:r>
              <a:t>Role: Frontend and UX Design</a:t>
            </a:r>
          </a:p>
        </p:txBody>
      </p:sp>
      <p:sp>
        <p:nvSpPr>
          <p:cNvPr id="22" name="TextBox 21"/>
          <p:cNvSpPr txBox="1"/>
          <p:nvPr/>
        </p:nvSpPr>
        <p:spPr>
          <a:xfrm>
            <a:off x="1828800" y="4416552"/>
            <a:ext cx="3657600" cy="228600"/>
          </a:xfrm>
          <a:prstGeom prst="rect">
            <a:avLst/>
          </a:prstGeom>
          <a:noFill/>
        </p:spPr>
        <p:txBody>
          <a:bodyPr wrap="none">
            <a:spAutoFit/>
          </a:bodyPr>
          <a:lstStyle/>
          <a:p>
            <a:pPr>
              <a:defRPr sz="1050">
                <a:solidFill>
                  <a:srgbClr val="AFC4DC"/>
                </a:solidFill>
              </a:defRPr>
            </a:pPr>
            <a:r>
              <a:t>Student ID: ____________________</a:t>
            </a:r>
          </a:p>
        </p:txBody>
      </p:sp>
      <p:sp>
        <p:nvSpPr>
          <p:cNvPr id="23" name="Rounded Rectangle 22"/>
          <p:cNvSpPr/>
          <p:nvPr/>
        </p:nvSpPr>
        <p:spPr>
          <a:xfrm>
            <a:off x="6309359" y="3474720"/>
            <a:ext cx="5074920" cy="1325880"/>
          </a:xfrm>
          <a:prstGeom prst="roundRect">
            <a:avLst/>
          </a:prstGeom>
          <a:solidFill>
            <a:srgbClr val="14213D"/>
          </a:solidFill>
          <a:ln>
            <a:solidFill>
              <a:srgbClr val="48CA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537959" y="3730752"/>
            <a:ext cx="713232" cy="713232"/>
          </a:xfrm>
          <a:prstGeom prst="ellipse">
            <a:avLst/>
          </a:prstGeom>
          <a:solidFill>
            <a:srgbClr val="00EBDF"/>
          </a:solidFill>
          <a:ln>
            <a:solidFill>
              <a:srgbClr val="00EB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06640" y="3675887"/>
            <a:ext cx="3657600" cy="320040"/>
          </a:xfrm>
          <a:prstGeom prst="rect">
            <a:avLst/>
          </a:prstGeom>
          <a:noFill/>
        </p:spPr>
        <p:txBody>
          <a:bodyPr wrap="none">
            <a:spAutoFit/>
          </a:bodyPr>
          <a:lstStyle/>
          <a:p>
            <a:pPr>
              <a:defRPr sz="1400" b="1">
                <a:solidFill>
                  <a:srgbClr val="F5F8FF"/>
                </a:solidFill>
              </a:defRPr>
            </a:pPr>
            <a:r>
              <a:t>Student 4 Name: ____________________</a:t>
            </a:r>
          </a:p>
        </p:txBody>
      </p:sp>
      <p:sp>
        <p:nvSpPr>
          <p:cNvPr id="26" name="TextBox 25"/>
          <p:cNvSpPr txBox="1"/>
          <p:nvPr/>
        </p:nvSpPr>
        <p:spPr>
          <a:xfrm>
            <a:off x="7406640" y="4096511"/>
            <a:ext cx="3657600" cy="320040"/>
          </a:xfrm>
          <a:prstGeom prst="rect">
            <a:avLst/>
          </a:prstGeom>
          <a:noFill/>
        </p:spPr>
        <p:txBody>
          <a:bodyPr wrap="none">
            <a:spAutoFit/>
          </a:bodyPr>
          <a:lstStyle/>
          <a:p>
            <a:pPr>
              <a:defRPr sz="1150">
                <a:solidFill>
                  <a:srgbClr val="AFC4DC"/>
                </a:solidFill>
              </a:defRPr>
            </a:pPr>
            <a:r>
              <a:t>Role: Testing, Documentation and Presentation</a:t>
            </a:r>
          </a:p>
        </p:txBody>
      </p:sp>
      <p:sp>
        <p:nvSpPr>
          <p:cNvPr id="27" name="TextBox 26"/>
          <p:cNvSpPr txBox="1"/>
          <p:nvPr/>
        </p:nvSpPr>
        <p:spPr>
          <a:xfrm>
            <a:off x="7406640" y="4416552"/>
            <a:ext cx="3657600" cy="228600"/>
          </a:xfrm>
          <a:prstGeom prst="rect">
            <a:avLst/>
          </a:prstGeom>
          <a:noFill/>
        </p:spPr>
        <p:txBody>
          <a:bodyPr wrap="none">
            <a:spAutoFit/>
          </a:bodyPr>
          <a:lstStyle/>
          <a:p>
            <a:pPr>
              <a:defRPr sz="1050">
                <a:solidFill>
                  <a:srgbClr val="AFC4DC"/>
                </a:solidFill>
              </a:defRPr>
            </a:pPr>
            <a:r>
              <a:t>Student ID: ____________________</a:t>
            </a:r>
          </a:p>
        </p:txBody>
      </p:sp>
      <p:sp>
        <p:nvSpPr>
          <p:cNvPr id="28" name="TextBox 27"/>
          <p:cNvSpPr txBox="1"/>
          <p:nvPr/>
        </p:nvSpPr>
        <p:spPr>
          <a:xfrm>
            <a:off x="868680" y="5440680"/>
            <a:ext cx="10241280" cy="320040"/>
          </a:xfrm>
          <a:prstGeom prst="rect">
            <a:avLst/>
          </a:prstGeom>
          <a:noFill/>
        </p:spPr>
        <p:txBody>
          <a:bodyPr wrap="none">
            <a:spAutoFit/>
          </a:bodyPr>
          <a:lstStyle/>
          <a:p>
            <a:pPr algn="ctr">
              <a:defRPr sz="1150">
                <a:solidFill>
                  <a:srgbClr val="AFC4DC"/>
                </a:solidFill>
              </a:defRPr>
            </a:pPr>
            <a:r>
              <a:t>This slide clearly shows who contributed to the project and makes the presentation suitable for a group university submission.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32B"/>
        </a:solidFill>
        <a:effectLst/>
      </p:bgPr>
    </p:bg>
    <p:spTree>
      <p:nvGrpSpPr>
        <p:cNvPr id="1" name=""/>
        <p:cNvGrpSpPr/>
        <p:nvPr/>
      </p:nvGrpSpPr>
      <p:grpSpPr/>
      <p:sp>
        <p:nvSpPr>
          <p:cNvPr id="2" name="TextBox 1"/>
          <p:cNvSpPr txBox="1"/>
          <p:nvPr/>
        </p:nvSpPr>
        <p:spPr>
          <a:xfrm>
            <a:off x="594360" y="320040"/>
            <a:ext cx="5029200" cy="320040"/>
          </a:xfrm>
          <a:prstGeom prst="rect">
            <a:avLst/>
          </a:prstGeom>
          <a:noFill/>
        </p:spPr>
        <p:txBody>
          <a:bodyPr wrap="none">
            <a:spAutoFit/>
          </a:bodyPr>
          <a:lstStyle/>
          <a:p>
            <a:pPr>
              <a:defRPr sz="1000" b="1">
                <a:solidFill>
                  <a:srgbClr val="00EBDF"/>
                </a:solidFill>
              </a:defRPr>
            </a:pPr>
            <a:r>
              <a:t>AGENDA</a:t>
            </a:r>
          </a:p>
        </p:txBody>
      </p:sp>
      <p:sp>
        <p:nvSpPr>
          <p:cNvPr id="3" name="TextBox 2"/>
          <p:cNvSpPr txBox="1"/>
          <p:nvPr/>
        </p:nvSpPr>
        <p:spPr>
          <a:xfrm>
            <a:off x="594360" y="685800"/>
            <a:ext cx="9326880" cy="502920"/>
          </a:xfrm>
          <a:prstGeom prst="rect">
            <a:avLst/>
          </a:prstGeom>
          <a:noFill/>
        </p:spPr>
        <p:txBody>
          <a:bodyPr wrap="none">
            <a:spAutoFit/>
          </a:bodyPr>
          <a:lstStyle/>
          <a:p>
            <a:pPr>
              <a:defRPr sz="2600" b="1">
                <a:solidFill>
                  <a:srgbClr val="F5F8FF"/>
                </a:solidFill>
              </a:defRPr>
            </a:pPr>
            <a:r>
              <a:t>Presentation Outline</a:t>
            </a:r>
          </a:p>
        </p:txBody>
      </p:sp>
      <p:sp>
        <p:nvSpPr>
          <p:cNvPr id="4" name="TextBox 3"/>
          <p:cNvSpPr txBox="1"/>
          <p:nvPr/>
        </p:nvSpPr>
        <p:spPr>
          <a:xfrm>
            <a:off x="612648" y="1170432"/>
            <a:ext cx="9875520" cy="320040"/>
          </a:xfrm>
          <a:prstGeom prst="rect">
            <a:avLst/>
          </a:prstGeom>
          <a:noFill/>
        </p:spPr>
        <p:txBody>
          <a:bodyPr wrap="none">
            <a:spAutoFit/>
          </a:bodyPr>
          <a:lstStyle/>
          <a:p>
            <a:pPr>
              <a:defRPr sz="1250">
                <a:solidFill>
                  <a:srgbClr val="AFC4DC"/>
                </a:solidFill>
              </a:defRPr>
            </a:pPr>
            <a:r>
              <a:t>A clear structure helps the teacher follow the project logic from problem to conclusion.</a:t>
            </a:r>
          </a:p>
        </p:txBody>
      </p:sp>
      <p:sp>
        <p:nvSpPr>
          <p:cNvPr id="5" name="Rectangle 4"/>
          <p:cNvSpPr/>
          <p:nvPr/>
        </p:nvSpPr>
        <p:spPr>
          <a:xfrm>
            <a:off x="594360" y="6199632"/>
            <a:ext cx="10744200" cy="9144"/>
          </a:xfrm>
          <a:prstGeom prst="rect">
            <a:avLst/>
          </a:prstGeom>
          <a:solidFill>
            <a:srgbClr val="355375"/>
          </a:solidFill>
          <a:ln>
            <a:solidFill>
              <a:srgbClr val="3553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291072"/>
            <a:ext cx="5486400" cy="228600"/>
          </a:xfrm>
          <a:prstGeom prst="rect">
            <a:avLst/>
          </a:prstGeom>
          <a:noFill/>
        </p:spPr>
        <p:txBody>
          <a:bodyPr wrap="none">
            <a:spAutoFit/>
          </a:bodyPr>
          <a:lstStyle/>
          <a:p>
            <a:pPr>
              <a:defRPr sz="950">
                <a:solidFill>
                  <a:srgbClr val="AFC4DC"/>
                </a:solidFill>
              </a:defRPr>
            </a:pPr>
            <a:r>
              <a:t>AURELIUS Management OS | University Presentation</a:t>
            </a:r>
          </a:p>
        </p:txBody>
      </p:sp>
      <p:sp>
        <p:nvSpPr>
          <p:cNvPr id="7" name="TextBox 6"/>
          <p:cNvSpPr txBox="1"/>
          <p:nvPr/>
        </p:nvSpPr>
        <p:spPr>
          <a:xfrm>
            <a:off x="10972800" y="6272784"/>
            <a:ext cx="640080" cy="228600"/>
          </a:xfrm>
          <a:prstGeom prst="rect">
            <a:avLst/>
          </a:prstGeom>
          <a:noFill/>
        </p:spPr>
        <p:txBody>
          <a:bodyPr wrap="none">
            <a:spAutoFit/>
          </a:bodyPr>
          <a:lstStyle/>
          <a:p>
            <a:pPr algn="r">
              <a:defRPr sz="1000" b="1">
                <a:solidFill>
                  <a:srgbClr val="00EBDF"/>
                </a:solidFill>
              </a:defRPr>
            </a:pPr>
            <a:r>
              <a:t>03</a:t>
            </a:r>
          </a:p>
        </p:txBody>
      </p:sp>
      <p:sp>
        <p:nvSpPr>
          <p:cNvPr id="8" name="Rounded Rectangle 7"/>
          <p:cNvSpPr/>
          <p:nvPr/>
        </p:nvSpPr>
        <p:spPr>
          <a:xfrm>
            <a:off x="822960" y="1572768"/>
            <a:ext cx="594360" cy="411480"/>
          </a:xfrm>
          <a:prstGeom prst="roundRect">
            <a:avLst/>
          </a:prstGeom>
          <a:solidFill>
            <a:srgbClr val="00EBDF"/>
          </a:solidFill>
          <a:ln>
            <a:solidFill>
              <a:srgbClr val="00EB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655064"/>
            <a:ext cx="594360" cy="228600"/>
          </a:xfrm>
          <a:prstGeom prst="rect">
            <a:avLst/>
          </a:prstGeom>
          <a:noFill/>
        </p:spPr>
        <p:txBody>
          <a:bodyPr wrap="none">
            <a:spAutoFit/>
          </a:bodyPr>
          <a:lstStyle/>
          <a:p>
            <a:pPr algn="ctr">
              <a:defRPr sz="1000" b="1">
                <a:solidFill>
                  <a:srgbClr val="0B132B"/>
                </a:solidFill>
              </a:defRPr>
            </a:pPr>
            <a:r>
              <a:t>01</a:t>
            </a:r>
          </a:p>
        </p:txBody>
      </p:sp>
      <p:sp>
        <p:nvSpPr>
          <p:cNvPr id="10" name="TextBox 9"/>
          <p:cNvSpPr txBox="1"/>
          <p:nvPr/>
        </p:nvSpPr>
        <p:spPr>
          <a:xfrm>
            <a:off x="1600200" y="1554480"/>
            <a:ext cx="4206240" cy="274320"/>
          </a:xfrm>
          <a:prstGeom prst="rect">
            <a:avLst/>
          </a:prstGeom>
          <a:noFill/>
        </p:spPr>
        <p:txBody>
          <a:bodyPr wrap="none">
            <a:spAutoFit/>
          </a:bodyPr>
          <a:lstStyle/>
          <a:p>
            <a:pPr>
              <a:defRPr sz="1400" b="1">
                <a:solidFill>
                  <a:srgbClr val="F5F8FF"/>
                </a:solidFill>
              </a:defRPr>
            </a:pPr>
            <a:r>
              <a:t>Project introduction</a:t>
            </a:r>
          </a:p>
        </p:txBody>
      </p:sp>
      <p:sp>
        <p:nvSpPr>
          <p:cNvPr id="11" name="TextBox 10"/>
          <p:cNvSpPr txBox="1"/>
          <p:nvPr/>
        </p:nvSpPr>
        <p:spPr>
          <a:xfrm>
            <a:off x="1600200" y="1847088"/>
            <a:ext cx="8778240" cy="274320"/>
          </a:xfrm>
          <a:prstGeom prst="rect">
            <a:avLst/>
          </a:prstGeom>
          <a:noFill/>
        </p:spPr>
        <p:txBody>
          <a:bodyPr wrap="none">
            <a:spAutoFit/>
          </a:bodyPr>
          <a:lstStyle/>
          <a:p>
            <a:pPr>
              <a:defRPr sz="1100">
                <a:solidFill>
                  <a:srgbClr val="AFC4DC"/>
                </a:solidFill>
              </a:defRPr>
            </a:pPr>
            <a:r>
              <a:t>What AURELIUS is and why the project was selected</a:t>
            </a:r>
          </a:p>
        </p:txBody>
      </p:sp>
      <p:sp>
        <p:nvSpPr>
          <p:cNvPr id="12" name="Rounded Rectangle 11"/>
          <p:cNvSpPr/>
          <p:nvPr/>
        </p:nvSpPr>
        <p:spPr>
          <a:xfrm>
            <a:off x="822960" y="2286000"/>
            <a:ext cx="594360" cy="411480"/>
          </a:xfrm>
          <a:prstGeom prst="roundRect">
            <a:avLst/>
          </a:prstGeom>
          <a:solidFill>
            <a:srgbClr val="00EBDF"/>
          </a:solidFill>
          <a:ln>
            <a:solidFill>
              <a:srgbClr val="00EB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2368296"/>
            <a:ext cx="594360" cy="228600"/>
          </a:xfrm>
          <a:prstGeom prst="rect">
            <a:avLst/>
          </a:prstGeom>
          <a:noFill/>
        </p:spPr>
        <p:txBody>
          <a:bodyPr wrap="none">
            <a:spAutoFit/>
          </a:bodyPr>
          <a:lstStyle/>
          <a:p>
            <a:pPr algn="ctr">
              <a:defRPr sz="1000" b="1">
                <a:solidFill>
                  <a:srgbClr val="0B132B"/>
                </a:solidFill>
              </a:defRPr>
            </a:pPr>
            <a:r>
              <a:t>02</a:t>
            </a:r>
          </a:p>
        </p:txBody>
      </p:sp>
      <p:sp>
        <p:nvSpPr>
          <p:cNvPr id="14" name="TextBox 13"/>
          <p:cNvSpPr txBox="1"/>
          <p:nvPr/>
        </p:nvSpPr>
        <p:spPr>
          <a:xfrm>
            <a:off x="1600200" y="2267712"/>
            <a:ext cx="4206240" cy="274320"/>
          </a:xfrm>
          <a:prstGeom prst="rect">
            <a:avLst/>
          </a:prstGeom>
          <a:noFill/>
        </p:spPr>
        <p:txBody>
          <a:bodyPr wrap="none">
            <a:spAutoFit/>
          </a:bodyPr>
          <a:lstStyle/>
          <a:p>
            <a:pPr>
              <a:defRPr sz="1400" b="1">
                <a:solidFill>
                  <a:srgbClr val="F5F8FF"/>
                </a:solidFill>
              </a:defRPr>
            </a:pPr>
            <a:r>
              <a:t>Problem statement</a:t>
            </a:r>
          </a:p>
        </p:txBody>
      </p:sp>
      <p:sp>
        <p:nvSpPr>
          <p:cNvPr id="15" name="TextBox 14"/>
          <p:cNvSpPr txBox="1"/>
          <p:nvPr/>
        </p:nvSpPr>
        <p:spPr>
          <a:xfrm>
            <a:off x="1600200" y="2560320"/>
            <a:ext cx="8778240" cy="274320"/>
          </a:xfrm>
          <a:prstGeom prst="rect">
            <a:avLst/>
          </a:prstGeom>
          <a:noFill/>
        </p:spPr>
        <p:txBody>
          <a:bodyPr wrap="none">
            <a:spAutoFit/>
          </a:bodyPr>
          <a:lstStyle/>
          <a:p>
            <a:pPr>
              <a:defRPr sz="1100">
                <a:solidFill>
                  <a:srgbClr val="AFC4DC"/>
                </a:solidFill>
              </a:defRPr>
            </a:pPr>
            <a:r>
              <a:t>Main HR technology problems addressed by the system</a:t>
            </a:r>
          </a:p>
        </p:txBody>
      </p:sp>
      <p:sp>
        <p:nvSpPr>
          <p:cNvPr id="16" name="Rounded Rectangle 15"/>
          <p:cNvSpPr/>
          <p:nvPr/>
        </p:nvSpPr>
        <p:spPr>
          <a:xfrm>
            <a:off x="822960" y="2999232"/>
            <a:ext cx="594360" cy="411480"/>
          </a:xfrm>
          <a:prstGeom prst="roundRect">
            <a:avLst/>
          </a:prstGeom>
          <a:solidFill>
            <a:srgbClr val="00EBDF"/>
          </a:solidFill>
          <a:ln>
            <a:solidFill>
              <a:srgbClr val="00EB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3081528"/>
            <a:ext cx="594360" cy="228600"/>
          </a:xfrm>
          <a:prstGeom prst="rect">
            <a:avLst/>
          </a:prstGeom>
          <a:noFill/>
        </p:spPr>
        <p:txBody>
          <a:bodyPr wrap="none">
            <a:spAutoFit/>
          </a:bodyPr>
          <a:lstStyle/>
          <a:p>
            <a:pPr algn="ctr">
              <a:defRPr sz="1000" b="1">
                <a:solidFill>
                  <a:srgbClr val="0B132B"/>
                </a:solidFill>
              </a:defRPr>
            </a:pPr>
            <a:r>
              <a:t>03</a:t>
            </a:r>
          </a:p>
        </p:txBody>
      </p:sp>
      <p:sp>
        <p:nvSpPr>
          <p:cNvPr id="18" name="TextBox 17"/>
          <p:cNvSpPr txBox="1"/>
          <p:nvPr/>
        </p:nvSpPr>
        <p:spPr>
          <a:xfrm>
            <a:off x="1600200" y="2980944"/>
            <a:ext cx="4206240" cy="274320"/>
          </a:xfrm>
          <a:prstGeom prst="rect">
            <a:avLst/>
          </a:prstGeom>
          <a:noFill/>
        </p:spPr>
        <p:txBody>
          <a:bodyPr wrap="none">
            <a:spAutoFit/>
          </a:bodyPr>
          <a:lstStyle/>
          <a:p>
            <a:pPr>
              <a:defRPr sz="1400" b="1">
                <a:solidFill>
                  <a:srgbClr val="F5F8FF"/>
                </a:solidFill>
              </a:defRPr>
            </a:pPr>
            <a:r>
              <a:t>Proposed solution</a:t>
            </a:r>
          </a:p>
        </p:txBody>
      </p:sp>
      <p:sp>
        <p:nvSpPr>
          <p:cNvPr id="19" name="TextBox 18"/>
          <p:cNvSpPr txBox="1"/>
          <p:nvPr/>
        </p:nvSpPr>
        <p:spPr>
          <a:xfrm>
            <a:off x="1600200" y="3273552"/>
            <a:ext cx="8778240" cy="274320"/>
          </a:xfrm>
          <a:prstGeom prst="rect">
            <a:avLst/>
          </a:prstGeom>
          <a:noFill/>
        </p:spPr>
        <p:txBody>
          <a:bodyPr wrap="none">
            <a:spAutoFit/>
          </a:bodyPr>
          <a:lstStyle/>
          <a:p>
            <a:pPr>
              <a:defRPr sz="1100">
                <a:solidFill>
                  <a:srgbClr val="AFC4DC"/>
                </a:solidFill>
              </a:defRPr>
            </a:pPr>
            <a:r>
              <a:t>How the AI-assisted management OS supports HR decisions</a:t>
            </a:r>
          </a:p>
        </p:txBody>
      </p:sp>
      <p:sp>
        <p:nvSpPr>
          <p:cNvPr id="20" name="Rounded Rectangle 19"/>
          <p:cNvSpPr/>
          <p:nvPr/>
        </p:nvSpPr>
        <p:spPr>
          <a:xfrm>
            <a:off x="822960" y="3712463"/>
            <a:ext cx="594360" cy="411480"/>
          </a:xfrm>
          <a:prstGeom prst="roundRect">
            <a:avLst/>
          </a:prstGeom>
          <a:solidFill>
            <a:srgbClr val="00EBDF"/>
          </a:solidFill>
          <a:ln>
            <a:solidFill>
              <a:srgbClr val="00EB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 y="3794759"/>
            <a:ext cx="594360" cy="228600"/>
          </a:xfrm>
          <a:prstGeom prst="rect">
            <a:avLst/>
          </a:prstGeom>
          <a:noFill/>
        </p:spPr>
        <p:txBody>
          <a:bodyPr wrap="none">
            <a:spAutoFit/>
          </a:bodyPr>
          <a:lstStyle/>
          <a:p>
            <a:pPr algn="ctr">
              <a:defRPr sz="1000" b="1">
                <a:solidFill>
                  <a:srgbClr val="0B132B"/>
                </a:solidFill>
              </a:defRPr>
            </a:pPr>
            <a:r>
              <a:t>04</a:t>
            </a:r>
          </a:p>
        </p:txBody>
      </p:sp>
      <p:sp>
        <p:nvSpPr>
          <p:cNvPr id="22" name="TextBox 21"/>
          <p:cNvSpPr txBox="1"/>
          <p:nvPr/>
        </p:nvSpPr>
        <p:spPr>
          <a:xfrm>
            <a:off x="1600200" y="3694176"/>
            <a:ext cx="4206240" cy="274320"/>
          </a:xfrm>
          <a:prstGeom prst="rect">
            <a:avLst/>
          </a:prstGeom>
          <a:noFill/>
        </p:spPr>
        <p:txBody>
          <a:bodyPr wrap="none">
            <a:spAutoFit/>
          </a:bodyPr>
          <a:lstStyle/>
          <a:p>
            <a:pPr>
              <a:defRPr sz="1400" b="1">
                <a:solidFill>
                  <a:srgbClr val="F5F8FF"/>
                </a:solidFill>
              </a:defRPr>
            </a:pPr>
            <a:r>
              <a:t>Architecture and implementation</a:t>
            </a:r>
          </a:p>
        </p:txBody>
      </p:sp>
      <p:sp>
        <p:nvSpPr>
          <p:cNvPr id="23" name="TextBox 22"/>
          <p:cNvSpPr txBox="1"/>
          <p:nvPr/>
        </p:nvSpPr>
        <p:spPr>
          <a:xfrm>
            <a:off x="1600200" y="3986783"/>
            <a:ext cx="8778240" cy="274320"/>
          </a:xfrm>
          <a:prstGeom prst="rect">
            <a:avLst/>
          </a:prstGeom>
          <a:noFill/>
        </p:spPr>
        <p:txBody>
          <a:bodyPr wrap="none">
            <a:spAutoFit/>
          </a:bodyPr>
          <a:lstStyle/>
          <a:p>
            <a:pPr>
              <a:defRPr sz="1100">
                <a:solidFill>
                  <a:srgbClr val="AFC4DC"/>
                </a:solidFill>
              </a:defRPr>
            </a:pPr>
            <a:r>
              <a:t>Frontend, backend, database, streaming, and governance layers</a:t>
            </a:r>
          </a:p>
        </p:txBody>
      </p:sp>
      <p:sp>
        <p:nvSpPr>
          <p:cNvPr id="24" name="Rounded Rectangle 23"/>
          <p:cNvSpPr/>
          <p:nvPr/>
        </p:nvSpPr>
        <p:spPr>
          <a:xfrm>
            <a:off x="822960" y="4425696"/>
            <a:ext cx="594360" cy="411480"/>
          </a:xfrm>
          <a:prstGeom prst="roundRect">
            <a:avLst/>
          </a:prstGeom>
          <a:solidFill>
            <a:srgbClr val="00EBDF"/>
          </a:solidFill>
          <a:ln>
            <a:solidFill>
              <a:srgbClr val="00EB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2960" y="4507992"/>
            <a:ext cx="594360" cy="228600"/>
          </a:xfrm>
          <a:prstGeom prst="rect">
            <a:avLst/>
          </a:prstGeom>
          <a:noFill/>
        </p:spPr>
        <p:txBody>
          <a:bodyPr wrap="none">
            <a:spAutoFit/>
          </a:bodyPr>
          <a:lstStyle/>
          <a:p>
            <a:pPr algn="ctr">
              <a:defRPr sz="1000" b="1">
                <a:solidFill>
                  <a:srgbClr val="0B132B"/>
                </a:solidFill>
              </a:defRPr>
            </a:pPr>
            <a:r>
              <a:t>05</a:t>
            </a:r>
          </a:p>
        </p:txBody>
      </p:sp>
      <p:sp>
        <p:nvSpPr>
          <p:cNvPr id="26" name="TextBox 25"/>
          <p:cNvSpPr txBox="1"/>
          <p:nvPr/>
        </p:nvSpPr>
        <p:spPr>
          <a:xfrm>
            <a:off x="1600200" y="4407408"/>
            <a:ext cx="4206240" cy="274320"/>
          </a:xfrm>
          <a:prstGeom prst="rect">
            <a:avLst/>
          </a:prstGeom>
          <a:noFill/>
        </p:spPr>
        <p:txBody>
          <a:bodyPr wrap="none">
            <a:spAutoFit/>
          </a:bodyPr>
          <a:lstStyle/>
          <a:p>
            <a:pPr>
              <a:defRPr sz="1400" b="1">
                <a:solidFill>
                  <a:srgbClr val="F5F8FF"/>
                </a:solidFill>
              </a:defRPr>
            </a:pPr>
            <a:r>
              <a:t>Core models and algorithms</a:t>
            </a:r>
          </a:p>
        </p:txBody>
      </p:sp>
      <p:sp>
        <p:nvSpPr>
          <p:cNvPr id="27" name="TextBox 26"/>
          <p:cNvSpPr txBox="1"/>
          <p:nvPr/>
        </p:nvSpPr>
        <p:spPr>
          <a:xfrm>
            <a:off x="1600200" y="4700016"/>
            <a:ext cx="8778240" cy="274320"/>
          </a:xfrm>
          <a:prstGeom prst="rect">
            <a:avLst/>
          </a:prstGeom>
          <a:noFill/>
        </p:spPr>
        <p:txBody>
          <a:bodyPr wrap="none">
            <a:spAutoFit/>
          </a:bodyPr>
          <a:lstStyle/>
          <a:p>
            <a:pPr>
              <a:defRPr sz="1100">
                <a:solidFill>
                  <a:srgbClr val="AFC4DC"/>
                </a:solidFill>
              </a:defRPr>
            </a:pPr>
            <a:r>
              <a:t>Attrition forecasting, ONA, simulated annealing, and Markov roadmap</a:t>
            </a:r>
          </a:p>
        </p:txBody>
      </p:sp>
      <p:sp>
        <p:nvSpPr>
          <p:cNvPr id="28" name="Rounded Rectangle 27"/>
          <p:cNvSpPr/>
          <p:nvPr/>
        </p:nvSpPr>
        <p:spPr>
          <a:xfrm>
            <a:off x="822960" y="5138928"/>
            <a:ext cx="594360" cy="411480"/>
          </a:xfrm>
          <a:prstGeom prst="roundRect">
            <a:avLst/>
          </a:prstGeom>
          <a:solidFill>
            <a:srgbClr val="00EBDF"/>
          </a:solidFill>
          <a:ln>
            <a:solidFill>
              <a:srgbClr val="00EB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5221224"/>
            <a:ext cx="594360" cy="228600"/>
          </a:xfrm>
          <a:prstGeom prst="rect">
            <a:avLst/>
          </a:prstGeom>
          <a:noFill/>
        </p:spPr>
        <p:txBody>
          <a:bodyPr wrap="none">
            <a:spAutoFit/>
          </a:bodyPr>
          <a:lstStyle/>
          <a:p>
            <a:pPr algn="ctr">
              <a:defRPr sz="1000" b="1">
                <a:solidFill>
                  <a:srgbClr val="0B132B"/>
                </a:solidFill>
              </a:defRPr>
            </a:pPr>
            <a:r>
              <a:t>06</a:t>
            </a:r>
          </a:p>
        </p:txBody>
      </p:sp>
      <p:sp>
        <p:nvSpPr>
          <p:cNvPr id="30" name="TextBox 29"/>
          <p:cNvSpPr txBox="1"/>
          <p:nvPr/>
        </p:nvSpPr>
        <p:spPr>
          <a:xfrm>
            <a:off x="1600200" y="5120640"/>
            <a:ext cx="4206240" cy="274320"/>
          </a:xfrm>
          <a:prstGeom prst="rect">
            <a:avLst/>
          </a:prstGeom>
          <a:noFill/>
        </p:spPr>
        <p:txBody>
          <a:bodyPr wrap="none">
            <a:spAutoFit/>
          </a:bodyPr>
          <a:lstStyle/>
          <a:p>
            <a:pPr>
              <a:defRPr sz="1400" b="1">
                <a:solidFill>
                  <a:srgbClr val="F5F8FF"/>
                </a:solidFill>
              </a:defRPr>
            </a:pPr>
            <a:r>
              <a:t>Results, limitations, and conclusion</a:t>
            </a:r>
          </a:p>
        </p:txBody>
      </p:sp>
      <p:sp>
        <p:nvSpPr>
          <p:cNvPr id="31" name="TextBox 30"/>
          <p:cNvSpPr txBox="1"/>
          <p:nvPr/>
        </p:nvSpPr>
        <p:spPr>
          <a:xfrm>
            <a:off x="1600200" y="5413248"/>
            <a:ext cx="8778240" cy="274320"/>
          </a:xfrm>
          <a:prstGeom prst="rect">
            <a:avLst/>
          </a:prstGeom>
          <a:noFill/>
        </p:spPr>
        <p:txBody>
          <a:bodyPr wrap="none">
            <a:spAutoFit/>
          </a:bodyPr>
          <a:lstStyle/>
          <a:p>
            <a:pPr>
              <a:defRPr sz="1100">
                <a:solidFill>
                  <a:srgbClr val="AFC4DC"/>
                </a:solidFill>
              </a:defRPr>
            </a:pPr>
            <a:r>
              <a:t>What was achieved, what remains open, and final learning outcomes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2">
    <p:bg>
      <p:bgPr>
        <a:solidFill>
          <a:srgbClr val="0B132B"/>
        </a:solidFill>
        <a:effectLst/>
      </p:bgPr>
    </p:bg>
    <p:spTree>
      <p:nvGrpSpPr>
        <p:cNvPr id="1" name=""/>
        <p:cNvGrpSpPr/>
        <p:nvPr/>
      </p:nvGrpSpPr>
      <p:grpSpPr>
        <a:xfrm>
          <a:off x="0" y="0"/>
          <a:ext cx="0" cy="0"/>
          <a:chOff x="0" y="0"/>
          <a:chExt cx="0" cy="0"/>
        </a:xfrm>
      </p:grpSpPr>
      <p:pic>
        <p:nvPicPr>
          <p:cNvPr id="2" name="Image 0" descr="/mnt/data/a_dark_high_tech_futuristic_3d_infographic_illus_batch_2.png"/>
          <p:cNvPicPr>
            <a:picLocks noChangeAspect="1"/>
          </p:cNvPicPr>
          <p:nvPr/>
        </p:nvPicPr>
        <p:blipFill>
          <a:blip r:embed="rId3"/>
          <a:srcRect t="25" b="25"/>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B132B">
              <a:alpha val="70000"/>
            </a:srgbClr>
          </a:solidFill>
          <a:ln w="12700">
            <a:solidFill>
              <a:srgbClr val="333333">
                <a:alpha val="0"/>
              </a:srgbClr>
            </a:solidFill>
            <a:prstDash val="solid"/>
          </a:ln>
        </p:spPr>
        <p:txBody>
          <a:bodyPr/>
          <a:lstStyle/>
          <a:p>
            <a:endParaRPr lang="en-US"/>
          </a:p>
        </p:txBody>
      </p:sp>
      <p:sp>
        <p:nvSpPr>
          <p:cNvPr id="4" name="Shape 1"/>
          <p:cNvSpPr/>
          <p:nvPr/>
        </p:nvSpPr>
        <p:spPr>
          <a:xfrm>
            <a:off x="0" y="0"/>
            <a:ext cx="12191695" cy="6858000"/>
          </a:xfrm>
          <a:prstGeom prst="rect">
            <a:avLst/>
          </a:prstGeom>
          <a:solidFill>
            <a:srgbClr val="000000">
              <a:alpha val="32000"/>
            </a:srgbClr>
          </a:solidFill>
          <a:ln w="12700">
            <a:solidFill>
              <a:srgbClr val="333333">
                <a:alpha val="0"/>
              </a:srgbClr>
            </a:solidFill>
            <a:prstDash val="solid"/>
          </a:ln>
        </p:spPr>
        <p:txBody>
          <a:bodyPr/>
          <a:lstStyle/>
          <a:p>
            <a:endParaRPr lang="en-US"/>
          </a:p>
        </p:txBody>
      </p:sp>
      <p:sp>
        <p:nvSpPr>
          <p:cNvPr id="5" name="Text 2"/>
          <p:cNvSpPr/>
          <p:nvPr/>
        </p:nvSpPr>
        <p:spPr>
          <a:xfrm>
            <a:off x="658368" y="429768"/>
            <a:ext cx="5120640" cy="246888"/>
          </a:xfrm>
          <a:prstGeom prst="rect">
            <a:avLst/>
          </a:prstGeom>
          <a:noFill/>
          <a:ln/>
        </p:spPr>
        <p:txBody>
          <a:bodyPr wrap="square" lIns="0" tIns="0" rIns="0" bIns="0" rtlCol="0" anchor="ctr"/>
          <a:lstStyle/>
          <a:p>
            <a:pPr marL="0" indent="0">
              <a:buNone/>
            </a:pPr>
            <a:r>
              <a:rPr lang="en-US" sz="850" dirty="0">
                <a:solidFill>
                  <a:srgbClr val="00EBDF"/>
                </a:solidFill>
                <a:latin typeface="Segoe UI Semibold" pitchFamily="34" charset="0"/>
                <a:ea typeface="Segoe UI Semibold" pitchFamily="34" charset="-122"/>
                <a:cs typeface="Segoe UI Semibold" pitchFamily="34" charset="-120"/>
              </a:rPr>
              <a:t>THE PROBLEM</a:t>
            </a:r>
            <a:endParaRPr lang="en-US" sz="850" dirty="0"/>
          </a:p>
        </p:txBody>
      </p:sp>
      <p:sp>
        <p:nvSpPr>
          <p:cNvPr id="6" name="Text 3"/>
          <p:cNvSpPr/>
          <p:nvPr/>
        </p:nvSpPr>
        <p:spPr>
          <a:xfrm>
            <a:off x="658368" y="713232"/>
            <a:ext cx="7680960" cy="493776"/>
          </a:xfrm>
          <a:prstGeom prst="rect">
            <a:avLst/>
          </a:prstGeom>
          <a:noFill/>
          <a:ln/>
        </p:spPr>
        <p:txBody>
          <a:bodyPr wrap="square" lIns="0" tIns="0" rIns="0" bIns="0" rtlCol="0" anchor="ctr">
            <a:normAutofit/>
          </a:bodyPr>
          <a:lstStyle/>
          <a:p>
            <a:pPr marL="0" indent="0">
              <a:buNone/>
            </a:pPr>
            <a:r>
              <a:rPr lang="en-US" sz="2700" b="1" dirty="0">
                <a:solidFill>
                  <a:srgbClr val="F5FBFF"/>
                </a:solidFill>
                <a:latin typeface="Segoe UI Semibold" pitchFamily="34" charset="0"/>
                <a:ea typeface="Segoe UI Semibold" pitchFamily="34" charset="-122"/>
                <a:cs typeface="Segoe UI Semibold" pitchFamily="34" charset="-120"/>
              </a:rPr>
              <a:t>The Critical Problems in Modern HR Tech</a:t>
            </a:r>
            <a:endParaRPr lang="en-US" sz="2700" dirty="0"/>
          </a:p>
        </p:txBody>
      </p:sp>
      <p:sp>
        <p:nvSpPr>
          <p:cNvPr id="7" name="Text 4"/>
          <p:cNvSpPr/>
          <p:nvPr/>
        </p:nvSpPr>
        <p:spPr>
          <a:xfrm>
            <a:off x="676656" y="1225296"/>
            <a:ext cx="7452360" cy="310896"/>
          </a:xfrm>
          <a:prstGeom prst="rect">
            <a:avLst/>
          </a:prstGeom>
          <a:noFill/>
          <a:ln/>
        </p:spPr>
        <p:txBody>
          <a:bodyPr wrap="square" lIns="0" tIns="0" rIns="0" bIns="0" rtlCol="0" anchor="ctr">
            <a:normAutofit/>
          </a:bodyPr>
          <a:lstStyle/>
          <a:p>
            <a:pPr marL="0" indent="0">
              <a:buNone/>
            </a:pPr>
            <a:r>
              <a:rPr lang="en-US" sz="1250" dirty="0">
                <a:solidFill>
                  <a:srgbClr val="B5C7D9"/>
                </a:solidFill>
                <a:latin typeface="Segoe UI" pitchFamily="34" charset="0"/>
                <a:ea typeface="Segoe UI" pitchFamily="34" charset="-122"/>
                <a:cs typeface="Segoe UI" pitchFamily="34" charset="-120"/>
              </a:rPr>
              <a:t>Static HR databases miss risk, waste admin hours, and slow talent decisions.</a:t>
            </a:r>
            <a:endParaRPr lang="en-US" sz="1250" dirty="0"/>
          </a:p>
        </p:txBody>
      </p:sp>
      <p:sp>
        <p:nvSpPr>
          <p:cNvPr id="8" name="Shape 5"/>
          <p:cNvSpPr/>
          <p:nvPr/>
        </p:nvSpPr>
        <p:spPr>
          <a:xfrm>
            <a:off x="621792" y="1719072"/>
            <a:ext cx="6080760" cy="4069080"/>
          </a:xfrm>
          <a:prstGeom prst="roundRect">
            <a:avLst>
              <a:gd name="adj" fmla="val 2697"/>
            </a:avLst>
          </a:prstGeom>
          <a:solidFill>
            <a:srgbClr val="061225">
              <a:alpha val="88000"/>
            </a:srgbClr>
          </a:solidFill>
          <a:ln w="12700">
            <a:solidFill>
              <a:srgbClr val="00EBDF">
                <a:alpha val="30000"/>
              </a:srgbClr>
            </a:solidFill>
            <a:prstDash val="solid"/>
          </a:ln>
          <a:effectLst>
            <a:outerShdw blurRad="25400" dist="50800" dir="2700000" algn="bl" rotWithShape="0">
              <a:srgbClr val="00EBDF">
                <a:alpha val="18000"/>
              </a:srgbClr>
            </a:outerShdw>
          </a:effectLst>
        </p:spPr>
        <p:txBody>
          <a:bodyPr/>
          <a:lstStyle/>
          <a:p>
            <a:endParaRPr lang="en-US"/>
          </a:p>
        </p:txBody>
      </p:sp>
      <p:sp>
        <p:nvSpPr>
          <p:cNvPr id="9" name="Shape 6"/>
          <p:cNvSpPr/>
          <p:nvPr/>
        </p:nvSpPr>
        <p:spPr>
          <a:xfrm>
            <a:off x="868680" y="2066544"/>
            <a:ext cx="201168" cy="0"/>
          </a:xfrm>
          <a:prstGeom prst="line">
            <a:avLst/>
          </a:prstGeom>
          <a:noFill/>
          <a:ln w="27940">
            <a:solidFill>
              <a:srgbClr val="FF5277"/>
            </a:solidFill>
            <a:prstDash val="solid"/>
          </a:ln>
        </p:spPr>
        <p:txBody>
          <a:bodyPr/>
          <a:lstStyle/>
          <a:p>
            <a:endParaRPr lang="en-US"/>
          </a:p>
        </p:txBody>
      </p:sp>
      <p:sp>
        <p:nvSpPr>
          <p:cNvPr id="10" name="Text 7"/>
          <p:cNvSpPr/>
          <p:nvPr/>
        </p:nvSpPr>
        <p:spPr>
          <a:xfrm>
            <a:off x="1170432" y="1993392"/>
            <a:ext cx="5349240" cy="201168"/>
          </a:xfrm>
          <a:prstGeom prst="rect">
            <a:avLst/>
          </a:prstGeom>
          <a:noFill/>
          <a:ln/>
        </p:spPr>
        <p:txBody>
          <a:bodyPr wrap="square" lIns="0" tIns="0" rIns="0" bIns="0" rtlCol="0" anchor="ctr">
            <a:normAutofit/>
          </a:bodyPr>
          <a:lstStyle/>
          <a:p>
            <a:pPr marL="0" indent="0">
              <a:buNone/>
            </a:pPr>
            <a:r>
              <a:rPr lang="en-US" sz="1180" dirty="0">
                <a:solidFill>
                  <a:srgbClr val="F5FBFF"/>
                </a:solidFill>
                <a:latin typeface="Segoe UI Semibold" pitchFamily="34" charset="0"/>
                <a:ea typeface="Segoe UI Semibold" pitchFamily="34" charset="-122"/>
                <a:cs typeface="Segoe UI Semibold" pitchFamily="34" charset="-120"/>
              </a:rPr>
              <a:t>Passive data silos</a:t>
            </a:r>
            <a:endParaRPr lang="en-US" sz="1180" dirty="0"/>
          </a:p>
        </p:txBody>
      </p:sp>
      <p:sp>
        <p:nvSpPr>
          <p:cNvPr id="11" name="Text 8"/>
          <p:cNvSpPr/>
          <p:nvPr/>
        </p:nvSpPr>
        <p:spPr>
          <a:xfrm>
            <a:off x="1170432" y="2221992"/>
            <a:ext cx="5349240" cy="475488"/>
          </a:xfrm>
          <a:prstGeom prst="rect">
            <a:avLst/>
          </a:prstGeom>
          <a:noFill/>
          <a:ln/>
        </p:spPr>
        <p:txBody>
          <a:bodyPr wrap="square" lIns="0" tIns="0" rIns="0" bIns="0" rtlCol="0" anchor="ctr">
            <a:normAutofit/>
          </a:bodyPr>
          <a:lstStyle/>
          <a:p>
            <a:pPr marL="0" indent="0">
              <a:buNone/>
            </a:pPr>
            <a:r>
              <a:rPr lang="en-US" sz="980" dirty="0">
                <a:solidFill>
                  <a:srgbClr val="B5C7D9"/>
                </a:solidFill>
                <a:latin typeface="Segoe UI" pitchFamily="34" charset="0"/>
                <a:ea typeface="Segoe UI" pitchFamily="34" charset="-122"/>
                <a:cs typeface="Segoe UI" pitchFamily="34" charset="-120"/>
              </a:rPr>
              <a:t>Managers search manually and miss early attrition warnings or workflow blocks.</a:t>
            </a:r>
            <a:endParaRPr lang="en-US" sz="980" dirty="0"/>
          </a:p>
        </p:txBody>
      </p:sp>
      <p:sp>
        <p:nvSpPr>
          <p:cNvPr id="12" name="Shape 9"/>
          <p:cNvSpPr/>
          <p:nvPr/>
        </p:nvSpPr>
        <p:spPr>
          <a:xfrm>
            <a:off x="868680" y="3017520"/>
            <a:ext cx="201168" cy="0"/>
          </a:xfrm>
          <a:prstGeom prst="line">
            <a:avLst/>
          </a:prstGeom>
          <a:noFill/>
          <a:ln w="27940">
            <a:solidFill>
              <a:srgbClr val="FFB545"/>
            </a:solidFill>
            <a:prstDash val="solid"/>
          </a:ln>
        </p:spPr>
        <p:txBody>
          <a:bodyPr/>
          <a:lstStyle/>
          <a:p>
            <a:endParaRPr lang="en-US"/>
          </a:p>
        </p:txBody>
      </p:sp>
      <p:sp>
        <p:nvSpPr>
          <p:cNvPr id="13" name="Text 10"/>
          <p:cNvSpPr/>
          <p:nvPr/>
        </p:nvSpPr>
        <p:spPr>
          <a:xfrm>
            <a:off x="1170432" y="2944368"/>
            <a:ext cx="5349240" cy="201168"/>
          </a:xfrm>
          <a:prstGeom prst="rect">
            <a:avLst/>
          </a:prstGeom>
          <a:noFill/>
          <a:ln/>
        </p:spPr>
        <p:txBody>
          <a:bodyPr wrap="square" lIns="0" tIns="0" rIns="0" bIns="0" rtlCol="0" anchor="ctr">
            <a:normAutofit/>
          </a:bodyPr>
          <a:lstStyle/>
          <a:p>
            <a:pPr marL="0" indent="0">
              <a:buNone/>
            </a:pPr>
            <a:r>
              <a:rPr lang="en-US" sz="1180" dirty="0">
                <a:solidFill>
                  <a:srgbClr val="F5FBFF"/>
                </a:solidFill>
                <a:latin typeface="Segoe UI Semibold" pitchFamily="34" charset="0"/>
                <a:ea typeface="Segoe UI Semibold" pitchFamily="34" charset="-122"/>
                <a:cs typeface="Segoe UI Semibold" pitchFamily="34" charset="-120"/>
              </a:rPr>
              <a:t>Talent acquisition blindspots</a:t>
            </a:r>
            <a:endParaRPr lang="en-US" sz="1180" dirty="0"/>
          </a:p>
        </p:txBody>
      </p:sp>
      <p:sp>
        <p:nvSpPr>
          <p:cNvPr id="14" name="Text 11"/>
          <p:cNvSpPr/>
          <p:nvPr/>
        </p:nvSpPr>
        <p:spPr>
          <a:xfrm>
            <a:off x="1170432" y="3172968"/>
            <a:ext cx="5349240" cy="475488"/>
          </a:xfrm>
          <a:prstGeom prst="rect">
            <a:avLst/>
          </a:prstGeom>
          <a:noFill/>
          <a:ln/>
        </p:spPr>
        <p:txBody>
          <a:bodyPr wrap="square" lIns="0" tIns="0" rIns="0" bIns="0" rtlCol="0" anchor="ctr">
            <a:normAutofit/>
          </a:bodyPr>
          <a:lstStyle/>
          <a:p>
            <a:pPr marL="0" indent="0">
              <a:buNone/>
            </a:pPr>
            <a:r>
              <a:rPr lang="en-US" sz="980" dirty="0">
                <a:solidFill>
                  <a:srgbClr val="B5C7D9"/>
                </a:solidFill>
                <a:latin typeface="Segoe UI" pitchFamily="34" charset="0"/>
                <a:ea typeface="Segoe UI" pitchFamily="34" charset="-122"/>
                <a:cs typeface="Segoe UI" pitchFamily="34" charset="-120"/>
              </a:rPr>
              <a:t>Candidate/team matching remains subjective, slow, and weak on skill precision.</a:t>
            </a:r>
            <a:endParaRPr lang="en-US" sz="980" dirty="0"/>
          </a:p>
        </p:txBody>
      </p:sp>
      <p:sp>
        <p:nvSpPr>
          <p:cNvPr id="15" name="Shape 12"/>
          <p:cNvSpPr/>
          <p:nvPr/>
        </p:nvSpPr>
        <p:spPr>
          <a:xfrm>
            <a:off x="868680" y="3968496"/>
            <a:ext cx="201168" cy="0"/>
          </a:xfrm>
          <a:prstGeom prst="line">
            <a:avLst/>
          </a:prstGeom>
          <a:noFill/>
          <a:ln w="27940">
            <a:solidFill>
              <a:srgbClr val="00EBDF"/>
            </a:solidFill>
            <a:prstDash val="solid"/>
          </a:ln>
        </p:spPr>
        <p:txBody>
          <a:bodyPr/>
          <a:lstStyle/>
          <a:p>
            <a:endParaRPr lang="en-US"/>
          </a:p>
        </p:txBody>
      </p:sp>
      <p:sp>
        <p:nvSpPr>
          <p:cNvPr id="16" name="Text 13"/>
          <p:cNvSpPr/>
          <p:nvPr/>
        </p:nvSpPr>
        <p:spPr>
          <a:xfrm>
            <a:off x="1170432" y="3895344"/>
            <a:ext cx="5349240" cy="201168"/>
          </a:xfrm>
          <a:prstGeom prst="rect">
            <a:avLst/>
          </a:prstGeom>
          <a:noFill/>
          <a:ln/>
        </p:spPr>
        <p:txBody>
          <a:bodyPr wrap="square" lIns="0" tIns="0" rIns="0" bIns="0" rtlCol="0" anchor="ctr">
            <a:normAutofit/>
          </a:bodyPr>
          <a:lstStyle/>
          <a:p>
            <a:pPr marL="0" indent="0">
              <a:buNone/>
            </a:pPr>
            <a:r>
              <a:rPr lang="en-US" sz="1180" dirty="0">
                <a:solidFill>
                  <a:srgbClr val="F5FBFF"/>
                </a:solidFill>
                <a:latin typeface="Segoe UI Semibold" pitchFamily="34" charset="0"/>
                <a:ea typeface="Segoe UI Semibold" pitchFamily="34" charset="-122"/>
                <a:cs typeface="Segoe UI Semibold" pitchFamily="34" charset="-120"/>
              </a:rPr>
              <a:t>Zero interactive intelligence</a:t>
            </a:r>
            <a:endParaRPr lang="en-US" sz="1180" dirty="0"/>
          </a:p>
        </p:txBody>
      </p:sp>
      <p:sp>
        <p:nvSpPr>
          <p:cNvPr id="17" name="Text 14"/>
          <p:cNvSpPr/>
          <p:nvPr/>
        </p:nvSpPr>
        <p:spPr>
          <a:xfrm>
            <a:off x="1170432" y="4123944"/>
            <a:ext cx="5349240" cy="475488"/>
          </a:xfrm>
          <a:prstGeom prst="rect">
            <a:avLst/>
          </a:prstGeom>
          <a:noFill/>
          <a:ln/>
        </p:spPr>
        <p:txBody>
          <a:bodyPr wrap="square" lIns="0" tIns="0" rIns="0" bIns="0" rtlCol="0" anchor="ctr">
            <a:normAutofit/>
          </a:bodyPr>
          <a:lstStyle/>
          <a:p>
            <a:pPr marL="0" indent="0">
              <a:buNone/>
            </a:pPr>
            <a:r>
              <a:rPr lang="en-US" sz="980" dirty="0">
                <a:solidFill>
                  <a:srgbClr val="B5C7D9"/>
                </a:solidFill>
                <a:latin typeface="Segoe UI" pitchFamily="34" charset="0"/>
                <a:ea typeface="Segoe UI" pitchFamily="34" charset="-122"/>
                <a:cs typeface="Segoe UI" pitchFamily="34" charset="-120"/>
              </a:rPr>
              <a:t>Static charts cannot answer natural-language questions or modify records safely.</a:t>
            </a:r>
            <a:endParaRPr lang="en-US" sz="980" dirty="0"/>
          </a:p>
        </p:txBody>
      </p:sp>
      <p:sp>
        <p:nvSpPr>
          <p:cNvPr id="18" name="Text 15"/>
          <p:cNvSpPr/>
          <p:nvPr/>
        </p:nvSpPr>
        <p:spPr>
          <a:xfrm>
            <a:off x="7818120" y="1755648"/>
            <a:ext cx="2103120" cy="219456"/>
          </a:xfrm>
          <a:prstGeom prst="rect">
            <a:avLst/>
          </a:prstGeom>
          <a:noFill/>
          <a:ln/>
        </p:spPr>
        <p:txBody>
          <a:bodyPr wrap="square" lIns="0" tIns="0" rIns="0" bIns="0" rtlCol="0" anchor="ctr">
            <a:normAutofit/>
          </a:bodyPr>
          <a:lstStyle/>
          <a:p>
            <a:pPr marL="0" indent="0">
              <a:buNone/>
            </a:pPr>
            <a:r>
              <a:rPr lang="en-US" sz="850" dirty="0">
                <a:solidFill>
                  <a:srgbClr val="00EBDF"/>
                </a:solidFill>
                <a:latin typeface="Segoe UI Semibold" pitchFamily="34" charset="0"/>
                <a:ea typeface="Segoe UI Semibold" pitchFamily="34" charset="-122"/>
                <a:cs typeface="Segoe UI Semibold" pitchFamily="34" charset="-120"/>
              </a:rPr>
              <a:t>IMPACT SNAPSHOT</a:t>
            </a:r>
            <a:endParaRPr lang="en-US" sz="850" dirty="0"/>
          </a:p>
        </p:txBody>
      </p:sp>
      <p:sp>
        <p:nvSpPr>
          <p:cNvPr id="19" name="Shape 16"/>
          <p:cNvSpPr/>
          <p:nvPr/>
        </p:nvSpPr>
        <p:spPr>
          <a:xfrm>
            <a:off x="7498080" y="2066544"/>
            <a:ext cx="3456432" cy="749808"/>
          </a:xfrm>
          <a:prstGeom prst="roundRect">
            <a:avLst>
              <a:gd name="adj" fmla="val 14634"/>
            </a:avLst>
          </a:prstGeom>
          <a:solidFill>
            <a:srgbClr val="07101F">
              <a:alpha val="92000"/>
            </a:srgbClr>
          </a:solidFill>
          <a:ln w="12700">
            <a:solidFill>
              <a:srgbClr val="00EBDF">
                <a:alpha val="60000"/>
              </a:srgbClr>
            </a:solidFill>
            <a:prstDash val="solid"/>
          </a:ln>
          <a:effectLst>
            <a:outerShdw blurRad="25400" dist="50800" dir="2700000" algn="bl" rotWithShape="0">
              <a:srgbClr val="00EBDF">
                <a:alpha val="18000"/>
              </a:srgbClr>
            </a:outerShdw>
          </a:effectLst>
        </p:spPr>
        <p:txBody>
          <a:bodyPr/>
          <a:lstStyle/>
          <a:p>
            <a:endParaRPr lang="en-US"/>
          </a:p>
        </p:txBody>
      </p:sp>
      <p:sp>
        <p:nvSpPr>
          <p:cNvPr id="20" name="Text 17"/>
          <p:cNvSpPr/>
          <p:nvPr/>
        </p:nvSpPr>
        <p:spPr>
          <a:xfrm>
            <a:off x="7662672" y="2167128"/>
            <a:ext cx="3127248" cy="337414"/>
          </a:xfrm>
          <a:prstGeom prst="rect">
            <a:avLst/>
          </a:prstGeom>
          <a:noFill/>
          <a:ln/>
        </p:spPr>
        <p:txBody>
          <a:bodyPr wrap="square" lIns="0" tIns="0" rIns="0" bIns="0" rtlCol="0" anchor="ctr">
            <a:normAutofit lnSpcReduction="10000"/>
          </a:bodyPr>
          <a:lstStyle/>
          <a:p>
            <a:pPr marL="0" indent="0">
              <a:buNone/>
            </a:pPr>
            <a:r>
              <a:rPr lang="en-US" sz="2300" b="1" dirty="0">
                <a:solidFill>
                  <a:srgbClr val="00EBDF"/>
                </a:solidFill>
                <a:latin typeface="Segoe UI Semibold" pitchFamily="34" charset="0"/>
                <a:ea typeface="Segoe UI Semibold" pitchFamily="34" charset="-122"/>
                <a:cs typeface="Segoe UI Semibold" pitchFamily="34" charset="-120"/>
              </a:rPr>
              <a:t>2.5×</a:t>
            </a:r>
            <a:endParaRPr lang="en-US" sz="2300" dirty="0"/>
          </a:p>
        </p:txBody>
      </p:sp>
      <p:sp>
        <p:nvSpPr>
          <p:cNvPr id="21" name="Text 18"/>
          <p:cNvSpPr/>
          <p:nvPr/>
        </p:nvSpPr>
        <p:spPr>
          <a:xfrm>
            <a:off x="7680960" y="2456444"/>
            <a:ext cx="3090672" cy="269931"/>
          </a:xfrm>
          <a:prstGeom prst="rect">
            <a:avLst/>
          </a:prstGeom>
          <a:noFill/>
          <a:ln/>
        </p:spPr>
        <p:txBody>
          <a:bodyPr wrap="square" lIns="0" tIns="0" rIns="0" bIns="0" rtlCol="0" anchor="ctr">
            <a:normAutofit/>
          </a:bodyPr>
          <a:lstStyle/>
          <a:p>
            <a:pPr marL="0" indent="0">
              <a:buNone/>
            </a:pPr>
            <a:r>
              <a:rPr lang="en-US" sz="880" dirty="0">
                <a:solidFill>
                  <a:srgbClr val="B5C7D9"/>
                </a:solidFill>
                <a:latin typeface="Segoe UI" pitchFamily="34" charset="0"/>
                <a:ea typeface="Segoe UI" pitchFamily="34" charset="-122"/>
                <a:cs typeface="Segoe UI" pitchFamily="34" charset="-120"/>
              </a:rPr>
              <a:t>replacement cost for a key employee versus annual salary</a:t>
            </a:r>
            <a:endParaRPr lang="en-US" sz="880" dirty="0"/>
          </a:p>
        </p:txBody>
      </p:sp>
      <p:sp>
        <p:nvSpPr>
          <p:cNvPr id="22" name="Shape 19"/>
          <p:cNvSpPr/>
          <p:nvPr/>
        </p:nvSpPr>
        <p:spPr>
          <a:xfrm>
            <a:off x="7498080" y="3072384"/>
            <a:ext cx="3456432" cy="749808"/>
          </a:xfrm>
          <a:prstGeom prst="roundRect">
            <a:avLst>
              <a:gd name="adj" fmla="val 14634"/>
            </a:avLst>
          </a:prstGeom>
          <a:solidFill>
            <a:srgbClr val="07101F">
              <a:alpha val="92000"/>
            </a:srgbClr>
          </a:solidFill>
          <a:ln w="12700">
            <a:solidFill>
              <a:srgbClr val="48CAE4">
                <a:alpha val="60000"/>
              </a:srgbClr>
            </a:solidFill>
            <a:prstDash val="solid"/>
          </a:ln>
          <a:effectLst>
            <a:outerShdw blurRad="25400" dist="50800" dir="2700000" algn="bl" rotWithShape="0">
              <a:srgbClr val="00EBDF">
                <a:alpha val="18000"/>
              </a:srgbClr>
            </a:outerShdw>
          </a:effectLst>
        </p:spPr>
        <p:txBody>
          <a:bodyPr/>
          <a:lstStyle/>
          <a:p>
            <a:endParaRPr lang="en-US"/>
          </a:p>
        </p:txBody>
      </p:sp>
      <p:sp>
        <p:nvSpPr>
          <p:cNvPr id="23" name="Text 20"/>
          <p:cNvSpPr/>
          <p:nvPr/>
        </p:nvSpPr>
        <p:spPr>
          <a:xfrm>
            <a:off x="7662672" y="3172968"/>
            <a:ext cx="3127248" cy="337414"/>
          </a:xfrm>
          <a:prstGeom prst="rect">
            <a:avLst/>
          </a:prstGeom>
          <a:noFill/>
          <a:ln/>
        </p:spPr>
        <p:txBody>
          <a:bodyPr wrap="square" lIns="0" tIns="0" rIns="0" bIns="0" rtlCol="0" anchor="ctr">
            <a:normAutofit lnSpcReduction="10000"/>
          </a:bodyPr>
          <a:lstStyle/>
          <a:p>
            <a:pPr marL="0" indent="0">
              <a:buNone/>
            </a:pPr>
            <a:r>
              <a:rPr lang="en-US" sz="2300" b="1" dirty="0">
                <a:solidFill>
                  <a:srgbClr val="48CAE4"/>
                </a:solidFill>
                <a:latin typeface="Segoe UI Semibold" pitchFamily="34" charset="0"/>
                <a:ea typeface="Segoe UI Semibold" pitchFamily="34" charset="-122"/>
                <a:cs typeface="Segoe UI Semibold" pitchFamily="34" charset="-120"/>
              </a:rPr>
              <a:t>83%</a:t>
            </a:r>
            <a:endParaRPr lang="en-US" sz="2300" dirty="0"/>
          </a:p>
        </p:txBody>
      </p:sp>
      <p:sp>
        <p:nvSpPr>
          <p:cNvPr id="24" name="Text 21"/>
          <p:cNvSpPr/>
          <p:nvPr/>
        </p:nvSpPr>
        <p:spPr>
          <a:xfrm>
            <a:off x="7680960" y="3462284"/>
            <a:ext cx="3090672" cy="269931"/>
          </a:xfrm>
          <a:prstGeom prst="rect">
            <a:avLst/>
          </a:prstGeom>
          <a:noFill/>
          <a:ln/>
        </p:spPr>
        <p:txBody>
          <a:bodyPr wrap="square" lIns="0" tIns="0" rIns="0" bIns="0" rtlCol="0" anchor="ctr">
            <a:normAutofit/>
          </a:bodyPr>
          <a:lstStyle/>
          <a:p>
            <a:pPr marL="0" indent="0">
              <a:buNone/>
            </a:pPr>
            <a:r>
              <a:rPr lang="en-US" sz="880" dirty="0">
                <a:solidFill>
                  <a:srgbClr val="B5C7D9"/>
                </a:solidFill>
                <a:latin typeface="Segoe UI" pitchFamily="34" charset="0"/>
                <a:ea typeface="Segoe UI" pitchFamily="34" charset="-122"/>
                <a:cs typeface="Segoe UI" pitchFamily="34" charset="-120"/>
              </a:rPr>
              <a:t>executives identify talent gaps as a primary barrier</a:t>
            </a:r>
            <a:endParaRPr lang="en-US" sz="880" dirty="0"/>
          </a:p>
        </p:txBody>
      </p:sp>
      <p:sp>
        <p:nvSpPr>
          <p:cNvPr id="25" name="Shape 22"/>
          <p:cNvSpPr/>
          <p:nvPr/>
        </p:nvSpPr>
        <p:spPr>
          <a:xfrm>
            <a:off x="7498080" y="4078224"/>
            <a:ext cx="3456432" cy="749808"/>
          </a:xfrm>
          <a:prstGeom prst="roundRect">
            <a:avLst>
              <a:gd name="adj" fmla="val 14634"/>
            </a:avLst>
          </a:prstGeom>
          <a:solidFill>
            <a:srgbClr val="07101F">
              <a:alpha val="92000"/>
            </a:srgbClr>
          </a:solidFill>
          <a:ln w="12700">
            <a:solidFill>
              <a:srgbClr val="FFB545">
                <a:alpha val="60000"/>
              </a:srgbClr>
            </a:solidFill>
            <a:prstDash val="solid"/>
          </a:ln>
          <a:effectLst>
            <a:outerShdw blurRad="25400" dist="50800" dir="2700000" algn="bl" rotWithShape="0">
              <a:srgbClr val="00EBDF">
                <a:alpha val="18000"/>
              </a:srgbClr>
            </a:outerShdw>
          </a:effectLst>
        </p:spPr>
        <p:txBody>
          <a:bodyPr/>
          <a:lstStyle/>
          <a:p>
            <a:endParaRPr lang="en-US"/>
          </a:p>
        </p:txBody>
      </p:sp>
      <p:sp>
        <p:nvSpPr>
          <p:cNvPr id="26" name="Text 23"/>
          <p:cNvSpPr/>
          <p:nvPr/>
        </p:nvSpPr>
        <p:spPr>
          <a:xfrm>
            <a:off x="7662672" y="4178808"/>
            <a:ext cx="3127248" cy="337414"/>
          </a:xfrm>
          <a:prstGeom prst="rect">
            <a:avLst/>
          </a:prstGeom>
          <a:noFill/>
          <a:ln/>
        </p:spPr>
        <p:txBody>
          <a:bodyPr wrap="square" lIns="0" tIns="0" rIns="0" bIns="0" rtlCol="0" anchor="ctr">
            <a:normAutofit lnSpcReduction="10000"/>
          </a:bodyPr>
          <a:lstStyle/>
          <a:p>
            <a:pPr marL="0" indent="0">
              <a:buNone/>
            </a:pPr>
            <a:r>
              <a:rPr lang="en-US" sz="2300" b="1" dirty="0">
                <a:solidFill>
                  <a:srgbClr val="FFB545"/>
                </a:solidFill>
                <a:latin typeface="Segoe UI Semibold" pitchFamily="34" charset="0"/>
                <a:ea typeface="Segoe UI Semibold" pitchFamily="34" charset="-122"/>
                <a:cs typeface="Segoe UI Semibold" pitchFamily="34" charset="-120"/>
              </a:rPr>
              <a:t>22 days</a:t>
            </a:r>
            <a:endParaRPr lang="en-US" sz="2300" dirty="0"/>
          </a:p>
        </p:txBody>
      </p:sp>
      <p:sp>
        <p:nvSpPr>
          <p:cNvPr id="27" name="Text 24"/>
          <p:cNvSpPr/>
          <p:nvPr/>
        </p:nvSpPr>
        <p:spPr>
          <a:xfrm>
            <a:off x="7680960" y="4468124"/>
            <a:ext cx="3090672" cy="269931"/>
          </a:xfrm>
          <a:prstGeom prst="rect">
            <a:avLst/>
          </a:prstGeom>
          <a:noFill/>
          <a:ln/>
        </p:spPr>
        <p:txBody>
          <a:bodyPr wrap="square" lIns="0" tIns="0" rIns="0" bIns="0" rtlCol="0" anchor="ctr">
            <a:normAutofit/>
          </a:bodyPr>
          <a:lstStyle/>
          <a:p>
            <a:pPr marL="0" indent="0">
              <a:buNone/>
            </a:pPr>
            <a:r>
              <a:rPr lang="en-US" sz="880" dirty="0">
                <a:solidFill>
                  <a:srgbClr val="B5C7D9"/>
                </a:solidFill>
                <a:latin typeface="Segoe UI" pitchFamily="34" charset="0"/>
                <a:ea typeface="Segoe UI" pitchFamily="34" charset="-122"/>
                <a:cs typeface="Segoe UI" pitchFamily="34" charset="-120"/>
              </a:rPr>
              <a:t>monthly admin hours lost compiling reports manually</a:t>
            </a:r>
            <a:endParaRPr lang="en-US" sz="880" dirty="0"/>
          </a:p>
        </p:txBody>
      </p:sp>
      <p:sp>
        <p:nvSpPr>
          <p:cNvPr id="28" name="Shape 25"/>
          <p:cNvSpPr/>
          <p:nvPr/>
        </p:nvSpPr>
        <p:spPr>
          <a:xfrm>
            <a:off x="548640" y="6446520"/>
            <a:ext cx="11109960" cy="0"/>
          </a:xfrm>
          <a:prstGeom prst="line">
            <a:avLst/>
          </a:prstGeom>
          <a:noFill/>
          <a:ln w="15240">
            <a:solidFill>
              <a:srgbClr val="00EBDF">
                <a:alpha val="45000"/>
              </a:srgbClr>
            </a:solidFill>
            <a:prstDash val="solid"/>
          </a:ln>
        </p:spPr>
        <p:txBody>
          <a:bodyPr/>
          <a:lstStyle/>
          <a:p>
            <a:endParaRPr lang="en-US"/>
          </a:p>
        </p:txBody>
      </p:sp>
      <p:sp>
        <p:nvSpPr>
          <p:cNvPr id="29" name="Text 26"/>
          <p:cNvSpPr/>
          <p:nvPr/>
        </p:nvSpPr>
        <p:spPr>
          <a:xfrm>
            <a:off x="594360" y="6528816"/>
            <a:ext cx="4937760" cy="182880"/>
          </a:xfrm>
          <a:prstGeom prst="rect">
            <a:avLst/>
          </a:prstGeom>
          <a:noFill/>
          <a:ln/>
        </p:spPr>
        <p:txBody>
          <a:bodyPr wrap="square" lIns="0" tIns="0" rIns="0" bIns="0" rtlCol="0" anchor="ctr"/>
          <a:lstStyle/>
          <a:p>
            <a:pPr marL="0" indent="0">
              <a:buNone/>
            </a:pPr>
            <a:r>
              <a:rPr lang="en-US" sz="750" dirty="0">
                <a:solidFill>
                  <a:srgbClr val="6D7F96"/>
                </a:solidFill>
                <a:latin typeface="Segoe UI" pitchFamily="34" charset="0"/>
                <a:ea typeface="Segoe UI" pitchFamily="34" charset="-122"/>
                <a:cs typeface="Segoe UI" pitchFamily="34" charset="-120"/>
              </a:rPr>
              <a:t>AURELIUS Management OS</a:t>
            </a:r>
            <a:endParaRPr lang="en-US" sz="750" dirty="0"/>
          </a:p>
        </p:txBody>
      </p:sp>
      <p:sp>
        <p:nvSpPr>
          <p:cNvPr id="30" name="Text 27"/>
          <p:cNvSpPr/>
          <p:nvPr/>
        </p:nvSpPr>
        <p:spPr>
          <a:xfrm>
            <a:off x="11384280" y="6473952"/>
            <a:ext cx="320040" cy="228600"/>
          </a:xfrm>
          <a:prstGeom prst="rect">
            <a:avLst/>
          </a:prstGeom>
          <a:noFill/>
          <a:ln/>
        </p:spPr>
        <p:txBody>
          <a:bodyPr wrap="square" lIns="0" tIns="0" rIns="0" bIns="0" rtlCol="0" anchor="ctr"/>
          <a:lstStyle/>
          <a:p>
            <a:pPr marL="0" indent="0" algn="r">
              <a:buNone/>
            </a:pPr>
            <a:r>
              <a:rPr lang="en-US" sz="800" dirty="0">
                <a:solidFill>
                  <a:srgbClr val="00EBDF"/>
                </a:solidFill>
                <a:latin typeface="Segoe UI Semibold" pitchFamily="34" charset="0"/>
                <a:ea typeface="Segoe UI Semibold" pitchFamily="34" charset="-122"/>
                <a:cs typeface="Segoe UI Semibold" pitchFamily="34" charset="-120"/>
              </a:rPr>
              <a:t>02</a:t>
            </a:r>
            <a:endParaRPr lang="en-US" sz="800" dirty="0"/>
          </a:p>
        </p:txBody>
      </p:sp>
      <p:sp>
        <p:nvSpPr>
          <p:cNvPr id="31" name="TextBox 30"/>
          <p:cNvSpPr txBox="1"/>
          <p:nvPr/>
        </p:nvSpPr>
        <p:spPr>
          <a:xfrm>
            <a:off x="6309360" y="5989320"/>
            <a:ext cx="5212080" cy="256032"/>
          </a:xfrm>
          <a:prstGeom prst="rect">
            <a:avLst/>
          </a:prstGeom>
          <a:noFill/>
        </p:spPr>
        <p:txBody>
          <a:bodyPr wrap="none">
            <a:spAutoFit/>
          </a:bodyPr>
          <a:lstStyle/>
          <a:p>
            <a:pPr algn="r">
              <a:defRPr sz="869" i="1">
                <a:solidFill>
                  <a:srgbClr val="91AAC3"/>
                </a:solidFill>
              </a:defRPr>
            </a:pPr>
            <a:r>
              <a:t>(Maslach &amp; Leiter, 2016; Upadhyay &amp; Khandelwal, 2018)</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3">
    <p:bg>
      <p:bgPr>
        <a:solidFill>
          <a:srgbClr val="0B132B"/>
        </a:solidFill>
        <a:effectLst/>
      </p:bgPr>
    </p:bg>
    <p:spTree>
      <p:nvGrpSpPr>
        <p:cNvPr id="1" name=""/>
        <p:cNvGrpSpPr/>
        <p:nvPr/>
      </p:nvGrpSpPr>
      <p:grpSpPr>
        <a:xfrm>
          <a:off x="0" y="0"/>
          <a:ext cx="0" cy="0"/>
          <a:chOff x="0" y="0"/>
          <a:chExt cx="0" cy="0"/>
        </a:xfrm>
      </p:grpSpPr>
      <p:pic>
        <p:nvPicPr>
          <p:cNvPr id="2" name="Image 0" descr="/mnt/data/a_high_tech_futuristic_infographic_ui_visualizat_batch_3.png"/>
          <p:cNvPicPr>
            <a:picLocks noChangeAspect="1"/>
          </p:cNvPicPr>
          <p:nvPr/>
        </p:nvPicPr>
        <p:blipFill>
          <a:blip r:embed="rId3"/>
          <a:srcRect t="25" b="25"/>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B132B">
              <a:alpha val="66000"/>
            </a:srgbClr>
          </a:solidFill>
          <a:ln w="12700">
            <a:solidFill>
              <a:srgbClr val="333333">
                <a:alpha val="0"/>
              </a:srgbClr>
            </a:solidFill>
            <a:prstDash val="solid"/>
          </a:ln>
        </p:spPr>
        <p:txBody>
          <a:bodyPr/>
          <a:lstStyle/>
          <a:p>
            <a:endParaRPr lang="en-US"/>
          </a:p>
        </p:txBody>
      </p:sp>
      <p:sp>
        <p:nvSpPr>
          <p:cNvPr id="4" name="Shape 1"/>
          <p:cNvSpPr/>
          <p:nvPr/>
        </p:nvSpPr>
        <p:spPr>
          <a:xfrm>
            <a:off x="0" y="0"/>
            <a:ext cx="12191695" cy="6858000"/>
          </a:xfrm>
          <a:prstGeom prst="rect">
            <a:avLst/>
          </a:prstGeom>
          <a:solidFill>
            <a:srgbClr val="000000">
              <a:alpha val="32000"/>
            </a:srgbClr>
          </a:solidFill>
          <a:ln w="12700">
            <a:solidFill>
              <a:srgbClr val="333333">
                <a:alpha val="0"/>
              </a:srgbClr>
            </a:solidFill>
            <a:prstDash val="solid"/>
          </a:ln>
        </p:spPr>
        <p:txBody>
          <a:bodyPr/>
          <a:lstStyle/>
          <a:p>
            <a:endParaRPr lang="en-US"/>
          </a:p>
        </p:txBody>
      </p:sp>
      <p:sp>
        <p:nvSpPr>
          <p:cNvPr id="5" name="Text 2"/>
          <p:cNvSpPr/>
          <p:nvPr/>
        </p:nvSpPr>
        <p:spPr>
          <a:xfrm>
            <a:off x="658368" y="429768"/>
            <a:ext cx="5120640" cy="246888"/>
          </a:xfrm>
          <a:prstGeom prst="rect">
            <a:avLst/>
          </a:prstGeom>
          <a:noFill/>
          <a:ln/>
        </p:spPr>
        <p:txBody>
          <a:bodyPr wrap="square" lIns="0" tIns="0" rIns="0" bIns="0" rtlCol="0" anchor="ctr"/>
          <a:lstStyle/>
          <a:p>
            <a:pPr marL="0" indent="0">
              <a:buNone/>
            </a:pPr>
            <a:r>
              <a:rPr lang="en-US" sz="850" dirty="0">
                <a:solidFill>
                  <a:srgbClr val="00EBDF"/>
                </a:solidFill>
                <a:latin typeface="Segoe UI Semibold" pitchFamily="34" charset="0"/>
                <a:ea typeface="Segoe UI Semibold" pitchFamily="34" charset="-122"/>
                <a:cs typeface="Segoe UI Semibold" pitchFamily="34" charset="-120"/>
              </a:rPr>
              <a:t>THE SOLUTION</a:t>
            </a:r>
            <a:endParaRPr lang="en-US" sz="850" dirty="0"/>
          </a:p>
        </p:txBody>
      </p:sp>
      <p:sp>
        <p:nvSpPr>
          <p:cNvPr id="6" name="Text 3"/>
          <p:cNvSpPr/>
          <p:nvPr/>
        </p:nvSpPr>
        <p:spPr>
          <a:xfrm>
            <a:off x="658368" y="713232"/>
            <a:ext cx="7680960" cy="493776"/>
          </a:xfrm>
          <a:prstGeom prst="rect">
            <a:avLst/>
          </a:prstGeom>
          <a:noFill/>
          <a:ln/>
        </p:spPr>
        <p:txBody>
          <a:bodyPr wrap="square" lIns="0" tIns="0" rIns="0" bIns="0" rtlCol="0" anchor="ctr">
            <a:normAutofit/>
          </a:bodyPr>
          <a:lstStyle/>
          <a:p>
            <a:pPr marL="0" indent="0">
              <a:buNone/>
            </a:pPr>
            <a:r>
              <a:rPr lang="en-US" sz="2700" b="1" dirty="0">
                <a:solidFill>
                  <a:srgbClr val="F5FBFF"/>
                </a:solidFill>
                <a:latin typeface="Segoe UI Semibold" pitchFamily="34" charset="0"/>
                <a:ea typeface="Segoe UI Semibold" pitchFamily="34" charset="-122"/>
                <a:cs typeface="Segoe UI Semibold" pitchFamily="34" charset="-120"/>
              </a:rPr>
              <a:t>AURELIUS Autonomous HR OS</a:t>
            </a:r>
            <a:endParaRPr lang="en-US" sz="2700" dirty="0"/>
          </a:p>
        </p:txBody>
      </p:sp>
      <p:sp>
        <p:nvSpPr>
          <p:cNvPr id="7" name="Text 4"/>
          <p:cNvSpPr/>
          <p:nvPr/>
        </p:nvSpPr>
        <p:spPr>
          <a:xfrm>
            <a:off x="676656" y="1225296"/>
            <a:ext cx="7452360" cy="310896"/>
          </a:xfrm>
          <a:prstGeom prst="rect">
            <a:avLst/>
          </a:prstGeom>
          <a:noFill/>
          <a:ln/>
        </p:spPr>
        <p:txBody>
          <a:bodyPr wrap="square" lIns="0" tIns="0" rIns="0" bIns="0" rtlCol="0" anchor="ctr">
            <a:normAutofit/>
          </a:bodyPr>
          <a:lstStyle/>
          <a:p>
            <a:pPr marL="0" indent="0">
              <a:buNone/>
            </a:pPr>
            <a:r>
              <a:rPr lang="en-US" sz="1250" dirty="0">
                <a:solidFill>
                  <a:srgbClr val="B5C7D9"/>
                </a:solidFill>
                <a:latin typeface="Segoe UI" pitchFamily="34" charset="0"/>
                <a:ea typeface="Segoe UI" pitchFamily="34" charset="-122"/>
                <a:cs typeface="Segoe UI" pitchFamily="34" charset="-120"/>
              </a:rPr>
              <a:t>A predictive, conversational, and governable intelligence layer for HR decisions.</a:t>
            </a:r>
            <a:endParaRPr lang="en-US" sz="1250" dirty="0"/>
          </a:p>
        </p:txBody>
      </p:sp>
      <p:sp>
        <p:nvSpPr>
          <p:cNvPr id="8" name="Shape 5"/>
          <p:cNvSpPr/>
          <p:nvPr/>
        </p:nvSpPr>
        <p:spPr>
          <a:xfrm>
            <a:off x="3959352" y="1874520"/>
            <a:ext cx="4160520" cy="2011680"/>
          </a:xfrm>
          <a:prstGeom prst="roundRect">
            <a:avLst>
              <a:gd name="adj" fmla="val 5455"/>
            </a:avLst>
          </a:prstGeom>
          <a:solidFill>
            <a:srgbClr val="020916">
              <a:alpha val="95000"/>
            </a:srgbClr>
          </a:solidFill>
          <a:ln w="12700">
            <a:solidFill>
              <a:srgbClr val="00EBDF">
                <a:alpha val="70000"/>
              </a:srgbClr>
            </a:solidFill>
            <a:prstDash val="solid"/>
          </a:ln>
          <a:effectLst>
            <a:outerShdw blurRad="25400" dist="50800" dir="2700000" algn="bl" rotWithShape="0">
              <a:srgbClr val="00EBDF">
                <a:alpha val="18000"/>
              </a:srgbClr>
            </a:outerShdw>
          </a:effectLst>
        </p:spPr>
        <p:txBody>
          <a:bodyPr/>
          <a:lstStyle/>
          <a:p>
            <a:endParaRPr lang="en-US"/>
          </a:p>
        </p:txBody>
      </p:sp>
      <p:sp>
        <p:nvSpPr>
          <p:cNvPr id="9" name="Text 6"/>
          <p:cNvSpPr/>
          <p:nvPr/>
        </p:nvSpPr>
        <p:spPr>
          <a:xfrm>
            <a:off x="4352544" y="2331720"/>
            <a:ext cx="3383280" cy="713232"/>
          </a:xfrm>
          <a:prstGeom prst="rect">
            <a:avLst/>
          </a:prstGeom>
          <a:noFill/>
          <a:ln/>
        </p:spPr>
        <p:txBody>
          <a:bodyPr wrap="square" lIns="0" tIns="0" rIns="0" bIns="0" rtlCol="0" anchor="ctr">
            <a:normAutofit lnSpcReduction="10000"/>
          </a:bodyPr>
          <a:lstStyle/>
          <a:p>
            <a:pPr marL="0" indent="0" algn="ctr">
              <a:buNone/>
            </a:pPr>
            <a:r>
              <a:rPr lang="en-US" sz="2500" b="1" dirty="0">
                <a:solidFill>
                  <a:srgbClr val="F5FBFF"/>
                </a:solidFill>
                <a:latin typeface="Segoe UI Semibold" pitchFamily="34" charset="0"/>
                <a:ea typeface="Segoe UI Semibold" pitchFamily="34" charset="-122"/>
                <a:cs typeface="Segoe UI Semibold" pitchFamily="34" charset="-120"/>
              </a:rPr>
              <a:t>AURELIUS</a:t>
            </a:r>
            <a:endParaRPr lang="en-US" sz="2500" dirty="0"/>
          </a:p>
          <a:p>
            <a:pPr marL="0" indent="0" algn="ctr">
              <a:buNone/>
            </a:pPr>
            <a:r>
              <a:rPr lang="en-US" sz="2500" b="1" dirty="0">
                <a:solidFill>
                  <a:srgbClr val="F5FBFF"/>
                </a:solidFill>
                <a:latin typeface="Segoe UI Semibold" pitchFamily="34" charset="0"/>
                <a:ea typeface="Segoe UI Semibold" pitchFamily="34" charset="-122"/>
                <a:cs typeface="Segoe UI Semibold" pitchFamily="34" charset="-120"/>
              </a:rPr>
              <a:t>INTELLIGENCE KERNEL</a:t>
            </a:r>
            <a:endParaRPr lang="en-US" sz="2500" dirty="0"/>
          </a:p>
        </p:txBody>
      </p:sp>
      <p:sp>
        <p:nvSpPr>
          <p:cNvPr id="10" name="Text 7"/>
          <p:cNvSpPr/>
          <p:nvPr/>
        </p:nvSpPr>
        <p:spPr>
          <a:xfrm>
            <a:off x="4434840" y="3127248"/>
            <a:ext cx="3200400" cy="219456"/>
          </a:xfrm>
          <a:prstGeom prst="rect">
            <a:avLst/>
          </a:prstGeom>
          <a:noFill/>
          <a:ln/>
        </p:spPr>
        <p:txBody>
          <a:bodyPr wrap="square" lIns="0" tIns="0" rIns="0" bIns="0" rtlCol="0" anchor="ctr"/>
          <a:lstStyle/>
          <a:p>
            <a:pPr marL="0" indent="0" algn="ctr">
              <a:buNone/>
            </a:pPr>
            <a:r>
              <a:rPr lang="en-US" sz="1100" dirty="0">
                <a:solidFill>
                  <a:srgbClr val="B5C7D9"/>
                </a:solidFill>
                <a:latin typeface="Segoe UI" pitchFamily="34" charset="0"/>
                <a:ea typeface="Segoe UI" pitchFamily="34" charset="-122"/>
                <a:cs typeface="Segoe UI" pitchFamily="34" charset="-120"/>
              </a:rPr>
              <a:t>Predict • Explain • Act under governance</a:t>
            </a:r>
            <a:endParaRPr lang="en-US" sz="1100" dirty="0"/>
          </a:p>
        </p:txBody>
      </p:sp>
      <p:sp>
        <p:nvSpPr>
          <p:cNvPr id="11" name="Shape 8"/>
          <p:cNvSpPr/>
          <p:nvPr/>
        </p:nvSpPr>
        <p:spPr>
          <a:xfrm>
            <a:off x="731520" y="4572000"/>
            <a:ext cx="2971800" cy="1097280"/>
          </a:xfrm>
          <a:prstGeom prst="roundRect">
            <a:avLst>
              <a:gd name="adj" fmla="val 10000"/>
            </a:avLst>
          </a:prstGeom>
          <a:solidFill>
            <a:srgbClr val="061225">
              <a:alpha val="97000"/>
            </a:srgbClr>
          </a:solidFill>
          <a:ln w="12700">
            <a:solidFill>
              <a:srgbClr val="00EBDF">
                <a:alpha val="65000"/>
              </a:srgbClr>
            </a:solidFill>
            <a:prstDash val="solid"/>
          </a:ln>
          <a:effectLst>
            <a:outerShdw blurRad="25400" dist="50800" dir="2700000" algn="bl" rotWithShape="0">
              <a:srgbClr val="00EBDF">
                <a:alpha val="18000"/>
              </a:srgbClr>
            </a:outerShdw>
          </a:effectLst>
        </p:spPr>
        <p:txBody>
          <a:bodyPr/>
          <a:lstStyle/>
          <a:p>
            <a:endParaRPr lang="en-US"/>
          </a:p>
        </p:txBody>
      </p:sp>
      <p:sp>
        <p:nvSpPr>
          <p:cNvPr id="12" name="Text 9"/>
          <p:cNvSpPr/>
          <p:nvPr/>
        </p:nvSpPr>
        <p:spPr>
          <a:xfrm>
            <a:off x="932688" y="4736592"/>
            <a:ext cx="2514600" cy="228600"/>
          </a:xfrm>
          <a:prstGeom prst="rect">
            <a:avLst/>
          </a:prstGeom>
          <a:noFill/>
          <a:ln/>
        </p:spPr>
        <p:txBody>
          <a:bodyPr wrap="square" lIns="0" tIns="0" rIns="0" bIns="0" rtlCol="0" anchor="ctr">
            <a:normAutofit/>
          </a:bodyPr>
          <a:lstStyle/>
          <a:p>
            <a:pPr marL="0" indent="0">
              <a:buNone/>
            </a:pPr>
            <a:r>
              <a:rPr lang="en-US" sz="1320" dirty="0">
                <a:solidFill>
                  <a:srgbClr val="00EBDF"/>
                </a:solidFill>
                <a:latin typeface="Segoe UI Semibold" pitchFamily="34" charset="0"/>
                <a:ea typeface="Segoe UI Semibold" pitchFamily="34" charset="-122"/>
                <a:cs typeface="Segoe UI Semibold" pitchFamily="34" charset="-120"/>
              </a:rPr>
              <a:t>Predictive Insights</a:t>
            </a:r>
            <a:endParaRPr lang="en-US" sz="1320" dirty="0"/>
          </a:p>
        </p:txBody>
      </p:sp>
      <p:sp>
        <p:nvSpPr>
          <p:cNvPr id="13" name="Text 10"/>
          <p:cNvSpPr/>
          <p:nvPr/>
        </p:nvSpPr>
        <p:spPr>
          <a:xfrm>
            <a:off x="932688" y="5047488"/>
            <a:ext cx="2542032" cy="411480"/>
          </a:xfrm>
          <a:prstGeom prst="rect">
            <a:avLst/>
          </a:prstGeom>
          <a:noFill/>
          <a:ln/>
        </p:spPr>
        <p:txBody>
          <a:bodyPr wrap="square" lIns="0" tIns="0" rIns="0" bIns="0" rtlCol="0" anchor="ctr">
            <a:normAutofit/>
          </a:bodyPr>
          <a:lstStyle/>
          <a:p>
            <a:pPr marL="0" indent="0">
              <a:buNone/>
            </a:pPr>
            <a:r>
              <a:rPr lang="en-US" sz="850" dirty="0">
                <a:solidFill>
                  <a:srgbClr val="B5C7D9"/>
                </a:solidFill>
                <a:latin typeface="Segoe UI" pitchFamily="34" charset="0"/>
                <a:ea typeface="Segoe UI" pitchFamily="34" charset="-122"/>
                <a:cs typeface="Segoe UI" pitchFamily="34" charset="-120"/>
              </a:rPr>
              <a:t>Survival timeline hazard functions pinpoint when and why employees may leave.</a:t>
            </a:r>
            <a:endParaRPr lang="en-US" sz="850" dirty="0"/>
          </a:p>
        </p:txBody>
      </p:sp>
      <p:sp>
        <p:nvSpPr>
          <p:cNvPr id="14" name="Shape 11"/>
          <p:cNvSpPr/>
          <p:nvPr/>
        </p:nvSpPr>
        <p:spPr>
          <a:xfrm>
            <a:off x="4160520" y="4572000"/>
            <a:ext cx="2971800" cy="1097280"/>
          </a:xfrm>
          <a:prstGeom prst="roundRect">
            <a:avLst>
              <a:gd name="adj" fmla="val 10000"/>
            </a:avLst>
          </a:prstGeom>
          <a:solidFill>
            <a:srgbClr val="061225">
              <a:alpha val="97000"/>
            </a:srgbClr>
          </a:solidFill>
          <a:ln w="12700">
            <a:solidFill>
              <a:srgbClr val="F5FBFF">
                <a:alpha val="65000"/>
              </a:srgbClr>
            </a:solidFill>
            <a:prstDash val="solid"/>
          </a:ln>
          <a:effectLst>
            <a:outerShdw blurRad="25400" dist="50800" dir="2700000" algn="bl" rotWithShape="0">
              <a:srgbClr val="00EBDF">
                <a:alpha val="18000"/>
              </a:srgbClr>
            </a:outerShdw>
          </a:effectLst>
        </p:spPr>
        <p:txBody>
          <a:bodyPr/>
          <a:lstStyle/>
          <a:p>
            <a:endParaRPr lang="en-US"/>
          </a:p>
        </p:txBody>
      </p:sp>
      <p:sp>
        <p:nvSpPr>
          <p:cNvPr id="15" name="Text 12"/>
          <p:cNvSpPr/>
          <p:nvPr/>
        </p:nvSpPr>
        <p:spPr>
          <a:xfrm>
            <a:off x="4361688" y="4736592"/>
            <a:ext cx="2514600" cy="228600"/>
          </a:xfrm>
          <a:prstGeom prst="rect">
            <a:avLst/>
          </a:prstGeom>
          <a:noFill/>
          <a:ln/>
        </p:spPr>
        <p:txBody>
          <a:bodyPr wrap="square" lIns="0" tIns="0" rIns="0" bIns="0" rtlCol="0" anchor="ctr">
            <a:normAutofit/>
          </a:bodyPr>
          <a:lstStyle/>
          <a:p>
            <a:pPr marL="0" indent="0">
              <a:buNone/>
            </a:pPr>
            <a:r>
              <a:rPr lang="en-US" sz="1320" dirty="0">
                <a:solidFill>
                  <a:srgbClr val="F5FBFF"/>
                </a:solidFill>
                <a:latin typeface="Segoe UI Semibold" pitchFamily="34" charset="0"/>
                <a:ea typeface="Segoe UI Semibold" pitchFamily="34" charset="-122"/>
                <a:cs typeface="Segoe UI Semibold" pitchFamily="34" charset="-120"/>
              </a:rPr>
              <a:t>Interactive AI Agent</a:t>
            </a:r>
            <a:endParaRPr lang="en-US" sz="1320" dirty="0"/>
          </a:p>
        </p:txBody>
      </p:sp>
      <p:sp>
        <p:nvSpPr>
          <p:cNvPr id="16" name="Text 13"/>
          <p:cNvSpPr/>
          <p:nvPr/>
        </p:nvSpPr>
        <p:spPr>
          <a:xfrm>
            <a:off x="4361688" y="5047488"/>
            <a:ext cx="2542032" cy="411480"/>
          </a:xfrm>
          <a:prstGeom prst="rect">
            <a:avLst/>
          </a:prstGeom>
          <a:noFill/>
          <a:ln/>
        </p:spPr>
        <p:txBody>
          <a:bodyPr wrap="square" lIns="0" tIns="0" rIns="0" bIns="0" rtlCol="0" anchor="ctr">
            <a:normAutofit/>
          </a:bodyPr>
          <a:lstStyle/>
          <a:p>
            <a:pPr marL="0" indent="0">
              <a:buNone/>
            </a:pPr>
            <a:r>
              <a:rPr lang="en-US" sz="850" dirty="0">
                <a:solidFill>
                  <a:srgbClr val="B5C7D9"/>
                </a:solidFill>
                <a:latin typeface="Segoe UI" pitchFamily="34" charset="0"/>
                <a:ea typeface="Segoe UI" pitchFamily="34" charset="-122"/>
                <a:cs typeface="Segoe UI" pitchFamily="34" charset="-120"/>
              </a:rPr>
              <a:t>Natural language prompts search data, mutate records, and ingest files securely.</a:t>
            </a:r>
            <a:endParaRPr lang="en-US" sz="850" dirty="0"/>
          </a:p>
        </p:txBody>
      </p:sp>
      <p:sp>
        <p:nvSpPr>
          <p:cNvPr id="17" name="Shape 14"/>
          <p:cNvSpPr/>
          <p:nvPr/>
        </p:nvSpPr>
        <p:spPr>
          <a:xfrm>
            <a:off x="7589520" y="4572000"/>
            <a:ext cx="2971800" cy="1097280"/>
          </a:xfrm>
          <a:prstGeom prst="roundRect">
            <a:avLst>
              <a:gd name="adj" fmla="val 10000"/>
            </a:avLst>
          </a:prstGeom>
          <a:solidFill>
            <a:srgbClr val="061225">
              <a:alpha val="97000"/>
            </a:srgbClr>
          </a:solidFill>
          <a:ln w="12700">
            <a:solidFill>
              <a:srgbClr val="48CAE4">
                <a:alpha val="65000"/>
              </a:srgbClr>
            </a:solidFill>
            <a:prstDash val="solid"/>
          </a:ln>
          <a:effectLst>
            <a:outerShdw blurRad="25400" dist="50800" dir="2700000" algn="bl" rotWithShape="0">
              <a:srgbClr val="00EBDF">
                <a:alpha val="18000"/>
              </a:srgbClr>
            </a:outerShdw>
          </a:effectLst>
        </p:spPr>
        <p:txBody>
          <a:bodyPr/>
          <a:lstStyle/>
          <a:p>
            <a:endParaRPr lang="en-US"/>
          </a:p>
        </p:txBody>
      </p:sp>
      <p:sp>
        <p:nvSpPr>
          <p:cNvPr id="18" name="Text 15"/>
          <p:cNvSpPr/>
          <p:nvPr/>
        </p:nvSpPr>
        <p:spPr>
          <a:xfrm>
            <a:off x="7790688" y="4736592"/>
            <a:ext cx="2514600" cy="228600"/>
          </a:xfrm>
          <a:prstGeom prst="rect">
            <a:avLst/>
          </a:prstGeom>
          <a:noFill/>
          <a:ln/>
        </p:spPr>
        <p:txBody>
          <a:bodyPr wrap="square" lIns="0" tIns="0" rIns="0" bIns="0" rtlCol="0" anchor="ctr">
            <a:normAutofit/>
          </a:bodyPr>
          <a:lstStyle/>
          <a:p>
            <a:pPr marL="0" indent="0">
              <a:buNone/>
            </a:pPr>
            <a:r>
              <a:rPr lang="en-US" sz="1320" dirty="0">
                <a:solidFill>
                  <a:srgbClr val="48CAE4"/>
                </a:solidFill>
                <a:latin typeface="Segoe UI Semibold" pitchFamily="34" charset="0"/>
                <a:ea typeface="Segoe UI Semibold" pitchFamily="34" charset="-122"/>
                <a:cs typeface="Segoe UI Semibold" pitchFamily="34" charset="-120"/>
              </a:rPr>
              <a:t>Proactive Algorithms</a:t>
            </a:r>
            <a:endParaRPr lang="en-US" sz="1320" dirty="0"/>
          </a:p>
        </p:txBody>
      </p:sp>
      <p:sp>
        <p:nvSpPr>
          <p:cNvPr id="19" name="Text 16"/>
          <p:cNvSpPr/>
          <p:nvPr/>
        </p:nvSpPr>
        <p:spPr>
          <a:xfrm>
            <a:off x="7790688" y="5047488"/>
            <a:ext cx="2542032" cy="411480"/>
          </a:xfrm>
          <a:prstGeom prst="rect">
            <a:avLst/>
          </a:prstGeom>
          <a:noFill/>
          <a:ln/>
        </p:spPr>
        <p:txBody>
          <a:bodyPr wrap="square" lIns="0" tIns="0" rIns="0" bIns="0" rtlCol="0" anchor="ctr">
            <a:normAutofit/>
          </a:bodyPr>
          <a:lstStyle/>
          <a:p>
            <a:pPr marL="0" indent="0">
              <a:buNone/>
            </a:pPr>
            <a:r>
              <a:rPr lang="en-US" sz="850" dirty="0">
                <a:solidFill>
                  <a:srgbClr val="B5C7D9"/>
                </a:solidFill>
                <a:latin typeface="Segoe UI" pitchFamily="34" charset="0"/>
                <a:ea typeface="Segoe UI" pitchFamily="34" charset="-122"/>
                <a:cs typeface="Segoe UI" pitchFamily="34" charset="-120"/>
              </a:rPr>
              <a:t>ONA PageRank + Simulated Annealing optimize teams and expertise mapping.</a:t>
            </a:r>
            <a:endParaRPr lang="en-US" sz="850" dirty="0"/>
          </a:p>
        </p:txBody>
      </p:sp>
      <p:sp>
        <p:nvSpPr>
          <p:cNvPr id="20" name="Shape 17"/>
          <p:cNvSpPr/>
          <p:nvPr/>
        </p:nvSpPr>
        <p:spPr>
          <a:xfrm>
            <a:off x="548640" y="6446520"/>
            <a:ext cx="11109960" cy="0"/>
          </a:xfrm>
          <a:prstGeom prst="line">
            <a:avLst/>
          </a:prstGeom>
          <a:noFill/>
          <a:ln w="15240">
            <a:solidFill>
              <a:srgbClr val="00EBDF">
                <a:alpha val="45000"/>
              </a:srgbClr>
            </a:solidFill>
            <a:prstDash val="solid"/>
          </a:ln>
        </p:spPr>
        <p:txBody>
          <a:bodyPr/>
          <a:lstStyle/>
          <a:p>
            <a:endParaRPr lang="en-US"/>
          </a:p>
        </p:txBody>
      </p:sp>
      <p:sp>
        <p:nvSpPr>
          <p:cNvPr id="21" name="Text 18"/>
          <p:cNvSpPr/>
          <p:nvPr/>
        </p:nvSpPr>
        <p:spPr>
          <a:xfrm>
            <a:off x="594360" y="6528816"/>
            <a:ext cx="4937760" cy="182880"/>
          </a:xfrm>
          <a:prstGeom prst="rect">
            <a:avLst/>
          </a:prstGeom>
          <a:noFill/>
          <a:ln/>
        </p:spPr>
        <p:txBody>
          <a:bodyPr wrap="square" lIns="0" tIns="0" rIns="0" bIns="0" rtlCol="0" anchor="ctr"/>
          <a:lstStyle/>
          <a:p>
            <a:pPr marL="0" indent="0">
              <a:buNone/>
            </a:pPr>
            <a:r>
              <a:rPr lang="en-US" sz="750" dirty="0">
                <a:solidFill>
                  <a:srgbClr val="6D7F96"/>
                </a:solidFill>
                <a:latin typeface="Segoe UI" pitchFamily="34" charset="0"/>
                <a:ea typeface="Segoe UI" pitchFamily="34" charset="-122"/>
                <a:cs typeface="Segoe UI" pitchFamily="34" charset="-120"/>
              </a:rPr>
              <a:t>AURELIUS Management OS</a:t>
            </a:r>
            <a:endParaRPr lang="en-US" sz="750" dirty="0"/>
          </a:p>
        </p:txBody>
      </p:sp>
      <p:sp>
        <p:nvSpPr>
          <p:cNvPr id="22" name="Text 19"/>
          <p:cNvSpPr/>
          <p:nvPr/>
        </p:nvSpPr>
        <p:spPr>
          <a:xfrm>
            <a:off x="11384280" y="6473952"/>
            <a:ext cx="320040" cy="228600"/>
          </a:xfrm>
          <a:prstGeom prst="rect">
            <a:avLst/>
          </a:prstGeom>
          <a:noFill/>
          <a:ln/>
        </p:spPr>
        <p:txBody>
          <a:bodyPr wrap="square" lIns="0" tIns="0" rIns="0" bIns="0" rtlCol="0" anchor="ctr"/>
          <a:lstStyle/>
          <a:p>
            <a:pPr marL="0" indent="0" algn="r">
              <a:buNone/>
            </a:pPr>
            <a:r>
              <a:rPr lang="en-US" sz="800" dirty="0">
                <a:solidFill>
                  <a:srgbClr val="00EBDF"/>
                </a:solidFill>
                <a:latin typeface="Segoe UI Semibold" pitchFamily="34" charset="0"/>
                <a:ea typeface="Segoe UI Semibold" pitchFamily="34" charset="-122"/>
                <a:cs typeface="Segoe UI Semibold" pitchFamily="34" charset="-120"/>
              </a:rPr>
              <a:t>03</a:t>
            </a:r>
            <a:endParaRPr lang="en-US" sz="800" dirty="0"/>
          </a:p>
        </p:txBody>
      </p:sp>
      <p:sp>
        <p:nvSpPr>
          <p:cNvPr id="23" name="TextBox 22"/>
          <p:cNvSpPr txBox="1"/>
          <p:nvPr/>
        </p:nvSpPr>
        <p:spPr>
          <a:xfrm>
            <a:off x="6309360" y="5989320"/>
            <a:ext cx="5212080" cy="256032"/>
          </a:xfrm>
          <a:prstGeom prst="rect">
            <a:avLst/>
          </a:prstGeom>
          <a:noFill/>
        </p:spPr>
        <p:txBody>
          <a:bodyPr wrap="none">
            <a:spAutoFit/>
          </a:bodyPr>
          <a:lstStyle/>
          <a:p>
            <a:pPr algn="r">
              <a:defRPr sz="869" i="1">
                <a:solidFill>
                  <a:srgbClr val="91AAC3"/>
                </a:solidFill>
              </a:defRPr>
            </a:pPr>
            <a:r>
              <a:t>(Upadhyay &amp; Khandelwal, 2018; Kaplan &amp; Haenlein, 2019)</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rgbClr val="0B132B"/>
        </a:solidFill>
        <a:effectLst/>
      </p:bgPr>
    </p:bg>
    <p:spTree>
      <p:nvGrpSpPr>
        <p:cNvPr id="1" name=""/>
        <p:cNvGrpSpPr/>
        <p:nvPr/>
      </p:nvGrpSpPr>
      <p:grpSpPr>
        <a:xfrm>
          <a:off x="0" y="0"/>
          <a:ext cx="0" cy="0"/>
          <a:chOff x="0" y="0"/>
          <a:chExt cx="0" cy="0"/>
        </a:xfrm>
      </p:grpSpPr>
      <p:pic>
        <p:nvPicPr>
          <p:cNvPr id="2" name="Image 0" descr="/mnt/data/a_wide_high_detail_futuristic_3d_isometric_obliq_batch_4.png"/>
          <p:cNvPicPr>
            <a:picLocks noChangeAspect="1"/>
          </p:cNvPicPr>
          <p:nvPr/>
        </p:nvPicPr>
        <p:blipFill>
          <a:blip r:embed="rId3"/>
          <a:srcRect t="25" b="25"/>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B132B">
              <a:alpha val="60000"/>
            </a:srgbClr>
          </a:solidFill>
          <a:ln w="12700">
            <a:solidFill>
              <a:srgbClr val="333333">
                <a:alpha val="0"/>
              </a:srgbClr>
            </a:solidFill>
            <a:prstDash val="solid"/>
          </a:ln>
        </p:spPr>
        <p:txBody>
          <a:bodyPr/>
          <a:lstStyle/>
          <a:p>
            <a:endParaRPr lang="en-US"/>
          </a:p>
        </p:txBody>
      </p:sp>
      <p:sp>
        <p:nvSpPr>
          <p:cNvPr id="4" name="Shape 1"/>
          <p:cNvSpPr/>
          <p:nvPr/>
        </p:nvSpPr>
        <p:spPr>
          <a:xfrm>
            <a:off x="0" y="0"/>
            <a:ext cx="12191695" cy="6858000"/>
          </a:xfrm>
          <a:prstGeom prst="rect">
            <a:avLst/>
          </a:prstGeom>
          <a:solidFill>
            <a:srgbClr val="000000">
              <a:alpha val="32000"/>
            </a:srgbClr>
          </a:solidFill>
          <a:ln w="12700">
            <a:solidFill>
              <a:srgbClr val="333333">
                <a:alpha val="0"/>
              </a:srgbClr>
            </a:solidFill>
            <a:prstDash val="solid"/>
          </a:ln>
        </p:spPr>
        <p:txBody>
          <a:bodyPr/>
          <a:lstStyle/>
          <a:p>
            <a:endParaRPr lang="en-US"/>
          </a:p>
        </p:txBody>
      </p:sp>
      <p:sp>
        <p:nvSpPr>
          <p:cNvPr id="5" name="Text 2"/>
          <p:cNvSpPr/>
          <p:nvPr/>
        </p:nvSpPr>
        <p:spPr>
          <a:xfrm>
            <a:off x="658368" y="429768"/>
            <a:ext cx="5120640" cy="246888"/>
          </a:xfrm>
          <a:prstGeom prst="rect">
            <a:avLst/>
          </a:prstGeom>
          <a:noFill/>
          <a:ln/>
        </p:spPr>
        <p:txBody>
          <a:bodyPr wrap="square" lIns="0" tIns="0" rIns="0" bIns="0" rtlCol="0" anchor="ctr"/>
          <a:lstStyle/>
          <a:p>
            <a:pPr marL="0" indent="0">
              <a:buNone/>
            </a:pPr>
            <a:r>
              <a:rPr lang="en-US" sz="850" dirty="0">
                <a:solidFill>
                  <a:srgbClr val="00EBDF"/>
                </a:solidFill>
                <a:latin typeface="Segoe UI Semibold" pitchFamily="34" charset="0"/>
                <a:ea typeface="Segoe UI Semibold" pitchFamily="34" charset="-122"/>
                <a:cs typeface="Segoe UI Semibold" pitchFamily="34" charset="-120"/>
              </a:rPr>
              <a:t>SYSTEM ARCHITECTURE</a:t>
            </a:r>
            <a:endParaRPr lang="en-US" sz="850" dirty="0"/>
          </a:p>
        </p:txBody>
      </p:sp>
      <p:sp>
        <p:nvSpPr>
          <p:cNvPr id="6" name="Text 3"/>
          <p:cNvSpPr/>
          <p:nvPr/>
        </p:nvSpPr>
        <p:spPr>
          <a:xfrm>
            <a:off x="658368" y="713232"/>
            <a:ext cx="7680960" cy="493776"/>
          </a:xfrm>
          <a:prstGeom prst="rect">
            <a:avLst/>
          </a:prstGeom>
          <a:noFill/>
          <a:ln/>
        </p:spPr>
        <p:txBody>
          <a:bodyPr wrap="square" lIns="0" tIns="0" rIns="0" bIns="0" rtlCol="0" anchor="ctr">
            <a:normAutofit/>
          </a:bodyPr>
          <a:lstStyle/>
          <a:p>
            <a:pPr marL="0" indent="0">
              <a:buNone/>
            </a:pPr>
            <a:r>
              <a:rPr lang="en-US" sz="2700" b="1" dirty="0">
                <a:solidFill>
                  <a:srgbClr val="F5FBFF"/>
                </a:solidFill>
                <a:latin typeface="Segoe UI Semibold" pitchFamily="34" charset="0"/>
                <a:ea typeface="Segoe UI Semibold" pitchFamily="34" charset="-122"/>
                <a:cs typeface="Segoe UI Semibold" pitchFamily="34" charset="-120"/>
              </a:rPr>
              <a:t>Architecture &amp; Premium UI Design</a:t>
            </a:r>
            <a:endParaRPr lang="en-US" sz="2700" dirty="0"/>
          </a:p>
        </p:txBody>
      </p:sp>
      <p:sp>
        <p:nvSpPr>
          <p:cNvPr id="7" name="Text 4"/>
          <p:cNvSpPr/>
          <p:nvPr/>
        </p:nvSpPr>
        <p:spPr>
          <a:xfrm>
            <a:off x="676656" y="1225296"/>
            <a:ext cx="7452360" cy="310896"/>
          </a:xfrm>
          <a:prstGeom prst="rect">
            <a:avLst/>
          </a:prstGeom>
          <a:noFill/>
          <a:ln/>
        </p:spPr>
        <p:txBody>
          <a:bodyPr wrap="square" lIns="0" tIns="0" rIns="0" bIns="0" rtlCol="0" anchor="ctr">
            <a:normAutofit/>
          </a:bodyPr>
          <a:lstStyle/>
          <a:p>
            <a:pPr marL="0" indent="0">
              <a:buNone/>
            </a:pPr>
            <a:r>
              <a:rPr lang="en-US" sz="1250" dirty="0">
                <a:solidFill>
                  <a:srgbClr val="B5C7D9"/>
                </a:solidFill>
                <a:latin typeface="Segoe UI" pitchFamily="34" charset="0"/>
                <a:ea typeface="Segoe UI" pitchFamily="34" charset="-122"/>
                <a:cs typeface="Segoe UI" pitchFamily="34" charset="-120"/>
              </a:rPr>
              <a:t>React glassmorphism frontend, FastAPI backend, SQLModel database, and SSE streaming.</a:t>
            </a:r>
            <a:endParaRPr lang="en-US" sz="1250" dirty="0"/>
          </a:p>
        </p:txBody>
      </p:sp>
      <p:sp>
        <p:nvSpPr>
          <p:cNvPr id="8" name="Shape 5"/>
          <p:cNvSpPr/>
          <p:nvPr/>
        </p:nvSpPr>
        <p:spPr>
          <a:xfrm>
            <a:off x="658368" y="1783080"/>
            <a:ext cx="4315968" cy="3566160"/>
          </a:xfrm>
          <a:prstGeom prst="roundRect">
            <a:avLst>
              <a:gd name="adj" fmla="val 3077"/>
            </a:avLst>
          </a:prstGeom>
          <a:solidFill>
            <a:srgbClr val="020916">
              <a:alpha val="92000"/>
            </a:srgbClr>
          </a:solidFill>
          <a:ln w="12700">
            <a:solidFill>
              <a:srgbClr val="00EBDF">
                <a:alpha val="35000"/>
              </a:srgbClr>
            </a:solidFill>
            <a:prstDash val="solid"/>
          </a:ln>
          <a:effectLst>
            <a:outerShdw blurRad="25400" dist="50800" dir="2700000" algn="bl" rotWithShape="0">
              <a:srgbClr val="00EBDF">
                <a:alpha val="18000"/>
              </a:srgbClr>
            </a:outerShdw>
          </a:effectLst>
        </p:spPr>
        <p:txBody>
          <a:bodyPr/>
          <a:lstStyle/>
          <a:p>
            <a:endParaRPr lang="en-US"/>
          </a:p>
        </p:txBody>
      </p:sp>
      <p:sp>
        <p:nvSpPr>
          <p:cNvPr id="9" name="Text 6"/>
          <p:cNvSpPr/>
          <p:nvPr/>
        </p:nvSpPr>
        <p:spPr>
          <a:xfrm>
            <a:off x="914400" y="2029968"/>
            <a:ext cx="2377440" cy="219456"/>
          </a:xfrm>
          <a:prstGeom prst="rect">
            <a:avLst/>
          </a:prstGeom>
          <a:noFill/>
          <a:ln/>
        </p:spPr>
        <p:txBody>
          <a:bodyPr wrap="square" lIns="0" tIns="0" rIns="0" bIns="0" rtlCol="0" anchor="ctr">
            <a:normAutofit/>
          </a:bodyPr>
          <a:lstStyle/>
          <a:p>
            <a:pPr marL="0" indent="0">
              <a:buNone/>
            </a:pPr>
            <a:r>
              <a:rPr lang="en-US" sz="850" dirty="0">
                <a:solidFill>
                  <a:srgbClr val="00EBDF"/>
                </a:solidFill>
                <a:latin typeface="Segoe UI Semibold" pitchFamily="34" charset="0"/>
                <a:ea typeface="Segoe UI Semibold" pitchFamily="34" charset="-122"/>
                <a:cs typeface="Segoe UI Semibold" pitchFamily="34" charset="-120"/>
              </a:rPr>
              <a:t>CORE TECH STACK</a:t>
            </a:r>
            <a:endParaRPr lang="en-US" sz="850" dirty="0"/>
          </a:p>
        </p:txBody>
      </p:sp>
      <p:sp>
        <p:nvSpPr>
          <p:cNvPr id="10" name="Shape 7"/>
          <p:cNvSpPr/>
          <p:nvPr/>
        </p:nvSpPr>
        <p:spPr>
          <a:xfrm>
            <a:off x="932688" y="2478024"/>
            <a:ext cx="201168" cy="0"/>
          </a:xfrm>
          <a:prstGeom prst="line">
            <a:avLst/>
          </a:prstGeom>
          <a:noFill/>
          <a:ln w="27940">
            <a:solidFill>
              <a:srgbClr val="48CAE4"/>
            </a:solidFill>
            <a:prstDash val="solid"/>
          </a:ln>
        </p:spPr>
        <p:txBody>
          <a:bodyPr/>
          <a:lstStyle/>
          <a:p>
            <a:endParaRPr lang="en-US"/>
          </a:p>
        </p:txBody>
      </p:sp>
      <p:sp>
        <p:nvSpPr>
          <p:cNvPr id="11" name="Text 8"/>
          <p:cNvSpPr/>
          <p:nvPr/>
        </p:nvSpPr>
        <p:spPr>
          <a:xfrm>
            <a:off x="1234440" y="2404872"/>
            <a:ext cx="3474720" cy="201168"/>
          </a:xfrm>
          <a:prstGeom prst="rect">
            <a:avLst/>
          </a:prstGeom>
          <a:noFill/>
          <a:ln/>
        </p:spPr>
        <p:txBody>
          <a:bodyPr wrap="square" lIns="0" tIns="0" rIns="0" bIns="0" rtlCol="0" anchor="ctr">
            <a:normAutofit/>
          </a:bodyPr>
          <a:lstStyle/>
          <a:p>
            <a:pPr marL="0" indent="0">
              <a:buNone/>
            </a:pPr>
            <a:r>
              <a:rPr lang="en-US" sz="1180" dirty="0">
                <a:solidFill>
                  <a:srgbClr val="F5FBFF"/>
                </a:solidFill>
                <a:latin typeface="Segoe UI Semibold" pitchFamily="34" charset="0"/>
                <a:ea typeface="Segoe UI Semibold" pitchFamily="34" charset="-122"/>
                <a:cs typeface="Segoe UI Semibold" pitchFamily="34" charset="-120"/>
              </a:rPr>
              <a:t>Backend</a:t>
            </a:r>
            <a:endParaRPr lang="en-US" sz="1180" dirty="0"/>
          </a:p>
        </p:txBody>
      </p:sp>
      <p:sp>
        <p:nvSpPr>
          <p:cNvPr id="12" name="Text 9"/>
          <p:cNvSpPr/>
          <p:nvPr/>
        </p:nvSpPr>
        <p:spPr>
          <a:xfrm>
            <a:off x="1234440" y="2633472"/>
            <a:ext cx="3474720" cy="475488"/>
          </a:xfrm>
          <a:prstGeom prst="rect">
            <a:avLst/>
          </a:prstGeom>
          <a:noFill/>
          <a:ln/>
        </p:spPr>
        <p:txBody>
          <a:bodyPr wrap="square" lIns="0" tIns="0" rIns="0" bIns="0" rtlCol="0" anchor="ctr">
            <a:normAutofit/>
          </a:bodyPr>
          <a:lstStyle/>
          <a:p>
            <a:pPr marL="0" indent="0">
              <a:buNone/>
            </a:pPr>
            <a:r>
              <a:rPr lang="en-US" sz="980" dirty="0">
                <a:solidFill>
                  <a:srgbClr val="B5C7D9"/>
                </a:solidFill>
                <a:latin typeface="Segoe UI" pitchFamily="34" charset="0"/>
                <a:ea typeface="Segoe UI" pitchFamily="34" charset="-122"/>
                <a:cs typeface="Segoe UI" pitchFamily="34" charset="-120"/>
              </a:rPr>
              <a:t>FastAPI, SQLModel ORM, SQLite database.</a:t>
            </a:r>
            <a:endParaRPr lang="en-US" sz="980" dirty="0"/>
          </a:p>
        </p:txBody>
      </p:sp>
      <p:sp>
        <p:nvSpPr>
          <p:cNvPr id="13" name="Shape 10"/>
          <p:cNvSpPr/>
          <p:nvPr/>
        </p:nvSpPr>
        <p:spPr>
          <a:xfrm>
            <a:off x="932688" y="3163824"/>
            <a:ext cx="201168" cy="0"/>
          </a:xfrm>
          <a:prstGeom prst="line">
            <a:avLst/>
          </a:prstGeom>
          <a:noFill/>
          <a:ln w="27940">
            <a:solidFill>
              <a:srgbClr val="00EBDF"/>
            </a:solidFill>
            <a:prstDash val="solid"/>
          </a:ln>
        </p:spPr>
        <p:txBody>
          <a:bodyPr/>
          <a:lstStyle/>
          <a:p>
            <a:endParaRPr lang="en-US"/>
          </a:p>
        </p:txBody>
      </p:sp>
      <p:sp>
        <p:nvSpPr>
          <p:cNvPr id="14" name="Text 11"/>
          <p:cNvSpPr/>
          <p:nvPr/>
        </p:nvSpPr>
        <p:spPr>
          <a:xfrm>
            <a:off x="1234440" y="3090672"/>
            <a:ext cx="3474720" cy="201168"/>
          </a:xfrm>
          <a:prstGeom prst="rect">
            <a:avLst/>
          </a:prstGeom>
          <a:noFill/>
          <a:ln/>
        </p:spPr>
        <p:txBody>
          <a:bodyPr wrap="square" lIns="0" tIns="0" rIns="0" bIns="0" rtlCol="0" anchor="ctr">
            <a:normAutofit/>
          </a:bodyPr>
          <a:lstStyle/>
          <a:p>
            <a:pPr marL="0" indent="0">
              <a:buNone/>
            </a:pPr>
            <a:r>
              <a:rPr lang="en-US" sz="1180" dirty="0">
                <a:solidFill>
                  <a:srgbClr val="F5FBFF"/>
                </a:solidFill>
                <a:latin typeface="Segoe UI Semibold" pitchFamily="34" charset="0"/>
                <a:ea typeface="Segoe UI Semibold" pitchFamily="34" charset="-122"/>
                <a:cs typeface="Segoe UI Semibold" pitchFamily="34" charset="-120"/>
              </a:rPr>
              <a:t>Frontend</a:t>
            </a:r>
            <a:endParaRPr lang="en-US" sz="1180" dirty="0"/>
          </a:p>
        </p:txBody>
      </p:sp>
      <p:sp>
        <p:nvSpPr>
          <p:cNvPr id="15" name="Text 12"/>
          <p:cNvSpPr/>
          <p:nvPr/>
        </p:nvSpPr>
        <p:spPr>
          <a:xfrm>
            <a:off x="1234440" y="3319272"/>
            <a:ext cx="3474720" cy="475488"/>
          </a:xfrm>
          <a:prstGeom prst="rect">
            <a:avLst/>
          </a:prstGeom>
          <a:noFill/>
          <a:ln/>
        </p:spPr>
        <p:txBody>
          <a:bodyPr wrap="square" lIns="0" tIns="0" rIns="0" bIns="0" rtlCol="0" anchor="ctr">
            <a:normAutofit/>
          </a:bodyPr>
          <a:lstStyle/>
          <a:p>
            <a:pPr marL="0" indent="0">
              <a:buNone/>
            </a:pPr>
            <a:r>
              <a:rPr lang="en-US" sz="980" dirty="0">
                <a:solidFill>
                  <a:srgbClr val="B5C7D9"/>
                </a:solidFill>
                <a:latin typeface="Segoe UI" pitchFamily="34" charset="0"/>
                <a:ea typeface="Segoe UI" pitchFamily="34" charset="-122"/>
                <a:cs typeface="Segoe UI" pitchFamily="34" charset="-120"/>
              </a:rPr>
              <a:t>React + Vite, TailwindCSS, glassmorphism layers.</a:t>
            </a:r>
            <a:endParaRPr lang="en-US" sz="980" dirty="0"/>
          </a:p>
        </p:txBody>
      </p:sp>
      <p:sp>
        <p:nvSpPr>
          <p:cNvPr id="16" name="Shape 13"/>
          <p:cNvSpPr/>
          <p:nvPr/>
        </p:nvSpPr>
        <p:spPr>
          <a:xfrm>
            <a:off x="932688" y="3849624"/>
            <a:ext cx="201168" cy="0"/>
          </a:xfrm>
          <a:prstGeom prst="line">
            <a:avLst/>
          </a:prstGeom>
          <a:noFill/>
          <a:ln w="27940">
            <a:solidFill>
              <a:srgbClr val="8E7CFF"/>
            </a:solidFill>
            <a:prstDash val="solid"/>
          </a:ln>
        </p:spPr>
        <p:txBody>
          <a:bodyPr/>
          <a:lstStyle/>
          <a:p>
            <a:endParaRPr lang="en-US"/>
          </a:p>
        </p:txBody>
      </p:sp>
      <p:sp>
        <p:nvSpPr>
          <p:cNvPr id="17" name="Text 14"/>
          <p:cNvSpPr/>
          <p:nvPr/>
        </p:nvSpPr>
        <p:spPr>
          <a:xfrm>
            <a:off x="1234440" y="3776472"/>
            <a:ext cx="3474720" cy="201168"/>
          </a:xfrm>
          <a:prstGeom prst="rect">
            <a:avLst/>
          </a:prstGeom>
          <a:noFill/>
          <a:ln/>
        </p:spPr>
        <p:txBody>
          <a:bodyPr wrap="square" lIns="0" tIns="0" rIns="0" bIns="0" rtlCol="0" anchor="ctr">
            <a:normAutofit/>
          </a:bodyPr>
          <a:lstStyle/>
          <a:p>
            <a:pPr marL="0" indent="0">
              <a:buNone/>
            </a:pPr>
            <a:r>
              <a:rPr lang="en-US" sz="1180" dirty="0">
                <a:solidFill>
                  <a:srgbClr val="F5FBFF"/>
                </a:solidFill>
                <a:latin typeface="Segoe UI Semibold" pitchFamily="34" charset="0"/>
                <a:ea typeface="Segoe UI Semibold" pitchFamily="34" charset="-122"/>
                <a:cs typeface="Segoe UI Semibold" pitchFamily="34" charset="-120"/>
              </a:rPr>
              <a:t>AI Engine</a:t>
            </a:r>
            <a:endParaRPr lang="en-US" sz="1180" dirty="0"/>
          </a:p>
        </p:txBody>
      </p:sp>
      <p:sp>
        <p:nvSpPr>
          <p:cNvPr id="18" name="Text 15"/>
          <p:cNvSpPr/>
          <p:nvPr/>
        </p:nvSpPr>
        <p:spPr>
          <a:xfrm>
            <a:off x="1234440" y="4005072"/>
            <a:ext cx="3474720" cy="475488"/>
          </a:xfrm>
          <a:prstGeom prst="rect">
            <a:avLst/>
          </a:prstGeom>
          <a:noFill/>
          <a:ln/>
        </p:spPr>
        <p:txBody>
          <a:bodyPr wrap="square" lIns="0" tIns="0" rIns="0" bIns="0" rtlCol="0" anchor="ctr">
            <a:normAutofit/>
          </a:bodyPr>
          <a:lstStyle/>
          <a:p>
            <a:pPr marL="0" indent="0">
              <a:buNone/>
            </a:pPr>
            <a:r>
              <a:rPr lang="en-US" sz="980" dirty="0">
                <a:solidFill>
                  <a:srgbClr val="B5C7D9"/>
                </a:solidFill>
                <a:latin typeface="Segoe UI" pitchFamily="34" charset="0"/>
                <a:ea typeface="Segoe UI" pitchFamily="34" charset="-122"/>
                <a:cs typeface="Segoe UI" pitchFamily="34" charset="-120"/>
              </a:rPr>
              <a:t>Multi-provider orchestration: local + cloud LLM routes.</a:t>
            </a:r>
            <a:endParaRPr lang="en-US" sz="980" dirty="0"/>
          </a:p>
        </p:txBody>
      </p:sp>
      <p:sp>
        <p:nvSpPr>
          <p:cNvPr id="19" name="Shape 16"/>
          <p:cNvSpPr/>
          <p:nvPr/>
        </p:nvSpPr>
        <p:spPr>
          <a:xfrm>
            <a:off x="932688" y="4535424"/>
            <a:ext cx="201168" cy="0"/>
          </a:xfrm>
          <a:prstGeom prst="line">
            <a:avLst/>
          </a:prstGeom>
          <a:noFill/>
          <a:ln w="27940">
            <a:solidFill>
              <a:srgbClr val="29F0A0"/>
            </a:solidFill>
            <a:prstDash val="solid"/>
          </a:ln>
        </p:spPr>
        <p:txBody>
          <a:bodyPr/>
          <a:lstStyle/>
          <a:p>
            <a:endParaRPr lang="en-US"/>
          </a:p>
        </p:txBody>
      </p:sp>
      <p:sp>
        <p:nvSpPr>
          <p:cNvPr id="20" name="Text 17"/>
          <p:cNvSpPr/>
          <p:nvPr/>
        </p:nvSpPr>
        <p:spPr>
          <a:xfrm>
            <a:off x="1234440" y="4462272"/>
            <a:ext cx="3474720" cy="201168"/>
          </a:xfrm>
          <a:prstGeom prst="rect">
            <a:avLst/>
          </a:prstGeom>
          <a:noFill/>
          <a:ln/>
        </p:spPr>
        <p:txBody>
          <a:bodyPr wrap="square" lIns="0" tIns="0" rIns="0" bIns="0" rtlCol="0" anchor="ctr">
            <a:normAutofit/>
          </a:bodyPr>
          <a:lstStyle/>
          <a:p>
            <a:pPr marL="0" indent="0">
              <a:buNone/>
            </a:pPr>
            <a:r>
              <a:rPr lang="en-US" sz="1180" dirty="0">
                <a:solidFill>
                  <a:srgbClr val="F5FBFF"/>
                </a:solidFill>
                <a:latin typeface="Segoe UI Semibold" pitchFamily="34" charset="0"/>
                <a:ea typeface="Segoe UI Semibold" pitchFamily="34" charset="-122"/>
                <a:cs typeface="Segoe UI Semibold" pitchFamily="34" charset="-120"/>
              </a:rPr>
              <a:t>SSE Streaming</a:t>
            </a:r>
            <a:endParaRPr lang="en-US" sz="1180" dirty="0"/>
          </a:p>
        </p:txBody>
      </p:sp>
      <p:sp>
        <p:nvSpPr>
          <p:cNvPr id="21" name="Text 18"/>
          <p:cNvSpPr/>
          <p:nvPr/>
        </p:nvSpPr>
        <p:spPr>
          <a:xfrm>
            <a:off x="1234440" y="4690872"/>
            <a:ext cx="3474720" cy="475488"/>
          </a:xfrm>
          <a:prstGeom prst="rect">
            <a:avLst/>
          </a:prstGeom>
          <a:noFill/>
          <a:ln/>
        </p:spPr>
        <p:txBody>
          <a:bodyPr wrap="square" lIns="0" tIns="0" rIns="0" bIns="0" rtlCol="0" anchor="ctr">
            <a:normAutofit/>
          </a:bodyPr>
          <a:lstStyle/>
          <a:p>
            <a:pPr marL="0" indent="0">
              <a:buNone/>
            </a:pPr>
            <a:r>
              <a:rPr lang="en-US" sz="980" dirty="0">
                <a:solidFill>
                  <a:srgbClr val="B5C7D9"/>
                </a:solidFill>
                <a:latin typeface="Segoe UI" pitchFamily="34" charset="0"/>
                <a:ea typeface="Segoe UI" pitchFamily="34" charset="-122"/>
                <a:cs typeface="Segoe UI" pitchFamily="34" charset="-120"/>
              </a:rPr>
              <a:t>Real-time tokens and compact reasoning blocks.</a:t>
            </a:r>
            <a:endParaRPr lang="en-US" sz="980" dirty="0"/>
          </a:p>
        </p:txBody>
      </p:sp>
      <p:sp>
        <p:nvSpPr>
          <p:cNvPr id="22" name="Shape 19"/>
          <p:cNvSpPr/>
          <p:nvPr/>
        </p:nvSpPr>
        <p:spPr>
          <a:xfrm>
            <a:off x="6400800" y="1783080"/>
            <a:ext cx="4983480" cy="3566160"/>
          </a:xfrm>
          <a:prstGeom prst="roundRect">
            <a:avLst>
              <a:gd name="adj" fmla="val 3077"/>
            </a:avLst>
          </a:prstGeom>
          <a:solidFill>
            <a:srgbClr val="020916">
              <a:alpha val="82000"/>
            </a:srgbClr>
          </a:solidFill>
          <a:ln w="12700">
            <a:solidFill>
              <a:srgbClr val="00EBDF">
                <a:alpha val="27000"/>
              </a:srgbClr>
            </a:solidFill>
            <a:prstDash val="solid"/>
          </a:ln>
          <a:effectLst>
            <a:outerShdw blurRad="25400" dist="50800" dir="2700000" algn="bl" rotWithShape="0">
              <a:srgbClr val="00EBDF">
                <a:alpha val="18000"/>
              </a:srgbClr>
            </a:outerShdw>
          </a:effectLst>
        </p:spPr>
        <p:txBody>
          <a:bodyPr/>
          <a:lstStyle/>
          <a:p>
            <a:endParaRPr lang="en-US"/>
          </a:p>
        </p:txBody>
      </p:sp>
      <p:sp>
        <p:nvSpPr>
          <p:cNvPr id="23" name="Text 20"/>
          <p:cNvSpPr/>
          <p:nvPr/>
        </p:nvSpPr>
        <p:spPr>
          <a:xfrm>
            <a:off x="6675120" y="2029968"/>
            <a:ext cx="2194560" cy="219456"/>
          </a:xfrm>
          <a:prstGeom prst="rect">
            <a:avLst/>
          </a:prstGeom>
          <a:noFill/>
          <a:ln/>
        </p:spPr>
        <p:txBody>
          <a:bodyPr wrap="square" lIns="0" tIns="0" rIns="0" bIns="0" rtlCol="0" anchor="ctr">
            <a:normAutofit/>
          </a:bodyPr>
          <a:lstStyle/>
          <a:p>
            <a:pPr marL="0" indent="0">
              <a:buNone/>
            </a:pPr>
            <a:r>
              <a:rPr lang="en-US" sz="850" dirty="0">
                <a:solidFill>
                  <a:srgbClr val="00EBDF"/>
                </a:solidFill>
                <a:latin typeface="Segoe UI Semibold" pitchFamily="34" charset="0"/>
                <a:ea typeface="Segoe UI Semibold" pitchFamily="34" charset="-122"/>
                <a:cs typeface="Segoe UI Semibold" pitchFamily="34" charset="-120"/>
              </a:rPr>
              <a:t>RUNTIME FLOW</a:t>
            </a:r>
            <a:endParaRPr lang="en-US" sz="850" dirty="0"/>
          </a:p>
        </p:txBody>
      </p:sp>
      <p:sp>
        <p:nvSpPr>
          <p:cNvPr id="24" name="Text 21"/>
          <p:cNvSpPr/>
          <p:nvPr/>
        </p:nvSpPr>
        <p:spPr>
          <a:xfrm>
            <a:off x="6720840" y="2359152"/>
            <a:ext cx="256032" cy="201168"/>
          </a:xfrm>
          <a:prstGeom prst="rect">
            <a:avLst/>
          </a:prstGeom>
          <a:noFill/>
          <a:ln/>
        </p:spPr>
        <p:txBody>
          <a:bodyPr wrap="square" lIns="0" tIns="0" rIns="0" bIns="0" rtlCol="0" anchor="ctr"/>
          <a:lstStyle/>
          <a:p>
            <a:pPr marL="0" indent="0" algn="ctr">
              <a:buNone/>
            </a:pPr>
            <a:r>
              <a:rPr lang="en-US" sz="900" dirty="0">
                <a:solidFill>
                  <a:srgbClr val="00EBDF"/>
                </a:solidFill>
                <a:latin typeface="Segoe UI Semibold" pitchFamily="34" charset="0"/>
                <a:ea typeface="Segoe UI Semibold" pitchFamily="34" charset="-122"/>
                <a:cs typeface="Segoe UI Semibold" pitchFamily="34" charset="-120"/>
              </a:rPr>
              <a:t>1</a:t>
            </a:r>
            <a:endParaRPr lang="en-US" sz="900" dirty="0"/>
          </a:p>
        </p:txBody>
      </p:sp>
      <p:sp>
        <p:nvSpPr>
          <p:cNvPr id="25" name="Text 22"/>
          <p:cNvSpPr/>
          <p:nvPr/>
        </p:nvSpPr>
        <p:spPr>
          <a:xfrm>
            <a:off x="7086600" y="2345436"/>
            <a:ext cx="3474720" cy="201168"/>
          </a:xfrm>
          <a:prstGeom prst="rect">
            <a:avLst/>
          </a:prstGeom>
          <a:noFill/>
          <a:ln/>
        </p:spPr>
        <p:txBody>
          <a:bodyPr wrap="square" lIns="0" tIns="0" rIns="0" bIns="0" rtlCol="0" anchor="ctr">
            <a:normAutofit/>
          </a:bodyPr>
          <a:lstStyle/>
          <a:p>
            <a:pPr marL="0" indent="0">
              <a:buNone/>
            </a:pPr>
            <a:r>
              <a:rPr lang="en-US" sz="1100" dirty="0">
                <a:solidFill>
                  <a:srgbClr val="F5FBFF"/>
                </a:solidFill>
                <a:latin typeface="Segoe UI" pitchFamily="34" charset="0"/>
                <a:ea typeface="Segoe UI" pitchFamily="34" charset="-122"/>
                <a:cs typeface="Segoe UI" pitchFamily="34" charset="-120"/>
              </a:rPr>
              <a:t>User prompt / file</a:t>
            </a:r>
            <a:endParaRPr lang="en-US" sz="1100" dirty="0"/>
          </a:p>
        </p:txBody>
      </p:sp>
      <p:sp>
        <p:nvSpPr>
          <p:cNvPr id="26" name="Text 23"/>
          <p:cNvSpPr/>
          <p:nvPr/>
        </p:nvSpPr>
        <p:spPr>
          <a:xfrm>
            <a:off x="6720840" y="2825496"/>
            <a:ext cx="256032" cy="201168"/>
          </a:xfrm>
          <a:prstGeom prst="rect">
            <a:avLst/>
          </a:prstGeom>
          <a:noFill/>
          <a:ln/>
        </p:spPr>
        <p:txBody>
          <a:bodyPr wrap="square" lIns="0" tIns="0" rIns="0" bIns="0" rtlCol="0" anchor="ctr"/>
          <a:lstStyle/>
          <a:p>
            <a:pPr marL="0" indent="0" algn="ctr">
              <a:buNone/>
            </a:pPr>
            <a:r>
              <a:rPr lang="en-US" sz="900" dirty="0">
                <a:solidFill>
                  <a:srgbClr val="00EBDF"/>
                </a:solidFill>
                <a:latin typeface="Segoe UI Semibold" pitchFamily="34" charset="0"/>
                <a:ea typeface="Segoe UI Semibold" pitchFamily="34" charset="-122"/>
                <a:cs typeface="Segoe UI Semibold" pitchFamily="34" charset="-120"/>
              </a:rPr>
              <a:t>2</a:t>
            </a:r>
            <a:endParaRPr lang="en-US" sz="900" dirty="0"/>
          </a:p>
        </p:txBody>
      </p:sp>
      <p:sp>
        <p:nvSpPr>
          <p:cNvPr id="27" name="Text 24"/>
          <p:cNvSpPr/>
          <p:nvPr/>
        </p:nvSpPr>
        <p:spPr>
          <a:xfrm>
            <a:off x="7086600" y="2811780"/>
            <a:ext cx="3474720" cy="201168"/>
          </a:xfrm>
          <a:prstGeom prst="rect">
            <a:avLst/>
          </a:prstGeom>
          <a:noFill/>
          <a:ln/>
        </p:spPr>
        <p:txBody>
          <a:bodyPr wrap="square" lIns="0" tIns="0" rIns="0" bIns="0" rtlCol="0" anchor="ctr">
            <a:normAutofit/>
          </a:bodyPr>
          <a:lstStyle/>
          <a:p>
            <a:pPr marL="0" indent="0">
              <a:buNone/>
            </a:pPr>
            <a:r>
              <a:rPr lang="en-US" sz="1100" dirty="0">
                <a:solidFill>
                  <a:srgbClr val="F5FBFF"/>
                </a:solidFill>
                <a:latin typeface="Segoe UI" pitchFamily="34" charset="0"/>
                <a:ea typeface="Segoe UI" pitchFamily="34" charset="-122"/>
                <a:cs typeface="Segoe UI" pitchFamily="34" charset="-120"/>
              </a:rPr>
              <a:t>RBAC + sanitization</a:t>
            </a:r>
            <a:endParaRPr lang="en-US" sz="1100" dirty="0"/>
          </a:p>
        </p:txBody>
      </p:sp>
      <p:sp>
        <p:nvSpPr>
          <p:cNvPr id="28" name="Text 25"/>
          <p:cNvSpPr/>
          <p:nvPr/>
        </p:nvSpPr>
        <p:spPr>
          <a:xfrm>
            <a:off x="6720840" y="3291840"/>
            <a:ext cx="256032" cy="201168"/>
          </a:xfrm>
          <a:prstGeom prst="rect">
            <a:avLst/>
          </a:prstGeom>
          <a:noFill/>
          <a:ln/>
        </p:spPr>
        <p:txBody>
          <a:bodyPr wrap="square" lIns="0" tIns="0" rIns="0" bIns="0" rtlCol="0" anchor="ctr"/>
          <a:lstStyle/>
          <a:p>
            <a:pPr marL="0" indent="0" algn="ctr">
              <a:buNone/>
            </a:pPr>
            <a:r>
              <a:rPr lang="en-US" sz="900" dirty="0">
                <a:solidFill>
                  <a:srgbClr val="00EBDF"/>
                </a:solidFill>
                <a:latin typeface="Segoe UI Semibold" pitchFamily="34" charset="0"/>
                <a:ea typeface="Segoe UI Semibold" pitchFamily="34" charset="-122"/>
                <a:cs typeface="Segoe UI Semibold" pitchFamily="34" charset="-120"/>
              </a:rPr>
              <a:t>3</a:t>
            </a:r>
            <a:endParaRPr lang="en-US" sz="900" dirty="0"/>
          </a:p>
        </p:txBody>
      </p:sp>
      <p:sp>
        <p:nvSpPr>
          <p:cNvPr id="29" name="Text 26"/>
          <p:cNvSpPr/>
          <p:nvPr/>
        </p:nvSpPr>
        <p:spPr>
          <a:xfrm>
            <a:off x="7086600" y="3278124"/>
            <a:ext cx="3474720" cy="201168"/>
          </a:xfrm>
          <a:prstGeom prst="rect">
            <a:avLst/>
          </a:prstGeom>
          <a:noFill/>
          <a:ln/>
        </p:spPr>
        <p:txBody>
          <a:bodyPr wrap="square" lIns="0" tIns="0" rIns="0" bIns="0" rtlCol="0" anchor="ctr">
            <a:normAutofit/>
          </a:bodyPr>
          <a:lstStyle/>
          <a:p>
            <a:pPr marL="0" indent="0">
              <a:buNone/>
            </a:pPr>
            <a:r>
              <a:rPr lang="en-US" sz="1100" dirty="0">
                <a:solidFill>
                  <a:srgbClr val="F5FBFF"/>
                </a:solidFill>
                <a:latin typeface="Segoe UI" pitchFamily="34" charset="0"/>
                <a:ea typeface="Segoe UI" pitchFamily="34" charset="-122"/>
                <a:cs typeface="Segoe UI" pitchFamily="34" charset="-120"/>
              </a:rPr>
              <a:t>Intelligence kernel math</a:t>
            </a:r>
            <a:endParaRPr lang="en-US" sz="1100" dirty="0"/>
          </a:p>
        </p:txBody>
      </p:sp>
      <p:sp>
        <p:nvSpPr>
          <p:cNvPr id="30" name="Text 27"/>
          <p:cNvSpPr/>
          <p:nvPr/>
        </p:nvSpPr>
        <p:spPr>
          <a:xfrm>
            <a:off x="6720840" y="3758184"/>
            <a:ext cx="256032" cy="201168"/>
          </a:xfrm>
          <a:prstGeom prst="rect">
            <a:avLst/>
          </a:prstGeom>
          <a:noFill/>
          <a:ln/>
        </p:spPr>
        <p:txBody>
          <a:bodyPr wrap="square" lIns="0" tIns="0" rIns="0" bIns="0" rtlCol="0" anchor="ctr"/>
          <a:lstStyle/>
          <a:p>
            <a:pPr marL="0" indent="0" algn="ctr">
              <a:buNone/>
            </a:pPr>
            <a:r>
              <a:rPr lang="en-US" sz="900" dirty="0">
                <a:solidFill>
                  <a:srgbClr val="00EBDF"/>
                </a:solidFill>
                <a:latin typeface="Segoe UI Semibold" pitchFamily="34" charset="0"/>
                <a:ea typeface="Segoe UI Semibold" pitchFamily="34" charset="-122"/>
                <a:cs typeface="Segoe UI Semibold" pitchFamily="34" charset="-120"/>
              </a:rPr>
              <a:t>4</a:t>
            </a:r>
            <a:endParaRPr lang="en-US" sz="900" dirty="0"/>
          </a:p>
        </p:txBody>
      </p:sp>
      <p:sp>
        <p:nvSpPr>
          <p:cNvPr id="31" name="Text 28"/>
          <p:cNvSpPr/>
          <p:nvPr/>
        </p:nvSpPr>
        <p:spPr>
          <a:xfrm>
            <a:off x="7086600" y="3744468"/>
            <a:ext cx="3474720" cy="201168"/>
          </a:xfrm>
          <a:prstGeom prst="rect">
            <a:avLst/>
          </a:prstGeom>
          <a:noFill/>
          <a:ln/>
        </p:spPr>
        <p:txBody>
          <a:bodyPr wrap="square" lIns="0" tIns="0" rIns="0" bIns="0" rtlCol="0" anchor="ctr">
            <a:normAutofit/>
          </a:bodyPr>
          <a:lstStyle/>
          <a:p>
            <a:pPr marL="0" indent="0">
              <a:buNone/>
            </a:pPr>
            <a:r>
              <a:rPr lang="en-US" sz="1100" dirty="0">
                <a:solidFill>
                  <a:srgbClr val="F5FBFF"/>
                </a:solidFill>
                <a:latin typeface="Segoe UI" pitchFamily="34" charset="0"/>
                <a:ea typeface="Segoe UI" pitchFamily="34" charset="-122"/>
                <a:cs typeface="Segoe UI" pitchFamily="34" charset="-120"/>
              </a:rPr>
              <a:t>Limited context + DB query</a:t>
            </a:r>
            <a:endParaRPr lang="en-US" sz="1100" dirty="0"/>
          </a:p>
        </p:txBody>
      </p:sp>
      <p:sp>
        <p:nvSpPr>
          <p:cNvPr id="32" name="Text 29"/>
          <p:cNvSpPr/>
          <p:nvPr/>
        </p:nvSpPr>
        <p:spPr>
          <a:xfrm>
            <a:off x="6720840" y="4224528"/>
            <a:ext cx="256032" cy="201168"/>
          </a:xfrm>
          <a:prstGeom prst="rect">
            <a:avLst/>
          </a:prstGeom>
          <a:noFill/>
          <a:ln/>
        </p:spPr>
        <p:txBody>
          <a:bodyPr wrap="square" lIns="0" tIns="0" rIns="0" bIns="0" rtlCol="0" anchor="ctr"/>
          <a:lstStyle/>
          <a:p>
            <a:pPr marL="0" indent="0" algn="ctr">
              <a:buNone/>
            </a:pPr>
            <a:r>
              <a:rPr lang="en-US" sz="900" dirty="0">
                <a:solidFill>
                  <a:srgbClr val="00EBDF"/>
                </a:solidFill>
                <a:latin typeface="Segoe UI Semibold" pitchFamily="34" charset="0"/>
                <a:ea typeface="Segoe UI Semibold" pitchFamily="34" charset="-122"/>
                <a:cs typeface="Segoe UI Semibold" pitchFamily="34" charset="-120"/>
              </a:rPr>
              <a:t>5</a:t>
            </a:r>
            <a:endParaRPr lang="en-US" sz="900" dirty="0"/>
          </a:p>
        </p:txBody>
      </p:sp>
      <p:sp>
        <p:nvSpPr>
          <p:cNvPr id="33" name="Text 30"/>
          <p:cNvSpPr/>
          <p:nvPr/>
        </p:nvSpPr>
        <p:spPr>
          <a:xfrm>
            <a:off x="7086600" y="4210812"/>
            <a:ext cx="3474720" cy="201168"/>
          </a:xfrm>
          <a:prstGeom prst="rect">
            <a:avLst/>
          </a:prstGeom>
          <a:noFill/>
          <a:ln/>
        </p:spPr>
        <p:txBody>
          <a:bodyPr wrap="square" lIns="0" tIns="0" rIns="0" bIns="0" rtlCol="0" anchor="ctr">
            <a:normAutofit/>
          </a:bodyPr>
          <a:lstStyle/>
          <a:p>
            <a:pPr marL="0" indent="0">
              <a:buNone/>
            </a:pPr>
            <a:r>
              <a:rPr lang="en-US" sz="1100" dirty="0">
                <a:solidFill>
                  <a:srgbClr val="F5FBFF"/>
                </a:solidFill>
                <a:latin typeface="Segoe UI" pitchFamily="34" charset="0"/>
                <a:ea typeface="Segoe UI" pitchFamily="34" charset="-122"/>
                <a:cs typeface="Segoe UI" pitchFamily="34" charset="-120"/>
              </a:rPr>
              <a:t>Structured Markdown answer</a:t>
            </a:r>
            <a:endParaRPr lang="en-US" sz="1100" dirty="0"/>
          </a:p>
        </p:txBody>
      </p:sp>
      <p:sp>
        <p:nvSpPr>
          <p:cNvPr id="34" name="Text 31"/>
          <p:cNvSpPr/>
          <p:nvPr/>
        </p:nvSpPr>
        <p:spPr>
          <a:xfrm>
            <a:off x="6720840" y="4690872"/>
            <a:ext cx="256032" cy="201168"/>
          </a:xfrm>
          <a:prstGeom prst="rect">
            <a:avLst/>
          </a:prstGeom>
          <a:noFill/>
          <a:ln/>
        </p:spPr>
        <p:txBody>
          <a:bodyPr wrap="square" lIns="0" tIns="0" rIns="0" bIns="0" rtlCol="0" anchor="ctr"/>
          <a:lstStyle/>
          <a:p>
            <a:pPr marL="0" indent="0" algn="ctr">
              <a:buNone/>
            </a:pPr>
            <a:r>
              <a:rPr lang="en-US" sz="900" dirty="0">
                <a:solidFill>
                  <a:srgbClr val="00EBDF"/>
                </a:solidFill>
                <a:latin typeface="Segoe UI Semibold" pitchFamily="34" charset="0"/>
                <a:ea typeface="Segoe UI Semibold" pitchFamily="34" charset="-122"/>
                <a:cs typeface="Segoe UI Semibold" pitchFamily="34" charset="-120"/>
              </a:rPr>
              <a:t>6</a:t>
            </a:r>
            <a:endParaRPr lang="en-US" sz="900" dirty="0"/>
          </a:p>
        </p:txBody>
      </p:sp>
      <p:sp>
        <p:nvSpPr>
          <p:cNvPr id="35" name="Text 32"/>
          <p:cNvSpPr/>
          <p:nvPr/>
        </p:nvSpPr>
        <p:spPr>
          <a:xfrm>
            <a:off x="7086600" y="4677156"/>
            <a:ext cx="3474720" cy="201168"/>
          </a:xfrm>
          <a:prstGeom prst="rect">
            <a:avLst/>
          </a:prstGeom>
          <a:noFill/>
          <a:ln/>
        </p:spPr>
        <p:txBody>
          <a:bodyPr wrap="square" lIns="0" tIns="0" rIns="0" bIns="0" rtlCol="0" anchor="ctr">
            <a:normAutofit/>
          </a:bodyPr>
          <a:lstStyle/>
          <a:p>
            <a:pPr marL="0" indent="0">
              <a:buNone/>
            </a:pPr>
            <a:r>
              <a:rPr lang="en-US" sz="1100" dirty="0">
                <a:solidFill>
                  <a:srgbClr val="F5FBFF"/>
                </a:solidFill>
                <a:latin typeface="Segoe UI" pitchFamily="34" charset="0"/>
                <a:ea typeface="Segoe UI" pitchFamily="34" charset="-122"/>
                <a:cs typeface="Segoe UI" pitchFamily="34" charset="-120"/>
              </a:rPr>
              <a:t>SSE token stream</a:t>
            </a:r>
            <a:endParaRPr lang="en-US" sz="1100" dirty="0"/>
          </a:p>
        </p:txBody>
      </p:sp>
      <p:sp>
        <p:nvSpPr>
          <p:cNvPr id="36" name="Shape 33"/>
          <p:cNvSpPr/>
          <p:nvPr/>
        </p:nvSpPr>
        <p:spPr>
          <a:xfrm>
            <a:off x="548640" y="6446520"/>
            <a:ext cx="11109960" cy="0"/>
          </a:xfrm>
          <a:prstGeom prst="line">
            <a:avLst/>
          </a:prstGeom>
          <a:noFill/>
          <a:ln w="15240">
            <a:solidFill>
              <a:srgbClr val="00EBDF">
                <a:alpha val="45000"/>
              </a:srgbClr>
            </a:solidFill>
            <a:prstDash val="solid"/>
          </a:ln>
        </p:spPr>
        <p:txBody>
          <a:bodyPr/>
          <a:lstStyle/>
          <a:p>
            <a:endParaRPr lang="en-US"/>
          </a:p>
        </p:txBody>
      </p:sp>
      <p:sp>
        <p:nvSpPr>
          <p:cNvPr id="37" name="Text 34"/>
          <p:cNvSpPr/>
          <p:nvPr/>
        </p:nvSpPr>
        <p:spPr>
          <a:xfrm>
            <a:off x="594360" y="6528816"/>
            <a:ext cx="4937760" cy="182880"/>
          </a:xfrm>
          <a:prstGeom prst="rect">
            <a:avLst/>
          </a:prstGeom>
          <a:noFill/>
          <a:ln/>
        </p:spPr>
        <p:txBody>
          <a:bodyPr wrap="square" lIns="0" tIns="0" rIns="0" bIns="0" rtlCol="0" anchor="ctr"/>
          <a:lstStyle/>
          <a:p>
            <a:pPr marL="0" indent="0">
              <a:buNone/>
            </a:pPr>
            <a:r>
              <a:rPr lang="en-US" sz="750" dirty="0">
                <a:solidFill>
                  <a:srgbClr val="6D7F96"/>
                </a:solidFill>
                <a:latin typeface="Segoe UI" pitchFamily="34" charset="0"/>
                <a:ea typeface="Segoe UI" pitchFamily="34" charset="-122"/>
                <a:cs typeface="Segoe UI" pitchFamily="34" charset="-120"/>
              </a:rPr>
              <a:t>AURELIUS Management OS</a:t>
            </a:r>
            <a:endParaRPr lang="en-US" sz="750" dirty="0"/>
          </a:p>
        </p:txBody>
      </p:sp>
      <p:sp>
        <p:nvSpPr>
          <p:cNvPr id="38" name="Text 35"/>
          <p:cNvSpPr/>
          <p:nvPr/>
        </p:nvSpPr>
        <p:spPr>
          <a:xfrm>
            <a:off x="11384280" y="6473952"/>
            <a:ext cx="320040" cy="228600"/>
          </a:xfrm>
          <a:prstGeom prst="rect">
            <a:avLst/>
          </a:prstGeom>
          <a:noFill/>
          <a:ln/>
        </p:spPr>
        <p:txBody>
          <a:bodyPr wrap="square" lIns="0" tIns="0" rIns="0" bIns="0" rtlCol="0" anchor="ctr"/>
          <a:lstStyle/>
          <a:p>
            <a:pPr marL="0" indent="0" algn="r">
              <a:buNone/>
            </a:pPr>
            <a:r>
              <a:rPr lang="en-US" sz="800" dirty="0">
                <a:solidFill>
                  <a:srgbClr val="00EBDF"/>
                </a:solidFill>
                <a:latin typeface="Segoe UI Semibold" pitchFamily="34" charset="0"/>
                <a:ea typeface="Segoe UI Semibold" pitchFamily="34" charset="-122"/>
                <a:cs typeface="Segoe UI Semibold" pitchFamily="34" charset="-120"/>
              </a:rPr>
              <a:t>04</a:t>
            </a:r>
            <a:endParaRPr lang="en-US" sz="800" dirty="0"/>
          </a:p>
        </p:txBody>
      </p:sp>
      <p:sp>
        <p:nvSpPr>
          <p:cNvPr id="39" name="TextBox 38"/>
          <p:cNvSpPr txBox="1"/>
          <p:nvPr/>
        </p:nvSpPr>
        <p:spPr>
          <a:xfrm>
            <a:off x="6309360" y="5989320"/>
            <a:ext cx="5212080" cy="256032"/>
          </a:xfrm>
          <a:prstGeom prst="rect">
            <a:avLst/>
          </a:prstGeom>
          <a:noFill/>
        </p:spPr>
        <p:txBody>
          <a:bodyPr wrap="none">
            <a:spAutoFit/>
          </a:bodyPr>
          <a:lstStyle/>
          <a:p>
            <a:pPr algn="r">
              <a:defRPr sz="869" i="1">
                <a:solidFill>
                  <a:srgbClr val="91AAC3"/>
                </a:solidFill>
              </a:defRPr>
            </a:pPr>
            <a:r>
              <a:t>(Kaplan &amp; Haenlein, 2019)</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0B132B"/>
        </a:solidFill>
        <a:effectLst/>
      </p:bgPr>
    </p:bg>
    <p:spTree>
      <p:nvGrpSpPr>
        <p:cNvPr id="1" name=""/>
        <p:cNvGrpSpPr/>
        <p:nvPr/>
      </p:nvGrpSpPr>
      <p:grpSpPr>
        <a:xfrm>
          <a:off x="0" y="0"/>
          <a:ext cx="0" cy="0"/>
          <a:chOff x="0" y="0"/>
          <a:chExt cx="0" cy="0"/>
        </a:xfrm>
      </p:grpSpPr>
      <p:pic>
        <p:nvPicPr>
          <p:cNvPr id="2" name="Image 0" descr="/mnt/data/a_high_tech_dark_ui_dashboard_scene_wide_cinemati_batch_5.png"/>
          <p:cNvPicPr>
            <a:picLocks noChangeAspect="1"/>
          </p:cNvPicPr>
          <p:nvPr/>
        </p:nvPicPr>
        <p:blipFill>
          <a:blip r:embed="rId3"/>
          <a:srcRect t="25" b="25"/>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B132B">
              <a:alpha val="58000"/>
            </a:srgbClr>
          </a:solidFill>
          <a:ln w="12700">
            <a:solidFill>
              <a:srgbClr val="333333">
                <a:alpha val="0"/>
              </a:srgbClr>
            </a:solidFill>
            <a:prstDash val="solid"/>
          </a:ln>
        </p:spPr>
        <p:txBody>
          <a:bodyPr/>
          <a:lstStyle/>
          <a:p>
            <a:endParaRPr lang="en-US"/>
          </a:p>
        </p:txBody>
      </p:sp>
      <p:sp>
        <p:nvSpPr>
          <p:cNvPr id="4" name="Shape 1"/>
          <p:cNvSpPr/>
          <p:nvPr/>
        </p:nvSpPr>
        <p:spPr>
          <a:xfrm>
            <a:off x="0" y="0"/>
            <a:ext cx="12191695" cy="6858000"/>
          </a:xfrm>
          <a:prstGeom prst="rect">
            <a:avLst/>
          </a:prstGeom>
          <a:solidFill>
            <a:srgbClr val="000000">
              <a:alpha val="32000"/>
            </a:srgbClr>
          </a:solidFill>
          <a:ln w="12700">
            <a:solidFill>
              <a:srgbClr val="333333">
                <a:alpha val="0"/>
              </a:srgbClr>
            </a:solidFill>
            <a:prstDash val="solid"/>
          </a:ln>
        </p:spPr>
        <p:txBody>
          <a:bodyPr/>
          <a:lstStyle/>
          <a:p>
            <a:endParaRPr lang="en-US"/>
          </a:p>
        </p:txBody>
      </p:sp>
      <p:sp>
        <p:nvSpPr>
          <p:cNvPr id="5" name="Text 2"/>
          <p:cNvSpPr/>
          <p:nvPr/>
        </p:nvSpPr>
        <p:spPr>
          <a:xfrm>
            <a:off x="658368" y="429768"/>
            <a:ext cx="5120640" cy="246888"/>
          </a:xfrm>
          <a:prstGeom prst="rect">
            <a:avLst/>
          </a:prstGeom>
          <a:noFill/>
          <a:ln/>
        </p:spPr>
        <p:txBody>
          <a:bodyPr wrap="square" lIns="0" tIns="0" rIns="0" bIns="0" rtlCol="0" anchor="ctr"/>
          <a:lstStyle/>
          <a:p>
            <a:pPr marL="0" indent="0">
              <a:buNone/>
            </a:pPr>
            <a:r>
              <a:rPr lang="en-US" sz="850" dirty="0">
                <a:solidFill>
                  <a:srgbClr val="00EBDF"/>
                </a:solidFill>
                <a:latin typeface="Segoe UI Semibold" pitchFamily="34" charset="0"/>
                <a:ea typeface="Segoe UI Semibold" pitchFamily="34" charset="-122"/>
                <a:cs typeface="Segoe UI Semibold" pitchFamily="34" charset="-120"/>
              </a:rPr>
              <a:t>PREDICTIVE ATTRITION</a:t>
            </a:r>
            <a:endParaRPr lang="en-US" sz="850" dirty="0"/>
          </a:p>
        </p:txBody>
      </p:sp>
      <p:sp>
        <p:nvSpPr>
          <p:cNvPr id="6" name="Text 3"/>
          <p:cNvSpPr/>
          <p:nvPr/>
        </p:nvSpPr>
        <p:spPr>
          <a:xfrm>
            <a:off x="658368" y="713232"/>
            <a:ext cx="7680960" cy="493776"/>
          </a:xfrm>
          <a:prstGeom prst="rect">
            <a:avLst/>
          </a:prstGeom>
          <a:noFill/>
          <a:ln/>
        </p:spPr>
        <p:txBody>
          <a:bodyPr wrap="square" lIns="0" tIns="0" rIns="0" bIns="0" rtlCol="0" anchor="ctr">
            <a:normAutofit/>
          </a:bodyPr>
          <a:lstStyle/>
          <a:p>
            <a:pPr marL="0" indent="0">
              <a:buNone/>
            </a:pPr>
            <a:r>
              <a:rPr lang="en-US" sz="2700" b="1" dirty="0">
                <a:solidFill>
                  <a:srgbClr val="F5FBFF"/>
                </a:solidFill>
                <a:latin typeface="Segoe UI Semibold" pitchFamily="34" charset="0"/>
                <a:ea typeface="Segoe UI Semibold" pitchFamily="34" charset="-122"/>
                <a:cs typeface="Segoe UI Semibold" pitchFamily="34" charset="-120"/>
              </a:rPr>
              <a:t>Survival Curve Modeling</a:t>
            </a:r>
            <a:endParaRPr lang="en-US" sz="2700" dirty="0"/>
          </a:p>
        </p:txBody>
      </p:sp>
      <p:sp>
        <p:nvSpPr>
          <p:cNvPr id="7" name="Text 4"/>
          <p:cNvSpPr/>
          <p:nvPr/>
        </p:nvSpPr>
        <p:spPr>
          <a:xfrm>
            <a:off x="676656" y="1225296"/>
            <a:ext cx="7452360" cy="310896"/>
          </a:xfrm>
          <a:prstGeom prst="rect">
            <a:avLst/>
          </a:prstGeom>
          <a:noFill/>
          <a:ln/>
        </p:spPr>
        <p:txBody>
          <a:bodyPr wrap="square" lIns="0" tIns="0" rIns="0" bIns="0" rtlCol="0" anchor="ctr">
            <a:normAutofit/>
          </a:bodyPr>
          <a:lstStyle/>
          <a:p>
            <a:pPr marL="0" indent="0">
              <a:buNone/>
            </a:pPr>
            <a:r>
              <a:rPr lang="en-US" sz="1250" dirty="0">
                <a:solidFill>
                  <a:srgbClr val="B5C7D9"/>
                </a:solidFill>
                <a:latin typeface="Segoe UI" pitchFamily="34" charset="0"/>
                <a:ea typeface="Segoe UI" pitchFamily="34" charset="-122"/>
                <a:cs typeface="Segoe UI" pitchFamily="34" charset="-120"/>
              </a:rPr>
              <a:t>Forecast resignation risk before it becomes irreversible.</a:t>
            </a:r>
            <a:endParaRPr lang="en-US" sz="1250" dirty="0"/>
          </a:p>
        </p:txBody>
      </p:sp>
      <p:sp>
        <p:nvSpPr>
          <p:cNvPr id="8" name="Shape 5"/>
          <p:cNvSpPr/>
          <p:nvPr/>
        </p:nvSpPr>
        <p:spPr>
          <a:xfrm>
            <a:off x="640080" y="1773936"/>
            <a:ext cx="6400800" cy="4069080"/>
          </a:xfrm>
          <a:prstGeom prst="roundRect">
            <a:avLst>
              <a:gd name="adj" fmla="val 2697"/>
            </a:avLst>
          </a:prstGeom>
          <a:solidFill>
            <a:srgbClr val="020916">
              <a:alpha val="97000"/>
            </a:srgbClr>
          </a:solidFill>
          <a:ln w="12700">
            <a:solidFill>
              <a:srgbClr val="00EBDF">
                <a:alpha val="30000"/>
              </a:srgbClr>
            </a:solidFill>
            <a:prstDash val="solid"/>
          </a:ln>
          <a:effectLst>
            <a:outerShdw blurRad="25400" dist="50800" dir="2700000" algn="bl" rotWithShape="0">
              <a:srgbClr val="00EBDF">
                <a:alpha val="18000"/>
              </a:srgbClr>
            </a:outerShdw>
          </a:effectLst>
        </p:spPr>
        <p:txBody>
          <a:bodyPr/>
          <a:lstStyle/>
          <a:p>
            <a:endParaRPr lang="en-US"/>
          </a:p>
        </p:txBody>
      </p:sp>
      <p:sp>
        <p:nvSpPr>
          <p:cNvPr id="9" name="Text 6"/>
          <p:cNvSpPr/>
          <p:nvPr/>
        </p:nvSpPr>
        <p:spPr>
          <a:xfrm>
            <a:off x="914400" y="1993392"/>
            <a:ext cx="3291840" cy="219456"/>
          </a:xfrm>
          <a:prstGeom prst="rect">
            <a:avLst/>
          </a:prstGeom>
          <a:noFill/>
          <a:ln/>
        </p:spPr>
        <p:txBody>
          <a:bodyPr wrap="square" lIns="0" tIns="0" rIns="0" bIns="0" rtlCol="0" anchor="ctr">
            <a:normAutofit/>
          </a:bodyPr>
          <a:lstStyle/>
          <a:p>
            <a:pPr marL="0" indent="0">
              <a:buNone/>
            </a:pPr>
            <a:r>
              <a:rPr lang="en-US" sz="850" dirty="0">
                <a:solidFill>
                  <a:srgbClr val="00EBDF"/>
                </a:solidFill>
                <a:latin typeface="Segoe UI Semibold" pitchFamily="34" charset="0"/>
                <a:ea typeface="Segoe UI Semibold" pitchFamily="34" charset="-122"/>
                <a:cs typeface="Segoe UI Semibold" pitchFamily="34" charset="-120"/>
              </a:rPr>
              <a:t>12-MONTH SURVIVAL PROJECTION</a:t>
            </a:r>
            <a:endParaRPr lang="en-US" sz="850" dirty="0"/>
          </a:p>
        </p:txBody>
      </p:sp>
      <p:sp>
        <p:nvSpPr>
          <p:cNvPr id="10" name="Text 7"/>
          <p:cNvSpPr/>
          <p:nvPr/>
        </p:nvSpPr>
        <p:spPr>
          <a:xfrm>
            <a:off x="4754880" y="1901952"/>
            <a:ext cx="1645920" cy="256032"/>
          </a:xfrm>
          <a:prstGeom prst="rect">
            <a:avLst/>
          </a:prstGeom>
          <a:noFill/>
          <a:ln/>
        </p:spPr>
        <p:txBody>
          <a:bodyPr wrap="square" lIns="0" tIns="0" rIns="0" bIns="0" rtlCol="0" anchor="ctr"/>
          <a:lstStyle/>
          <a:p>
            <a:pPr marL="0" indent="0">
              <a:buNone/>
            </a:pPr>
            <a:r>
              <a:rPr lang="en-US" sz="1500" dirty="0">
                <a:solidFill>
                  <a:srgbClr val="00EBDF"/>
                </a:solidFill>
                <a:latin typeface="Cambria Math" pitchFamily="34" charset="0"/>
                <a:ea typeface="Cambria Math" pitchFamily="34" charset="-122"/>
                <a:cs typeface="Cambria Math" pitchFamily="34" charset="-120"/>
              </a:rPr>
              <a:t>S(t) = P(Tenure &gt; t)</a:t>
            </a:r>
            <a:endParaRPr lang="en-US" sz="1500" dirty="0"/>
          </a:p>
        </p:txBody>
      </p:sp>
      <p:graphicFrame>
        <p:nvGraphicFramePr>
          <p:cNvPr id="11" name="Chart 0"/>
          <p:cNvGraphicFramePr/>
          <p:nvPr/>
        </p:nvGraphicFramePr>
        <p:xfrm>
          <a:off x="914400" y="2395728"/>
          <a:ext cx="5669280" cy="2615184"/>
        </p:xfrm>
        <a:graphic>
          <a:graphicData uri="http://schemas.openxmlformats.org/drawingml/2006/chart">
            <c:chart xmlns:c="http://schemas.openxmlformats.org/drawingml/2006/chart" xmlns:r="http://schemas.openxmlformats.org/officeDocument/2006/relationships" r:id="rId4"/>
          </a:graphicData>
        </a:graphic>
      </p:graphicFrame>
      <p:sp>
        <p:nvSpPr>
          <p:cNvPr id="12" name="Shape 8"/>
          <p:cNvSpPr/>
          <p:nvPr/>
        </p:nvSpPr>
        <p:spPr>
          <a:xfrm>
            <a:off x="7543800" y="1773936"/>
            <a:ext cx="3703320" cy="4069080"/>
          </a:xfrm>
          <a:prstGeom prst="roundRect">
            <a:avLst>
              <a:gd name="adj" fmla="val 2963"/>
            </a:avLst>
          </a:prstGeom>
          <a:solidFill>
            <a:srgbClr val="020916">
              <a:alpha val="94000"/>
            </a:srgbClr>
          </a:solidFill>
          <a:ln w="12700">
            <a:solidFill>
              <a:srgbClr val="00EBDF">
                <a:alpha val="30000"/>
              </a:srgbClr>
            </a:solidFill>
            <a:prstDash val="solid"/>
          </a:ln>
          <a:effectLst>
            <a:outerShdw blurRad="25400" dist="50800" dir="2700000" algn="bl" rotWithShape="0">
              <a:srgbClr val="00EBDF">
                <a:alpha val="18000"/>
              </a:srgbClr>
            </a:outerShdw>
          </a:effectLst>
        </p:spPr>
        <p:txBody>
          <a:bodyPr/>
          <a:lstStyle/>
          <a:p>
            <a:endParaRPr lang="en-US"/>
          </a:p>
        </p:txBody>
      </p:sp>
      <p:sp>
        <p:nvSpPr>
          <p:cNvPr id="13" name="Text 9"/>
          <p:cNvSpPr/>
          <p:nvPr/>
        </p:nvSpPr>
        <p:spPr>
          <a:xfrm>
            <a:off x="7818120" y="1993392"/>
            <a:ext cx="2560320" cy="219456"/>
          </a:xfrm>
          <a:prstGeom prst="rect">
            <a:avLst/>
          </a:prstGeom>
          <a:noFill/>
          <a:ln/>
        </p:spPr>
        <p:txBody>
          <a:bodyPr wrap="square" lIns="0" tIns="0" rIns="0" bIns="0" rtlCol="0" anchor="ctr">
            <a:normAutofit/>
          </a:bodyPr>
          <a:lstStyle/>
          <a:p>
            <a:pPr marL="0" indent="0">
              <a:buNone/>
            </a:pPr>
            <a:r>
              <a:rPr lang="en-US" sz="850" dirty="0">
                <a:solidFill>
                  <a:srgbClr val="00EBDF"/>
                </a:solidFill>
                <a:latin typeface="Segoe UI Semibold" pitchFamily="34" charset="0"/>
                <a:ea typeface="Segoe UI Semibold" pitchFamily="34" charset="-122"/>
                <a:cs typeface="Segoe UI Semibold" pitchFamily="34" charset="-120"/>
              </a:rPr>
              <a:t>HAZARD MULTIPLIERS</a:t>
            </a:r>
            <a:endParaRPr lang="en-US" sz="850" dirty="0"/>
          </a:p>
        </p:txBody>
      </p:sp>
      <p:sp>
        <p:nvSpPr>
          <p:cNvPr id="14" name="Shape 10"/>
          <p:cNvSpPr/>
          <p:nvPr/>
        </p:nvSpPr>
        <p:spPr>
          <a:xfrm>
            <a:off x="7818120" y="2359152"/>
            <a:ext cx="3127248" cy="685800"/>
          </a:xfrm>
          <a:prstGeom prst="roundRect">
            <a:avLst>
              <a:gd name="adj" fmla="val 16000"/>
            </a:avLst>
          </a:prstGeom>
          <a:solidFill>
            <a:srgbClr val="07101F">
              <a:alpha val="92000"/>
            </a:srgbClr>
          </a:solidFill>
          <a:ln w="12700">
            <a:solidFill>
              <a:srgbClr val="FF5277">
                <a:alpha val="60000"/>
              </a:srgbClr>
            </a:solidFill>
            <a:prstDash val="solid"/>
          </a:ln>
          <a:effectLst>
            <a:outerShdw blurRad="25400" dist="50800" dir="2700000" algn="bl" rotWithShape="0">
              <a:srgbClr val="00EBDF">
                <a:alpha val="18000"/>
              </a:srgbClr>
            </a:outerShdw>
          </a:effectLst>
        </p:spPr>
        <p:txBody>
          <a:bodyPr/>
          <a:lstStyle/>
          <a:p>
            <a:endParaRPr lang="en-US"/>
          </a:p>
        </p:txBody>
      </p:sp>
      <p:sp>
        <p:nvSpPr>
          <p:cNvPr id="15" name="Text 11"/>
          <p:cNvSpPr/>
          <p:nvPr/>
        </p:nvSpPr>
        <p:spPr>
          <a:xfrm>
            <a:off x="7982712" y="2459736"/>
            <a:ext cx="2798064" cy="308610"/>
          </a:xfrm>
          <a:prstGeom prst="rect">
            <a:avLst/>
          </a:prstGeom>
          <a:noFill/>
          <a:ln/>
        </p:spPr>
        <p:txBody>
          <a:bodyPr wrap="square" lIns="0" tIns="0" rIns="0" bIns="0" rtlCol="0" anchor="ctr">
            <a:normAutofit fontScale="92500" lnSpcReduction="10000"/>
          </a:bodyPr>
          <a:lstStyle/>
          <a:p>
            <a:pPr marL="0" indent="0">
              <a:buNone/>
            </a:pPr>
            <a:r>
              <a:rPr lang="en-US" sz="2300" b="1" dirty="0">
                <a:solidFill>
                  <a:srgbClr val="FF5277"/>
                </a:solidFill>
                <a:latin typeface="Segoe UI Semibold" pitchFamily="34" charset="0"/>
                <a:ea typeface="Segoe UI Semibold" pitchFamily="34" charset="-122"/>
                <a:cs typeface="Segoe UI Semibold" pitchFamily="34" charset="-120"/>
              </a:rPr>
              <a:t>+40%</a:t>
            </a:r>
            <a:endParaRPr lang="en-US" sz="2300" dirty="0"/>
          </a:p>
        </p:txBody>
      </p:sp>
      <p:sp>
        <p:nvSpPr>
          <p:cNvPr id="16" name="Text 12"/>
          <p:cNvSpPr/>
          <p:nvPr/>
        </p:nvSpPr>
        <p:spPr>
          <a:xfrm>
            <a:off x="8001000" y="2715768"/>
            <a:ext cx="2761488" cy="246888"/>
          </a:xfrm>
          <a:prstGeom prst="rect">
            <a:avLst/>
          </a:prstGeom>
          <a:noFill/>
          <a:ln/>
        </p:spPr>
        <p:txBody>
          <a:bodyPr wrap="square" lIns="0" tIns="0" rIns="0" bIns="0" rtlCol="0" anchor="ctr">
            <a:normAutofit/>
          </a:bodyPr>
          <a:lstStyle/>
          <a:p>
            <a:pPr marL="0" indent="0">
              <a:buNone/>
            </a:pPr>
            <a:r>
              <a:rPr lang="en-US" sz="880" dirty="0">
                <a:solidFill>
                  <a:srgbClr val="B5C7D9"/>
                </a:solidFill>
                <a:latin typeface="Segoe UI" pitchFamily="34" charset="0"/>
                <a:ea typeface="Segoe UI" pitchFamily="34" charset="-122"/>
                <a:cs typeface="Segoe UI" pitchFamily="34" charset="-120"/>
              </a:rPr>
              <a:t>Muted sentiment</a:t>
            </a:r>
            <a:endParaRPr lang="en-US" sz="880" dirty="0"/>
          </a:p>
        </p:txBody>
      </p:sp>
      <p:sp>
        <p:nvSpPr>
          <p:cNvPr id="17" name="Shape 13"/>
          <p:cNvSpPr/>
          <p:nvPr/>
        </p:nvSpPr>
        <p:spPr>
          <a:xfrm>
            <a:off x="7818120" y="3291840"/>
            <a:ext cx="3127248" cy="685800"/>
          </a:xfrm>
          <a:prstGeom prst="roundRect">
            <a:avLst>
              <a:gd name="adj" fmla="val 16000"/>
            </a:avLst>
          </a:prstGeom>
          <a:solidFill>
            <a:srgbClr val="07101F">
              <a:alpha val="92000"/>
            </a:srgbClr>
          </a:solidFill>
          <a:ln w="12700">
            <a:solidFill>
              <a:srgbClr val="FFB545">
                <a:alpha val="60000"/>
              </a:srgbClr>
            </a:solidFill>
            <a:prstDash val="solid"/>
          </a:ln>
          <a:effectLst>
            <a:outerShdw blurRad="25400" dist="50800" dir="2700000" algn="bl" rotWithShape="0">
              <a:srgbClr val="00EBDF">
                <a:alpha val="18000"/>
              </a:srgbClr>
            </a:outerShdw>
          </a:effectLst>
        </p:spPr>
        <p:txBody>
          <a:bodyPr/>
          <a:lstStyle/>
          <a:p>
            <a:endParaRPr lang="en-US"/>
          </a:p>
        </p:txBody>
      </p:sp>
      <p:sp>
        <p:nvSpPr>
          <p:cNvPr id="18" name="Text 14"/>
          <p:cNvSpPr/>
          <p:nvPr/>
        </p:nvSpPr>
        <p:spPr>
          <a:xfrm>
            <a:off x="7982712" y="3392424"/>
            <a:ext cx="2798064" cy="308610"/>
          </a:xfrm>
          <a:prstGeom prst="rect">
            <a:avLst/>
          </a:prstGeom>
          <a:noFill/>
          <a:ln/>
        </p:spPr>
        <p:txBody>
          <a:bodyPr wrap="square" lIns="0" tIns="0" rIns="0" bIns="0" rtlCol="0" anchor="ctr">
            <a:normAutofit fontScale="92500" lnSpcReduction="10000"/>
          </a:bodyPr>
          <a:lstStyle/>
          <a:p>
            <a:pPr marL="0" indent="0">
              <a:buNone/>
            </a:pPr>
            <a:r>
              <a:rPr lang="en-US" sz="2300" b="1" dirty="0">
                <a:solidFill>
                  <a:srgbClr val="FFB545"/>
                </a:solidFill>
                <a:latin typeface="Segoe UI Semibold" pitchFamily="34" charset="0"/>
                <a:ea typeface="Segoe UI Semibold" pitchFamily="34" charset="-122"/>
                <a:cs typeface="Segoe UI Semibold" pitchFamily="34" charset="-120"/>
              </a:rPr>
              <a:t>+50%</a:t>
            </a:r>
            <a:endParaRPr lang="en-US" sz="2300" dirty="0"/>
          </a:p>
        </p:txBody>
      </p:sp>
      <p:sp>
        <p:nvSpPr>
          <p:cNvPr id="19" name="Text 15"/>
          <p:cNvSpPr/>
          <p:nvPr/>
        </p:nvSpPr>
        <p:spPr>
          <a:xfrm>
            <a:off x="8001000" y="3648456"/>
            <a:ext cx="2761488" cy="246888"/>
          </a:xfrm>
          <a:prstGeom prst="rect">
            <a:avLst/>
          </a:prstGeom>
          <a:noFill/>
          <a:ln/>
        </p:spPr>
        <p:txBody>
          <a:bodyPr wrap="square" lIns="0" tIns="0" rIns="0" bIns="0" rtlCol="0" anchor="ctr">
            <a:normAutofit/>
          </a:bodyPr>
          <a:lstStyle/>
          <a:p>
            <a:pPr marL="0" indent="0">
              <a:buNone/>
            </a:pPr>
            <a:r>
              <a:rPr lang="en-US" sz="880" dirty="0">
                <a:solidFill>
                  <a:srgbClr val="B5C7D9"/>
                </a:solidFill>
                <a:latin typeface="Segoe UI" pitchFamily="34" charset="0"/>
                <a:ea typeface="Segoe UI" pitchFamily="34" charset="-122"/>
                <a:cs typeface="Segoe UI" pitchFamily="34" charset="-120"/>
              </a:rPr>
              <a:t>Salary disparity</a:t>
            </a:r>
            <a:endParaRPr lang="en-US" sz="880" dirty="0"/>
          </a:p>
        </p:txBody>
      </p:sp>
      <p:sp>
        <p:nvSpPr>
          <p:cNvPr id="20" name="Shape 16"/>
          <p:cNvSpPr/>
          <p:nvPr/>
        </p:nvSpPr>
        <p:spPr>
          <a:xfrm>
            <a:off x="7818120" y="4224528"/>
            <a:ext cx="3127248" cy="685800"/>
          </a:xfrm>
          <a:prstGeom prst="roundRect">
            <a:avLst>
              <a:gd name="adj" fmla="val 16000"/>
            </a:avLst>
          </a:prstGeom>
          <a:solidFill>
            <a:srgbClr val="07101F">
              <a:alpha val="92000"/>
            </a:srgbClr>
          </a:solidFill>
          <a:ln w="12700">
            <a:solidFill>
              <a:srgbClr val="48CAE4">
                <a:alpha val="60000"/>
              </a:srgbClr>
            </a:solidFill>
            <a:prstDash val="solid"/>
          </a:ln>
          <a:effectLst>
            <a:outerShdw blurRad="25400" dist="50800" dir="2700000" algn="bl" rotWithShape="0">
              <a:srgbClr val="00EBDF">
                <a:alpha val="18000"/>
              </a:srgbClr>
            </a:outerShdw>
          </a:effectLst>
        </p:spPr>
        <p:txBody>
          <a:bodyPr/>
          <a:lstStyle/>
          <a:p>
            <a:endParaRPr lang="en-US"/>
          </a:p>
        </p:txBody>
      </p:sp>
      <p:sp>
        <p:nvSpPr>
          <p:cNvPr id="21" name="Text 17"/>
          <p:cNvSpPr/>
          <p:nvPr/>
        </p:nvSpPr>
        <p:spPr>
          <a:xfrm>
            <a:off x="7982712" y="4325112"/>
            <a:ext cx="2798064" cy="308610"/>
          </a:xfrm>
          <a:prstGeom prst="rect">
            <a:avLst/>
          </a:prstGeom>
          <a:noFill/>
          <a:ln/>
        </p:spPr>
        <p:txBody>
          <a:bodyPr wrap="square" lIns="0" tIns="0" rIns="0" bIns="0" rtlCol="0" anchor="ctr">
            <a:normAutofit fontScale="92500" lnSpcReduction="10000"/>
          </a:bodyPr>
          <a:lstStyle/>
          <a:p>
            <a:pPr marL="0" indent="0">
              <a:buNone/>
            </a:pPr>
            <a:r>
              <a:rPr lang="en-US" sz="2300" b="1" dirty="0">
                <a:solidFill>
                  <a:srgbClr val="48CAE4"/>
                </a:solidFill>
                <a:latin typeface="Segoe UI Semibold" pitchFamily="34" charset="0"/>
                <a:ea typeface="Segoe UI Semibold" pitchFamily="34" charset="-122"/>
                <a:cs typeface="Segoe UI Semibold" pitchFamily="34" charset="-120"/>
              </a:rPr>
              <a:t>+30%</a:t>
            </a:r>
            <a:endParaRPr lang="en-US" sz="2300" dirty="0"/>
          </a:p>
        </p:txBody>
      </p:sp>
      <p:sp>
        <p:nvSpPr>
          <p:cNvPr id="22" name="Text 18"/>
          <p:cNvSpPr/>
          <p:nvPr/>
        </p:nvSpPr>
        <p:spPr>
          <a:xfrm>
            <a:off x="8001000" y="4581144"/>
            <a:ext cx="2761488" cy="246888"/>
          </a:xfrm>
          <a:prstGeom prst="rect">
            <a:avLst/>
          </a:prstGeom>
          <a:noFill/>
          <a:ln/>
        </p:spPr>
        <p:txBody>
          <a:bodyPr wrap="square" lIns="0" tIns="0" rIns="0" bIns="0" rtlCol="0" anchor="ctr">
            <a:normAutofit/>
          </a:bodyPr>
          <a:lstStyle/>
          <a:p>
            <a:pPr marL="0" indent="0">
              <a:buNone/>
            </a:pPr>
            <a:r>
              <a:rPr lang="en-US" sz="880" dirty="0">
                <a:solidFill>
                  <a:srgbClr val="B5C7D9"/>
                </a:solidFill>
                <a:latin typeface="Segoe UI" pitchFamily="34" charset="0"/>
                <a:ea typeface="Segoe UI" pitchFamily="34" charset="-122"/>
                <a:cs typeface="Segoe UI" pitchFamily="34" charset="-120"/>
              </a:rPr>
              <a:t>Task overload</a:t>
            </a:r>
            <a:endParaRPr lang="en-US" sz="880" dirty="0"/>
          </a:p>
        </p:txBody>
      </p:sp>
      <p:sp>
        <p:nvSpPr>
          <p:cNvPr id="23" name="Text 19"/>
          <p:cNvSpPr/>
          <p:nvPr/>
        </p:nvSpPr>
        <p:spPr>
          <a:xfrm>
            <a:off x="7827264" y="5193792"/>
            <a:ext cx="3063240" cy="292608"/>
          </a:xfrm>
          <a:prstGeom prst="rect">
            <a:avLst/>
          </a:prstGeom>
          <a:noFill/>
          <a:ln/>
        </p:spPr>
        <p:txBody>
          <a:bodyPr wrap="square" lIns="0" tIns="0" rIns="0" bIns="0" rtlCol="0" anchor="ctr">
            <a:normAutofit/>
          </a:bodyPr>
          <a:lstStyle/>
          <a:p>
            <a:pPr marL="0" indent="0">
              <a:buNone/>
            </a:pPr>
            <a:r>
              <a:rPr lang="en-US" sz="950" dirty="0">
                <a:solidFill>
                  <a:srgbClr val="F5FBFF"/>
                </a:solidFill>
                <a:latin typeface="Segoe UI Semibold" pitchFamily="34" charset="0"/>
                <a:ea typeface="Segoe UI Semibold" pitchFamily="34" charset="-122"/>
                <a:cs typeface="Segoe UI Semibold" pitchFamily="34" charset="-120"/>
              </a:rPr>
              <a:t>Action: trigger proactive warnings when 6-month survival drops below 70%.</a:t>
            </a:r>
            <a:endParaRPr lang="en-US" sz="950" dirty="0"/>
          </a:p>
        </p:txBody>
      </p:sp>
      <p:sp>
        <p:nvSpPr>
          <p:cNvPr id="24" name="Shape 20"/>
          <p:cNvSpPr/>
          <p:nvPr/>
        </p:nvSpPr>
        <p:spPr>
          <a:xfrm>
            <a:off x="548640" y="6446520"/>
            <a:ext cx="11109960" cy="0"/>
          </a:xfrm>
          <a:prstGeom prst="line">
            <a:avLst/>
          </a:prstGeom>
          <a:noFill/>
          <a:ln w="15240">
            <a:solidFill>
              <a:srgbClr val="00EBDF">
                <a:alpha val="45000"/>
              </a:srgbClr>
            </a:solidFill>
            <a:prstDash val="solid"/>
          </a:ln>
        </p:spPr>
        <p:txBody>
          <a:bodyPr/>
          <a:lstStyle/>
          <a:p>
            <a:endParaRPr lang="en-US"/>
          </a:p>
        </p:txBody>
      </p:sp>
      <p:sp>
        <p:nvSpPr>
          <p:cNvPr id="25" name="Text 21"/>
          <p:cNvSpPr/>
          <p:nvPr/>
        </p:nvSpPr>
        <p:spPr>
          <a:xfrm>
            <a:off x="594360" y="6528816"/>
            <a:ext cx="4937760" cy="182880"/>
          </a:xfrm>
          <a:prstGeom prst="rect">
            <a:avLst/>
          </a:prstGeom>
          <a:noFill/>
          <a:ln/>
        </p:spPr>
        <p:txBody>
          <a:bodyPr wrap="square" lIns="0" tIns="0" rIns="0" bIns="0" rtlCol="0" anchor="ctr"/>
          <a:lstStyle/>
          <a:p>
            <a:pPr marL="0" indent="0">
              <a:buNone/>
            </a:pPr>
            <a:r>
              <a:rPr lang="en-US" sz="750" dirty="0">
                <a:solidFill>
                  <a:srgbClr val="6D7F96"/>
                </a:solidFill>
                <a:latin typeface="Segoe UI" pitchFamily="34" charset="0"/>
                <a:ea typeface="Segoe UI" pitchFamily="34" charset="-122"/>
                <a:cs typeface="Segoe UI" pitchFamily="34" charset="-120"/>
              </a:rPr>
              <a:t>AURELIUS Management OS</a:t>
            </a:r>
            <a:endParaRPr lang="en-US" sz="750" dirty="0"/>
          </a:p>
        </p:txBody>
      </p:sp>
      <p:sp>
        <p:nvSpPr>
          <p:cNvPr id="26" name="Text 22"/>
          <p:cNvSpPr/>
          <p:nvPr/>
        </p:nvSpPr>
        <p:spPr>
          <a:xfrm>
            <a:off x="11384280" y="6473952"/>
            <a:ext cx="320040" cy="228600"/>
          </a:xfrm>
          <a:prstGeom prst="rect">
            <a:avLst/>
          </a:prstGeom>
          <a:noFill/>
          <a:ln/>
        </p:spPr>
        <p:txBody>
          <a:bodyPr wrap="square" lIns="0" tIns="0" rIns="0" bIns="0" rtlCol="0" anchor="ctr"/>
          <a:lstStyle/>
          <a:p>
            <a:pPr marL="0" indent="0" algn="r">
              <a:buNone/>
            </a:pPr>
            <a:r>
              <a:rPr lang="en-US" sz="800" dirty="0">
                <a:solidFill>
                  <a:srgbClr val="00EBDF"/>
                </a:solidFill>
                <a:latin typeface="Segoe UI Semibold" pitchFamily="34" charset="0"/>
                <a:ea typeface="Segoe UI Semibold" pitchFamily="34" charset="-122"/>
                <a:cs typeface="Segoe UI Semibold" pitchFamily="34" charset="-120"/>
              </a:rPr>
              <a:t>05</a:t>
            </a:r>
            <a:endParaRPr lang="en-US" sz="800" dirty="0"/>
          </a:p>
        </p:txBody>
      </p:sp>
      <p:sp>
        <p:nvSpPr>
          <p:cNvPr id="27" name="TextBox 26"/>
          <p:cNvSpPr txBox="1"/>
          <p:nvPr/>
        </p:nvSpPr>
        <p:spPr>
          <a:xfrm>
            <a:off x="6309360" y="5989320"/>
            <a:ext cx="5212080" cy="256032"/>
          </a:xfrm>
          <a:prstGeom prst="rect">
            <a:avLst/>
          </a:prstGeom>
          <a:noFill/>
        </p:spPr>
        <p:txBody>
          <a:bodyPr wrap="none">
            <a:spAutoFit/>
          </a:bodyPr>
          <a:lstStyle/>
          <a:p>
            <a:pPr algn="r">
              <a:defRPr sz="869" i="1">
                <a:solidFill>
                  <a:srgbClr val="91AAC3"/>
                </a:solidFill>
              </a:defRPr>
            </a:pPr>
            <a:r>
              <a:t>(Cox, 1972; Maslach &amp; Leiter, 2016)</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0B132B"/>
        </a:solidFill>
        <a:effectLst/>
      </p:bgPr>
    </p:bg>
    <p:spTree>
      <p:nvGrpSpPr>
        <p:cNvPr id="1" name=""/>
        <p:cNvGrpSpPr/>
        <p:nvPr/>
      </p:nvGrpSpPr>
      <p:grpSpPr>
        <a:xfrm>
          <a:off x="0" y="0"/>
          <a:ext cx="0" cy="0"/>
          <a:chOff x="0" y="0"/>
          <a:chExt cx="0" cy="0"/>
        </a:xfrm>
      </p:grpSpPr>
      <p:pic>
        <p:nvPicPr>
          <p:cNvPr id="2" name="Image 0" descr="/mnt/data/a_high_resolution_abstract_data_visualization_sc_batch_6.png"/>
          <p:cNvPicPr>
            <a:picLocks noChangeAspect="1"/>
          </p:cNvPicPr>
          <p:nvPr/>
        </p:nvPicPr>
        <p:blipFill>
          <a:blip r:embed="rId3"/>
          <a:srcRect t="25" b="25"/>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B132B">
              <a:alpha val="63000"/>
            </a:srgbClr>
          </a:solidFill>
          <a:ln w="12700">
            <a:solidFill>
              <a:srgbClr val="333333">
                <a:alpha val="0"/>
              </a:srgbClr>
            </a:solidFill>
            <a:prstDash val="solid"/>
          </a:ln>
        </p:spPr>
        <p:txBody>
          <a:bodyPr/>
          <a:lstStyle/>
          <a:p>
            <a:endParaRPr lang="en-US"/>
          </a:p>
        </p:txBody>
      </p:sp>
      <p:sp>
        <p:nvSpPr>
          <p:cNvPr id="4" name="Shape 1"/>
          <p:cNvSpPr/>
          <p:nvPr/>
        </p:nvSpPr>
        <p:spPr>
          <a:xfrm>
            <a:off x="0" y="0"/>
            <a:ext cx="12191695" cy="6858000"/>
          </a:xfrm>
          <a:prstGeom prst="rect">
            <a:avLst/>
          </a:prstGeom>
          <a:solidFill>
            <a:srgbClr val="000000">
              <a:alpha val="32000"/>
            </a:srgbClr>
          </a:solidFill>
          <a:ln w="12700">
            <a:solidFill>
              <a:srgbClr val="333333">
                <a:alpha val="0"/>
              </a:srgbClr>
            </a:solidFill>
            <a:prstDash val="solid"/>
          </a:ln>
        </p:spPr>
        <p:txBody>
          <a:bodyPr/>
          <a:lstStyle/>
          <a:p>
            <a:endParaRPr lang="en-US"/>
          </a:p>
        </p:txBody>
      </p:sp>
      <p:sp>
        <p:nvSpPr>
          <p:cNvPr id="5" name="Text 2"/>
          <p:cNvSpPr/>
          <p:nvPr/>
        </p:nvSpPr>
        <p:spPr>
          <a:xfrm>
            <a:off x="658368" y="429768"/>
            <a:ext cx="5120640" cy="246888"/>
          </a:xfrm>
          <a:prstGeom prst="rect">
            <a:avLst/>
          </a:prstGeom>
          <a:noFill/>
          <a:ln/>
        </p:spPr>
        <p:txBody>
          <a:bodyPr wrap="square" lIns="0" tIns="0" rIns="0" bIns="0" rtlCol="0" anchor="ctr"/>
          <a:lstStyle/>
          <a:p>
            <a:pPr marL="0" indent="0">
              <a:buNone/>
            </a:pPr>
            <a:r>
              <a:rPr lang="en-US" sz="850" dirty="0">
                <a:solidFill>
                  <a:srgbClr val="00EBDF"/>
                </a:solidFill>
                <a:latin typeface="Segoe UI Semibold" pitchFamily="34" charset="0"/>
                <a:ea typeface="Segoe UI Semibold" pitchFamily="34" charset="-122"/>
                <a:cs typeface="Segoe UI Semibold" pitchFamily="34" charset="-120"/>
              </a:rPr>
              <a:t>ORGANIZATIONAL NETWORK ANALYSIS</a:t>
            </a:r>
            <a:endParaRPr lang="en-US" sz="850" dirty="0"/>
          </a:p>
        </p:txBody>
      </p:sp>
      <p:sp>
        <p:nvSpPr>
          <p:cNvPr id="6" name="Text 3"/>
          <p:cNvSpPr/>
          <p:nvPr/>
        </p:nvSpPr>
        <p:spPr>
          <a:xfrm>
            <a:off x="658368" y="713232"/>
            <a:ext cx="7680960" cy="493776"/>
          </a:xfrm>
          <a:prstGeom prst="rect">
            <a:avLst/>
          </a:prstGeom>
          <a:noFill/>
          <a:ln/>
        </p:spPr>
        <p:txBody>
          <a:bodyPr wrap="square" lIns="0" tIns="0" rIns="0" bIns="0" rtlCol="0" anchor="ctr">
            <a:normAutofit/>
          </a:bodyPr>
          <a:lstStyle/>
          <a:p>
            <a:pPr marL="0" indent="0">
              <a:buNone/>
            </a:pPr>
            <a:r>
              <a:rPr lang="en-US" sz="2700" b="1" dirty="0">
                <a:solidFill>
                  <a:srgbClr val="F5FBFF"/>
                </a:solidFill>
                <a:latin typeface="Segoe UI Semibold" pitchFamily="34" charset="0"/>
                <a:ea typeface="Segoe UI Semibold" pitchFamily="34" charset="-122"/>
                <a:cs typeface="Segoe UI Semibold" pitchFamily="34" charset="-120"/>
              </a:rPr>
              <a:t>ONA Reveals the Real Collaboration Graph</a:t>
            </a:r>
            <a:endParaRPr lang="en-US" sz="2700" dirty="0"/>
          </a:p>
        </p:txBody>
      </p:sp>
      <p:sp>
        <p:nvSpPr>
          <p:cNvPr id="7" name="Text 4"/>
          <p:cNvSpPr/>
          <p:nvPr/>
        </p:nvSpPr>
        <p:spPr>
          <a:xfrm>
            <a:off x="676656" y="1225296"/>
            <a:ext cx="7452360" cy="310896"/>
          </a:xfrm>
          <a:prstGeom prst="rect">
            <a:avLst/>
          </a:prstGeom>
          <a:noFill/>
          <a:ln/>
        </p:spPr>
        <p:txBody>
          <a:bodyPr wrap="square" lIns="0" tIns="0" rIns="0" bIns="0" rtlCol="0" anchor="ctr">
            <a:normAutofit/>
          </a:bodyPr>
          <a:lstStyle/>
          <a:p>
            <a:pPr marL="0" indent="0">
              <a:buNone/>
            </a:pPr>
            <a:r>
              <a:rPr lang="en-US" sz="1250" dirty="0">
                <a:solidFill>
                  <a:srgbClr val="B5C7D9"/>
                </a:solidFill>
                <a:latin typeface="Segoe UI" pitchFamily="34" charset="0"/>
                <a:ea typeface="Segoe UI" pitchFamily="34" charset="-122"/>
                <a:cs typeface="Segoe UI" pitchFamily="34" charset="-120"/>
              </a:rPr>
              <a:t>Hierarchy shows reporting lines; ONA shows how work and knowledge actually move.</a:t>
            </a:r>
            <a:endParaRPr lang="en-US" sz="1250" dirty="0"/>
          </a:p>
        </p:txBody>
      </p:sp>
      <p:sp>
        <p:nvSpPr>
          <p:cNvPr id="8" name="Shape 5"/>
          <p:cNvSpPr/>
          <p:nvPr/>
        </p:nvSpPr>
        <p:spPr>
          <a:xfrm>
            <a:off x="658368" y="4617720"/>
            <a:ext cx="10927080" cy="1097280"/>
          </a:xfrm>
          <a:prstGeom prst="roundRect">
            <a:avLst>
              <a:gd name="adj" fmla="val 10000"/>
            </a:avLst>
          </a:prstGeom>
          <a:solidFill>
            <a:srgbClr val="020916">
              <a:alpha val="88000"/>
            </a:srgbClr>
          </a:solidFill>
          <a:ln w="12700">
            <a:solidFill>
              <a:srgbClr val="00EBDF">
                <a:alpha val="35000"/>
              </a:srgbClr>
            </a:solidFill>
            <a:prstDash val="solid"/>
          </a:ln>
          <a:effectLst>
            <a:outerShdw blurRad="25400" dist="50800" dir="2700000" algn="bl" rotWithShape="0">
              <a:srgbClr val="00EBDF">
                <a:alpha val="18000"/>
              </a:srgbClr>
            </a:outerShdw>
          </a:effectLst>
        </p:spPr>
        <p:txBody>
          <a:bodyPr/>
          <a:lstStyle/>
          <a:p>
            <a:endParaRPr lang="en-US"/>
          </a:p>
        </p:txBody>
      </p:sp>
      <p:sp>
        <p:nvSpPr>
          <p:cNvPr id="9" name="Text 6"/>
          <p:cNvSpPr/>
          <p:nvPr/>
        </p:nvSpPr>
        <p:spPr>
          <a:xfrm>
            <a:off x="932688" y="4828032"/>
            <a:ext cx="2286000" cy="219456"/>
          </a:xfrm>
          <a:prstGeom prst="rect">
            <a:avLst/>
          </a:prstGeom>
          <a:noFill/>
          <a:ln/>
        </p:spPr>
        <p:txBody>
          <a:bodyPr wrap="square" lIns="0" tIns="0" rIns="0" bIns="0" rtlCol="0" anchor="ctr">
            <a:normAutofit/>
          </a:bodyPr>
          <a:lstStyle/>
          <a:p>
            <a:pPr marL="0" indent="0">
              <a:buNone/>
            </a:pPr>
            <a:r>
              <a:rPr lang="en-US" sz="1400" dirty="0">
                <a:solidFill>
                  <a:srgbClr val="00EBDF"/>
                </a:solidFill>
                <a:latin typeface="Segoe UI Semibold" pitchFamily="34" charset="0"/>
                <a:ea typeface="Segoe UI Semibold" pitchFamily="34" charset="-122"/>
                <a:cs typeface="Segoe UI Semibold" pitchFamily="34" charset="-120"/>
              </a:rPr>
              <a:t>PageRank</a:t>
            </a:r>
            <a:endParaRPr lang="en-US" sz="1400" dirty="0"/>
          </a:p>
        </p:txBody>
      </p:sp>
      <p:sp>
        <p:nvSpPr>
          <p:cNvPr id="10" name="Text 7"/>
          <p:cNvSpPr/>
          <p:nvPr/>
        </p:nvSpPr>
        <p:spPr>
          <a:xfrm>
            <a:off x="932688" y="5138928"/>
            <a:ext cx="2880360" cy="274320"/>
          </a:xfrm>
          <a:prstGeom prst="rect">
            <a:avLst/>
          </a:prstGeom>
          <a:noFill/>
          <a:ln/>
        </p:spPr>
        <p:txBody>
          <a:bodyPr wrap="square" lIns="0" tIns="0" rIns="0" bIns="0" rtlCol="0" anchor="ctr">
            <a:normAutofit/>
          </a:bodyPr>
          <a:lstStyle/>
          <a:p>
            <a:pPr marL="0" indent="0">
              <a:buNone/>
            </a:pPr>
            <a:r>
              <a:rPr lang="en-US" sz="920" dirty="0">
                <a:solidFill>
                  <a:srgbClr val="B5C7D9"/>
                </a:solidFill>
                <a:latin typeface="Segoe UI" pitchFamily="34" charset="0"/>
                <a:ea typeface="Segoe UI" pitchFamily="34" charset="-122"/>
                <a:cs typeface="Segoe UI" pitchFamily="34" charset="-120"/>
              </a:rPr>
              <a:t>Finds internal influence and knowledge leaders.</a:t>
            </a:r>
            <a:endParaRPr lang="en-US" sz="920" dirty="0"/>
          </a:p>
        </p:txBody>
      </p:sp>
      <p:sp>
        <p:nvSpPr>
          <p:cNvPr id="11" name="Text 8"/>
          <p:cNvSpPr/>
          <p:nvPr/>
        </p:nvSpPr>
        <p:spPr>
          <a:xfrm>
            <a:off x="4480560" y="4828032"/>
            <a:ext cx="2286000" cy="219456"/>
          </a:xfrm>
          <a:prstGeom prst="rect">
            <a:avLst/>
          </a:prstGeom>
          <a:noFill/>
          <a:ln/>
        </p:spPr>
        <p:txBody>
          <a:bodyPr wrap="square" lIns="0" tIns="0" rIns="0" bIns="0" rtlCol="0" anchor="ctr">
            <a:normAutofit/>
          </a:bodyPr>
          <a:lstStyle/>
          <a:p>
            <a:pPr marL="0" indent="0">
              <a:buNone/>
            </a:pPr>
            <a:r>
              <a:rPr lang="en-US" sz="1400" dirty="0">
                <a:solidFill>
                  <a:srgbClr val="48CAE4"/>
                </a:solidFill>
                <a:latin typeface="Segoe UI Semibold" pitchFamily="34" charset="0"/>
                <a:ea typeface="Segoe UI Semibold" pitchFamily="34" charset="-122"/>
                <a:cs typeface="Segoe UI Semibold" pitchFamily="34" charset="-120"/>
              </a:rPr>
              <a:t>Betweenness</a:t>
            </a:r>
            <a:endParaRPr lang="en-US" sz="1400" dirty="0"/>
          </a:p>
        </p:txBody>
      </p:sp>
      <p:sp>
        <p:nvSpPr>
          <p:cNvPr id="12" name="Text 9"/>
          <p:cNvSpPr/>
          <p:nvPr/>
        </p:nvSpPr>
        <p:spPr>
          <a:xfrm>
            <a:off x="4480560" y="5138928"/>
            <a:ext cx="2880360" cy="274320"/>
          </a:xfrm>
          <a:prstGeom prst="rect">
            <a:avLst/>
          </a:prstGeom>
          <a:noFill/>
          <a:ln/>
        </p:spPr>
        <p:txBody>
          <a:bodyPr wrap="square" lIns="0" tIns="0" rIns="0" bIns="0" rtlCol="0" anchor="ctr">
            <a:normAutofit/>
          </a:bodyPr>
          <a:lstStyle/>
          <a:p>
            <a:pPr marL="0" indent="0">
              <a:buNone/>
            </a:pPr>
            <a:r>
              <a:rPr lang="en-US" sz="920" dirty="0">
                <a:solidFill>
                  <a:srgbClr val="B5C7D9"/>
                </a:solidFill>
                <a:latin typeface="Segoe UI" pitchFamily="34" charset="0"/>
                <a:ea typeface="Segoe UI" pitchFamily="34" charset="-122"/>
                <a:cs typeface="Segoe UI" pitchFamily="34" charset="-120"/>
              </a:rPr>
              <a:t>Locates bridge employees connecting silos.</a:t>
            </a:r>
            <a:endParaRPr lang="en-US" sz="920" dirty="0"/>
          </a:p>
        </p:txBody>
      </p:sp>
      <p:sp>
        <p:nvSpPr>
          <p:cNvPr id="13" name="Text 10"/>
          <p:cNvSpPr/>
          <p:nvPr/>
        </p:nvSpPr>
        <p:spPr>
          <a:xfrm>
            <a:off x="8028432" y="4828032"/>
            <a:ext cx="2286000" cy="219456"/>
          </a:xfrm>
          <a:prstGeom prst="rect">
            <a:avLst/>
          </a:prstGeom>
          <a:noFill/>
          <a:ln/>
        </p:spPr>
        <p:txBody>
          <a:bodyPr wrap="square" lIns="0" tIns="0" rIns="0" bIns="0" rtlCol="0" anchor="ctr">
            <a:normAutofit/>
          </a:bodyPr>
          <a:lstStyle/>
          <a:p>
            <a:pPr marL="0" indent="0">
              <a:buNone/>
            </a:pPr>
            <a:r>
              <a:rPr lang="en-US" sz="1400" dirty="0">
                <a:solidFill>
                  <a:srgbClr val="8E7CFF"/>
                </a:solidFill>
                <a:latin typeface="Segoe UI Semibold" pitchFamily="34" charset="0"/>
                <a:ea typeface="Segoe UI Semibold" pitchFamily="34" charset="-122"/>
                <a:cs typeface="Segoe UI Semibold" pitchFamily="34" charset="-120"/>
              </a:rPr>
              <a:t>Silo mapping</a:t>
            </a:r>
            <a:endParaRPr lang="en-US" sz="1400" dirty="0"/>
          </a:p>
        </p:txBody>
      </p:sp>
      <p:sp>
        <p:nvSpPr>
          <p:cNvPr id="14" name="Text 11"/>
          <p:cNvSpPr/>
          <p:nvPr/>
        </p:nvSpPr>
        <p:spPr>
          <a:xfrm>
            <a:off x="8028432" y="5138928"/>
            <a:ext cx="2880360" cy="274320"/>
          </a:xfrm>
          <a:prstGeom prst="rect">
            <a:avLst/>
          </a:prstGeom>
          <a:noFill/>
          <a:ln/>
        </p:spPr>
        <p:txBody>
          <a:bodyPr wrap="square" lIns="0" tIns="0" rIns="0" bIns="0" rtlCol="0" anchor="ctr">
            <a:normAutofit/>
          </a:bodyPr>
          <a:lstStyle/>
          <a:p>
            <a:pPr marL="0" indent="0">
              <a:buNone/>
            </a:pPr>
            <a:r>
              <a:rPr lang="en-US" sz="920" dirty="0">
                <a:solidFill>
                  <a:srgbClr val="B5C7D9"/>
                </a:solidFill>
                <a:latin typeface="Segoe UI" pitchFamily="34" charset="0"/>
                <a:ea typeface="Segoe UI" pitchFamily="34" charset="-122"/>
                <a:cs typeface="Segoe UI" pitchFamily="34" charset="-120"/>
              </a:rPr>
              <a:t>Exposes isolated departments hidden by org charts.</a:t>
            </a:r>
            <a:endParaRPr lang="en-US" sz="920" dirty="0"/>
          </a:p>
        </p:txBody>
      </p:sp>
      <p:sp>
        <p:nvSpPr>
          <p:cNvPr id="15" name="Shape 12"/>
          <p:cNvSpPr/>
          <p:nvPr/>
        </p:nvSpPr>
        <p:spPr>
          <a:xfrm>
            <a:off x="685800" y="1691640"/>
            <a:ext cx="3383280" cy="2240280"/>
          </a:xfrm>
          <a:prstGeom prst="roundRect">
            <a:avLst>
              <a:gd name="adj" fmla="val 4898"/>
            </a:avLst>
          </a:prstGeom>
          <a:solidFill>
            <a:srgbClr val="020916">
              <a:alpha val="82000"/>
            </a:srgbClr>
          </a:solidFill>
          <a:ln w="12700">
            <a:solidFill>
              <a:srgbClr val="00EBDF">
                <a:alpha val="28000"/>
              </a:srgbClr>
            </a:solidFill>
            <a:prstDash val="solid"/>
          </a:ln>
          <a:effectLst>
            <a:outerShdw blurRad="25400" dist="50800" dir="2700000" algn="bl" rotWithShape="0">
              <a:srgbClr val="00EBDF">
                <a:alpha val="18000"/>
              </a:srgbClr>
            </a:outerShdw>
          </a:effectLst>
        </p:spPr>
        <p:txBody>
          <a:bodyPr/>
          <a:lstStyle/>
          <a:p>
            <a:endParaRPr lang="en-US"/>
          </a:p>
        </p:txBody>
      </p:sp>
      <p:sp>
        <p:nvSpPr>
          <p:cNvPr id="16" name="Text 13"/>
          <p:cNvSpPr/>
          <p:nvPr/>
        </p:nvSpPr>
        <p:spPr>
          <a:xfrm>
            <a:off x="932688" y="1938528"/>
            <a:ext cx="2514600" cy="237744"/>
          </a:xfrm>
          <a:prstGeom prst="rect">
            <a:avLst/>
          </a:prstGeom>
          <a:noFill/>
          <a:ln/>
        </p:spPr>
        <p:txBody>
          <a:bodyPr wrap="square" lIns="0" tIns="0" rIns="0" bIns="0" rtlCol="0" anchor="ctr"/>
          <a:lstStyle/>
          <a:p>
            <a:pPr marL="0" indent="0">
              <a:buNone/>
            </a:pPr>
            <a:r>
              <a:rPr lang="en-US" sz="1400" dirty="0">
                <a:solidFill>
                  <a:srgbClr val="F5FBFF"/>
                </a:solidFill>
                <a:latin typeface="Segoe UI Semibold" pitchFamily="34" charset="0"/>
                <a:ea typeface="Segoe UI Semibold" pitchFamily="34" charset="-122"/>
                <a:cs typeface="Segoe UI Semibold" pitchFamily="34" charset="-120"/>
              </a:rPr>
              <a:t>Mathematical graph metrics</a:t>
            </a:r>
            <a:endParaRPr lang="en-US" sz="1400" dirty="0"/>
          </a:p>
        </p:txBody>
      </p:sp>
      <p:sp>
        <p:nvSpPr>
          <p:cNvPr id="17" name="Text 14"/>
          <p:cNvSpPr/>
          <p:nvPr/>
        </p:nvSpPr>
        <p:spPr>
          <a:xfrm>
            <a:off x="932688" y="2359152"/>
            <a:ext cx="2761488" cy="950976"/>
          </a:xfrm>
          <a:prstGeom prst="rect">
            <a:avLst/>
          </a:prstGeom>
          <a:noFill/>
          <a:ln/>
        </p:spPr>
        <p:txBody>
          <a:bodyPr wrap="square" lIns="254" tIns="254" rIns="254" bIns="254" rtlCol="0" anchor="ctr">
            <a:normAutofit/>
          </a:bodyPr>
          <a:lstStyle/>
          <a:p>
            <a:pPr marL="0" indent="0">
              <a:buNone/>
            </a:pPr>
            <a:r>
              <a:rPr lang="en-US" sz="1100" dirty="0">
                <a:solidFill>
                  <a:srgbClr val="B5C7D9"/>
                </a:solidFill>
                <a:latin typeface="Segoe UI" pitchFamily="34" charset="0"/>
                <a:ea typeface="Segoe UI" pitchFamily="34" charset="-122"/>
                <a:cs typeface="Segoe UI" pitchFamily="34" charset="-120"/>
              </a:rPr>
              <a:t>• PageRank power iteration</a:t>
            </a:r>
            <a:endParaRPr lang="en-US" sz="1100" dirty="0"/>
          </a:p>
          <a:p>
            <a:pPr marL="0" indent="0">
              <a:buNone/>
            </a:pPr>
            <a:r>
              <a:rPr lang="en-US" sz="1100" dirty="0">
                <a:solidFill>
                  <a:srgbClr val="B5C7D9"/>
                </a:solidFill>
                <a:latin typeface="Segoe UI" pitchFamily="34" charset="0"/>
                <a:ea typeface="Segoe UI" pitchFamily="34" charset="-122"/>
                <a:cs typeface="Segoe UI" pitchFamily="34" charset="-120"/>
              </a:rPr>
              <a:t>• Brandes betweenness centrality</a:t>
            </a:r>
            <a:endParaRPr lang="en-US" sz="1100" dirty="0"/>
          </a:p>
          <a:p>
            <a:pPr marL="0" indent="0">
              <a:buNone/>
            </a:pPr>
            <a:r>
              <a:rPr lang="en-US" sz="1100" dirty="0">
                <a:solidFill>
                  <a:srgbClr val="B5C7D9"/>
                </a:solidFill>
                <a:latin typeface="Segoe UI" pitchFamily="34" charset="0"/>
                <a:ea typeface="Segoe UI" pitchFamily="34" charset="-122"/>
                <a:cs typeface="Segoe UI" pitchFamily="34" charset="-120"/>
              </a:rPr>
              <a:t>• Organic collaboration edges</a:t>
            </a:r>
            <a:endParaRPr lang="en-US" sz="1100" dirty="0"/>
          </a:p>
          <a:p>
            <a:pPr marL="0" indent="0">
              <a:buNone/>
            </a:pPr>
            <a:r>
              <a:rPr lang="en-US" sz="1100" dirty="0">
                <a:solidFill>
                  <a:srgbClr val="B5C7D9"/>
                </a:solidFill>
                <a:latin typeface="Segoe UI" pitchFamily="34" charset="0"/>
                <a:ea typeface="Segoe UI" pitchFamily="34" charset="-122"/>
                <a:cs typeface="Segoe UI" pitchFamily="34" charset="-120"/>
              </a:rPr>
              <a:t>• Mentor and bottleneck discovery</a:t>
            </a:r>
            <a:endParaRPr lang="en-US" sz="1100" dirty="0"/>
          </a:p>
        </p:txBody>
      </p:sp>
      <p:sp>
        <p:nvSpPr>
          <p:cNvPr id="18" name="Shape 15"/>
          <p:cNvSpPr/>
          <p:nvPr/>
        </p:nvSpPr>
        <p:spPr>
          <a:xfrm>
            <a:off x="548640" y="6446520"/>
            <a:ext cx="11109960" cy="0"/>
          </a:xfrm>
          <a:prstGeom prst="line">
            <a:avLst/>
          </a:prstGeom>
          <a:noFill/>
          <a:ln w="15240">
            <a:solidFill>
              <a:srgbClr val="00EBDF">
                <a:alpha val="45000"/>
              </a:srgbClr>
            </a:solidFill>
            <a:prstDash val="solid"/>
          </a:ln>
        </p:spPr>
        <p:txBody>
          <a:bodyPr/>
          <a:lstStyle/>
          <a:p>
            <a:endParaRPr lang="en-US"/>
          </a:p>
        </p:txBody>
      </p:sp>
      <p:sp>
        <p:nvSpPr>
          <p:cNvPr id="19" name="Text 16"/>
          <p:cNvSpPr/>
          <p:nvPr/>
        </p:nvSpPr>
        <p:spPr>
          <a:xfrm>
            <a:off x="594360" y="6528816"/>
            <a:ext cx="4937760" cy="182880"/>
          </a:xfrm>
          <a:prstGeom prst="rect">
            <a:avLst/>
          </a:prstGeom>
          <a:noFill/>
          <a:ln/>
        </p:spPr>
        <p:txBody>
          <a:bodyPr wrap="square" lIns="0" tIns="0" rIns="0" bIns="0" rtlCol="0" anchor="ctr"/>
          <a:lstStyle/>
          <a:p>
            <a:pPr marL="0" indent="0">
              <a:buNone/>
            </a:pPr>
            <a:r>
              <a:rPr lang="en-US" sz="750" dirty="0">
                <a:solidFill>
                  <a:srgbClr val="6D7F96"/>
                </a:solidFill>
                <a:latin typeface="Segoe UI" pitchFamily="34" charset="0"/>
                <a:ea typeface="Segoe UI" pitchFamily="34" charset="-122"/>
                <a:cs typeface="Segoe UI" pitchFamily="34" charset="-120"/>
              </a:rPr>
              <a:t>AURELIUS Management OS</a:t>
            </a:r>
            <a:endParaRPr lang="en-US" sz="750" dirty="0"/>
          </a:p>
        </p:txBody>
      </p:sp>
      <p:sp>
        <p:nvSpPr>
          <p:cNvPr id="20" name="Text 17"/>
          <p:cNvSpPr/>
          <p:nvPr/>
        </p:nvSpPr>
        <p:spPr>
          <a:xfrm>
            <a:off x="11384280" y="6473952"/>
            <a:ext cx="320040" cy="228600"/>
          </a:xfrm>
          <a:prstGeom prst="rect">
            <a:avLst/>
          </a:prstGeom>
          <a:noFill/>
          <a:ln/>
        </p:spPr>
        <p:txBody>
          <a:bodyPr wrap="square" lIns="0" tIns="0" rIns="0" bIns="0" rtlCol="0" anchor="ctr"/>
          <a:lstStyle/>
          <a:p>
            <a:pPr marL="0" indent="0" algn="r">
              <a:buNone/>
            </a:pPr>
            <a:r>
              <a:rPr lang="en-US" sz="800" dirty="0">
                <a:solidFill>
                  <a:srgbClr val="00EBDF"/>
                </a:solidFill>
                <a:latin typeface="Segoe UI Semibold" pitchFamily="34" charset="0"/>
                <a:ea typeface="Segoe UI Semibold" pitchFamily="34" charset="-122"/>
                <a:cs typeface="Segoe UI Semibold" pitchFamily="34" charset="-120"/>
              </a:rPr>
              <a:t>06</a:t>
            </a:r>
            <a:endParaRPr lang="en-US" sz="800" dirty="0"/>
          </a:p>
        </p:txBody>
      </p:sp>
      <p:sp>
        <p:nvSpPr>
          <p:cNvPr id="21" name="TextBox 20"/>
          <p:cNvSpPr txBox="1"/>
          <p:nvPr/>
        </p:nvSpPr>
        <p:spPr>
          <a:xfrm>
            <a:off x="6309360" y="5989320"/>
            <a:ext cx="5212080" cy="256032"/>
          </a:xfrm>
          <a:prstGeom prst="rect">
            <a:avLst/>
          </a:prstGeom>
          <a:noFill/>
        </p:spPr>
        <p:txBody>
          <a:bodyPr wrap="none">
            <a:spAutoFit/>
          </a:bodyPr>
          <a:lstStyle/>
          <a:p>
            <a:pPr algn="r">
              <a:defRPr sz="869" i="1">
                <a:solidFill>
                  <a:srgbClr val="91AAC3"/>
                </a:solidFill>
              </a:defRPr>
            </a:pPr>
            <a:r>
              <a:t>(Brin &amp; Page, 1998; Brandes, 2001)</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0B132B"/>
        </a:solidFill>
        <a:effectLst/>
      </p:bgPr>
    </p:bg>
    <p:spTree>
      <p:nvGrpSpPr>
        <p:cNvPr id="1" name=""/>
        <p:cNvGrpSpPr/>
        <p:nvPr/>
      </p:nvGrpSpPr>
      <p:grpSpPr>
        <a:xfrm>
          <a:off x="0" y="0"/>
          <a:ext cx="0" cy="0"/>
          <a:chOff x="0" y="0"/>
          <a:chExt cx="0" cy="0"/>
        </a:xfrm>
      </p:grpSpPr>
      <p:pic>
        <p:nvPicPr>
          <p:cNvPr id="2" name="Image 0" descr="/mnt/data/a_high_detail_futuristic_sci_fi_data_visualizati_batch_7.png"/>
          <p:cNvPicPr>
            <a:picLocks noChangeAspect="1"/>
          </p:cNvPicPr>
          <p:nvPr/>
        </p:nvPicPr>
        <p:blipFill>
          <a:blip r:embed="rId3"/>
          <a:srcRect t="25" b="25"/>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B132B">
              <a:alpha val="70000"/>
            </a:srgbClr>
          </a:solidFill>
          <a:ln w="12700">
            <a:solidFill>
              <a:srgbClr val="333333">
                <a:alpha val="0"/>
              </a:srgbClr>
            </a:solidFill>
            <a:prstDash val="solid"/>
          </a:ln>
        </p:spPr>
        <p:txBody>
          <a:bodyPr/>
          <a:lstStyle/>
          <a:p>
            <a:endParaRPr lang="en-US"/>
          </a:p>
        </p:txBody>
      </p:sp>
      <p:sp>
        <p:nvSpPr>
          <p:cNvPr id="4" name="Shape 1"/>
          <p:cNvSpPr/>
          <p:nvPr/>
        </p:nvSpPr>
        <p:spPr>
          <a:xfrm>
            <a:off x="0" y="0"/>
            <a:ext cx="12191695" cy="6858000"/>
          </a:xfrm>
          <a:prstGeom prst="rect">
            <a:avLst/>
          </a:prstGeom>
          <a:solidFill>
            <a:srgbClr val="000000">
              <a:alpha val="32000"/>
            </a:srgbClr>
          </a:solidFill>
          <a:ln w="12700">
            <a:solidFill>
              <a:srgbClr val="333333">
                <a:alpha val="0"/>
              </a:srgbClr>
            </a:solidFill>
            <a:prstDash val="solid"/>
          </a:ln>
        </p:spPr>
        <p:txBody>
          <a:bodyPr/>
          <a:lstStyle/>
          <a:p>
            <a:endParaRPr lang="en-US"/>
          </a:p>
        </p:txBody>
      </p:sp>
      <p:sp>
        <p:nvSpPr>
          <p:cNvPr id="5" name="Text 2"/>
          <p:cNvSpPr/>
          <p:nvPr/>
        </p:nvSpPr>
        <p:spPr>
          <a:xfrm>
            <a:off x="658368" y="429768"/>
            <a:ext cx="5120640" cy="246888"/>
          </a:xfrm>
          <a:prstGeom prst="rect">
            <a:avLst/>
          </a:prstGeom>
          <a:noFill/>
          <a:ln/>
        </p:spPr>
        <p:txBody>
          <a:bodyPr wrap="square" lIns="0" tIns="0" rIns="0" bIns="0" rtlCol="0" anchor="ctr"/>
          <a:lstStyle/>
          <a:p>
            <a:pPr marL="0" indent="0">
              <a:buNone/>
            </a:pPr>
            <a:r>
              <a:rPr lang="en-US" sz="850" dirty="0">
                <a:solidFill>
                  <a:srgbClr val="00EBDF"/>
                </a:solidFill>
                <a:latin typeface="Segoe UI Semibold" pitchFamily="34" charset="0"/>
                <a:ea typeface="Segoe UI Semibold" pitchFamily="34" charset="-122"/>
                <a:cs typeface="Segoe UI Semibold" pitchFamily="34" charset="-120"/>
              </a:rPr>
              <a:t>HEURISTIC TEAM ASSEMBLY</a:t>
            </a:r>
            <a:endParaRPr lang="en-US" sz="850" dirty="0"/>
          </a:p>
        </p:txBody>
      </p:sp>
      <p:sp>
        <p:nvSpPr>
          <p:cNvPr id="6" name="Text 3"/>
          <p:cNvSpPr/>
          <p:nvPr/>
        </p:nvSpPr>
        <p:spPr>
          <a:xfrm>
            <a:off x="658368" y="713232"/>
            <a:ext cx="7680960" cy="493776"/>
          </a:xfrm>
          <a:prstGeom prst="rect">
            <a:avLst/>
          </a:prstGeom>
          <a:noFill/>
          <a:ln/>
        </p:spPr>
        <p:txBody>
          <a:bodyPr wrap="square" lIns="0" tIns="0" rIns="0" bIns="0" rtlCol="0" anchor="ctr">
            <a:normAutofit/>
          </a:bodyPr>
          <a:lstStyle/>
          <a:p>
            <a:pPr marL="0" indent="0">
              <a:buNone/>
            </a:pPr>
            <a:r>
              <a:rPr lang="en-US" sz="2700" b="1" dirty="0">
                <a:solidFill>
                  <a:srgbClr val="F5FBFF"/>
                </a:solidFill>
                <a:latin typeface="Segoe UI Semibold" pitchFamily="34" charset="0"/>
                <a:ea typeface="Segoe UI Semibold" pitchFamily="34" charset="-122"/>
                <a:cs typeface="Segoe UI Semibold" pitchFamily="34" charset="-120"/>
              </a:rPr>
              <a:t>Simulated Annealing for Optimal Teams</a:t>
            </a:r>
            <a:endParaRPr lang="en-US" sz="2700" dirty="0"/>
          </a:p>
        </p:txBody>
      </p:sp>
      <p:sp>
        <p:nvSpPr>
          <p:cNvPr id="7" name="Text 4"/>
          <p:cNvSpPr/>
          <p:nvPr/>
        </p:nvSpPr>
        <p:spPr>
          <a:xfrm>
            <a:off x="676656" y="1225296"/>
            <a:ext cx="7452360" cy="310896"/>
          </a:xfrm>
          <a:prstGeom prst="rect">
            <a:avLst/>
          </a:prstGeom>
          <a:noFill/>
          <a:ln/>
        </p:spPr>
        <p:txBody>
          <a:bodyPr wrap="square" lIns="0" tIns="0" rIns="0" bIns="0" rtlCol="0" anchor="ctr">
            <a:normAutofit/>
          </a:bodyPr>
          <a:lstStyle/>
          <a:p>
            <a:pPr marL="0" indent="0">
              <a:buNone/>
            </a:pPr>
            <a:r>
              <a:rPr lang="en-US" sz="1250" dirty="0">
                <a:solidFill>
                  <a:srgbClr val="B5C7D9"/>
                </a:solidFill>
                <a:latin typeface="Segoe UI" pitchFamily="34" charset="0"/>
                <a:ea typeface="Segoe UI" pitchFamily="34" charset="-122"/>
                <a:cs typeface="Segoe UI" pitchFamily="34" charset="-120"/>
              </a:rPr>
              <a:t>Solves hard combinatorial selection without brute-force search.</a:t>
            </a:r>
            <a:endParaRPr lang="en-US" sz="1250" dirty="0"/>
          </a:p>
        </p:txBody>
      </p:sp>
      <p:sp>
        <p:nvSpPr>
          <p:cNvPr id="8" name="Shape 5"/>
          <p:cNvSpPr/>
          <p:nvPr/>
        </p:nvSpPr>
        <p:spPr>
          <a:xfrm>
            <a:off x="658368" y="1755648"/>
            <a:ext cx="3886200" cy="4069080"/>
          </a:xfrm>
          <a:prstGeom prst="roundRect">
            <a:avLst>
              <a:gd name="adj" fmla="val 2824"/>
            </a:avLst>
          </a:prstGeom>
          <a:solidFill>
            <a:srgbClr val="020916">
              <a:alpha val="91000"/>
            </a:srgbClr>
          </a:solidFill>
          <a:ln w="12700">
            <a:solidFill>
              <a:srgbClr val="00EBDF">
                <a:alpha val="35000"/>
              </a:srgbClr>
            </a:solidFill>
            <a:prstDash val="solid"/>
          </a:ln>
          <a:effectLst>
            <a:outerShdw blurRad="25400" dist="50800" dir="2700000" algn="bl" rotWithShape="0">
              <a:srgbClr val="00EBDF">
                <a:alpha val="18000"/>
              </a:srgbClr>
            </a:outerShdw>
          </a:effectLst>
        </p:spPr>
        <p:txBody>
          <a:bodyPr/>
          <a:lstStyle/>
          <a:p>
            <a:endParaRPr lang="en-US"/>
          </a:p>
        </p:txBody>
      </p:sp>
      <p:sp>
        <p:nvSpPr>
          <p:cNvPr id="9" name="Shape 6"/>
          <p:cNvSpPr/>
          <p:nvPr/>
        </p:nvSpPr>
        <p:spPr>
          <a:xfrm>
            <a:off x="932688" y="2029968"/>
            <a:ext cx="3246120" cy="822960"/>
          </a:xfrm>
          <a:prstGeom prst="roundRect">
            <a:avLst>
              <a:gd name="adj" fmla="val 13333"/>
            </a:avLst>
          </a:prstGeom>
          <a:solidFill>
            <a:srgbClr val="07101F">
              <a:alpha val="92000"/>
            </a:srgbClr>
          </a:solidFill>
          <a:ln w="12700">
            <a:solidFill>
              <a:srgbClr val="FFB545">
                <a:alpha val="60000"/>
              </a:srgbClr>
            </a:solidFill>
            <a:prstDash val="solid"/>
          </a:ln>
          <a:effectLst>
            <a:outerShdw blurRad="25400" dist="50800" dir="2700000" algn="bl" rotWithShape="0">
              <a:srgbClr val="00EBDF">
                <a:alpha val="18000"/>
              </a:srgbClr>
            </a:outerShdw>
          </a:effectLst>
        </p:spPr>
        <p:txBody>
          <a:bodyPr/>
          <a:lstStyle/>
          <a:p>
            <a:endParaRPr lang="en-US"/>
          </a:p>
        </p:txBody>
      </p:sp>
      <p:sp>
        <p:nvSpPr>
          <p:cNvPr id="10" name="Text 7"/>
          <p:cNvSpPr/>
          <p:nvPr/>
        </p:nvSpPr>
        <p:spPr>
          <a:xfrm>
            <a:off x="1097280" y="2130552"/>
            <a:ext cx="2916936" cy="370332"/>
          </a:xfrm>
          <a:prstGeom prst="rect">
            <a:avLst/>
          </a:prstGeom>
          <a:noFill/>
          <a:ln/>
        </p:spPr>
        <p:txBody>
          <a:bodyPr wrap="square" lIns="0" tIns="0" rIns="0" bIns="0" rtlCol="0" anchor="ctr">
            <a:normAutofit/>
          </a:bodyPr>
          <a:lstStyle/>
          <a:p>
            <a:pPr marL="0" indent="0">
              <a:buNone/>
            </a:pPr>
            <a:r>
              <a:rPr lang="en-US" sz="2300" b="1" dirty="0">
                <a:solidFill>
                  <a:srgbClr val="FFB545"/>
                </a:solidFill>
                <a:latin typeface="Segoe UI Semibold" pitchFamily="34" charset="0"/>
                <a:ea typeface="Segoe UI Semibold" pitchFamily="34" charset="-122"/>
                <a:cs typeface="Segoe UI Semibold" pitchFamily="34" charset="-120"/>
              </a:rPr>
              <a:t>75M+</a:t>
            </a:r>
            <a:endParaRPr lang="en-US" sz="2300" dirty="0"/>
          </a:p>
        </p:txBody>
      </p:sp>
      <p:sp>
        <p:nvSpPr>
          <p:cNvPr id="11" name="Text 8"/>
          <p:cNvSpPr/>
          <p:nvPr/>
        </p:nvSpPr>
        <p:spPr>
          <a:xfrm>
            <a:off x="1115568" y="2457907"/>
            <a:ext cx="2880360" cy="296266"/>
          </a:xfrm>
          <a:prstGeom prst="rect">
            <a:avLst/>
          </a:prstGeom>
          <a:noFill/>
          <a:ln/>
        </p:spPr>
        <p:txBody>
          <a:bodyPr wrap="square" lIns="0" tIns="0" rIns="0" bIns="0" rtlCol="0" anchor="ctr">
            <a:normAutofit/>
          </a:bodyPr>
          <a:lstStyle/>
          <a:p>
            <a:pPr marL="0" indent="0">
              <a:buNone/>
            </a:pPr>
            <a:r>
              <a:rPr lang="en-US" sz="880" dirty="0">
                <a:solidFill>
                  <a:srgbClr val="B5C7D9"/>
                </a:solidFill>
                <a:latin typeface="Segoe UI" pitchFamily="34" charset="0"/>
                <a:ea typeface="Segoe UI" pitchFamily="34" charset="-122"/>
                <a:cs typeface="Segoe UI" pitchFamily="34" charset="-120"/>
              </a:rPr>
              <a:t>unique 5-person combinations from a 100-employee database</a:t>
            </a:r>
            <a:endParaRPr lang="en-US" sz="880" dirty="0"/>
          </a:p>
        </p:txBody>
      </p:sp>
      <p:sp>
        <p:nvSpPr>
          <p:cNvPr id="12" name="Shape 9"/>
          <p:cNvSpPr/>
          <p:nvPr/>
        </p:nvSpPr>
        <p:spPr>
          <a:xfrm>
            <a:off x="950976" y="3273552"/>
            <a:ext cx="201168" cy="0"/>
          </a:xfrm>
          <a:prstGeom prst="line">
            <a:avLst/>
          </a:prstGeom>
          <a:noFill/>
          <a:ln w="27940">
            <a:solidFill>
              <a:srgbClr val="00EBDF"/>
            </a:solidFill>
            <a:prstDash val="solid"/>
          </a:ln>
        </p:spPr>
        <p:txBody>
          <a:bodyPr/>
          <a:lstStyle/>
          <a:p>
            <a:endParaRPr lang="en-US"/>
          </a:p>
        </p:txBody>
      </p:sp>
      <p:sp>
        <p:nvSpPr>
          <p:cNvPr id="13" name="Text 10"/>
          <p:cNvSpPr/>
          <p:nvPr/>
        </p:nvSpPr>
        <p:spPr>
          <a:xfrm>
            <a:off x="1252728" y="3200400"/>
            <a:ext cx="3063240" cy="201168"/>
          </a:xfrm>
          <a:prstGeom prst="rect">
            <a:avLst/>
          </a:prstGeom>
          <a:noFill/>
          <a:ln/>
        </p:spPr>
        <p:txBody>
          <a:bodyPr wrap="square" lIns="0" tIns="0" rIns="0" bIns="0" rtlCol="0" anchor="ctr">
            <a:normAutofit/>
          </a:bodyPr>
          <a:lstStyle/>
          <a:p>
            <a:pPr marL="0" indent="0">
              <a:buNone/>
            </a:pPr>
            <a:r>
              <a:rPr lang="en-US" sz="1180" dirty="0">
                <a:solidFill>
                  <a:srgbClr val="F5FBFF"/>
                </a:solidFill>
                <a:latin typeface="Segoe UI Semibold" pitchFamily="34" charset="0"/>
                <a:ea typeface="Segoe UI Semibold" pitchFamily="34" charset="-122"/>
                <a:cs typeface="Segoe UI Semibold" pitchFamily="34" charset="-120"/>
              </a:rPr>
              <a:t>Cooling timeline</a:t>
            </a:r>
            <a:endParaRPr lang="en-US" sz="1180" dirty="0"/>
          </a:p>
        </p:txBody>
      </p:sp>
      <p:sp>
        <p:nvSpPr>
          <p:cNvPr id="14" name="Text 11"/>
          <p:cNvSpPr/>
          <p:nvPr/>
        </p:nvSpPr>
        <p:spPr>
          <a:xfrm>
            <a:off x="1252728" y="3429000"/>
            <a:ext cx="3063240" cy="475488"/>
          </a:xfrm>
          <a:prstGeom prst="rect">
            <a:avLst/>
          </a:prstGeom>
          <a:noFill/>
          <a:ln/>
        </p:spPr>
        <p:txBody>
          <a:bodyPr wrap="square" lIns="0" tIns="0" rIns="0" bIns="0" rtlCol="0" anchor="ctr">
            <a:normAutofit/>
          </a:bodyPr>
          <a:lstStyle/>
          <a:p>
            <a:pPr marL="0" indent="0">
              <a:buNone/>
            </a:pPr>
            <a:r>
              <a:rPr lang="en-US" sz="980" dirty="0">
                <a:solidFill>
                  <a:srgbClr val="B5C7D9"/>
                </a:solidFill>
                <a:latin typeface="Segoe UI" pitchFamily="34" charset="0"/>
                <a:ea typeface="Segoe UI" pitchFamily="34" charset="-122"/>
                <a:cs typeface="Segoe UI" pitchFamily="34" charset="-120"/>
              </a:rPr>
              <a:t>T=100.0 down to T=0.1 using α=0.95.</a:t>
            </a:r>
            <a:endParaRPr lang="en-US" sz="980" dirty="0"/>
          </a:p>
        </p:txBody>
      </p:sp>
      <p:sp>
        <p:nvSpPr>
          <p:cNvPr id="15" name="Shape 12"/>
          <p:cNvSpPr/>
          <p:nvPr/>
        </p:nvSpPr>
        <p:spPr>
          <a:xfrm>
            <a:off x="950976" y="4005072"/>
            <a:ext cx="201168" cy="0"/>
          </a:xfrm>
          <a:prstGeom prst="line">
            <a:avLst/>
          </a:prstGeom>
          <a:noFill/>
          <a:ln w="27940">
            <a:solidFill>
              <a:srgbClr val="48CAE4"/>
            </a:solidFill>
            <a:prstDash val="solid"/>
          </a:ln>
        </p:spPr>
        <p:txBody>
          <a:bodyPr/>
          <a:lstStyle/>
          <a:p>
            <a:endParaRPr lang="en-US"/>
          </a:p>
        </p:txBody>
      </p:sp>
      <p:sp>
        <p:nvSpPr>
          <p:cNvPr id="16" name="Text 13"/>
          <p:cNvSpPr/>
          <p:nvPr/>
        </p:nvSpPr>
        <p:spPr>
          <a:xfrm>
            <a:off x="1252728" y="3931920"/>
            <a:ext cx="3063240" cy="201168"/>
          </a:xfrm>
          <a:prstGeom prst="rect">
            <a:avLst/>
          </a:prstGeom>
          <a:noFill/>
          <a:ln/>
        </p:spPr>
        <p:txBody>
          <a:bodyPr wrap="square" lIns="0" tIns="0" rIns="0" bIns="0" rtlCol="0" anchor="ctr">
            <a:normAutofit/>
          </a:bodyPr>
          <a:lstStyle/>
          <a:p>
            <a:pPr marL="0" indent="0">
              <a:buNone/>
            </a:pPr>
            <a:r>
              <a:rPr lang="en-US" sz="1180" dirty="0">
                <a:solidFill>
                  <a:srgbClr val="F5FBFF"/>
                </a:solidFill>
                <a:latin typeface="Segoe UI Semibold" pitchFamily="34" charset="0"/>
                <a:ea typeface="Segoe UI Semibold" pitchFamily="34" charset="-122"/>
                <a:cs typeface="Segoe UI Semibold" pitchFamily="34" charset="-120"/>
              </a:rPr>
              <a:t>Heuristic score</a:t>
            </a:r>
            <a:endParaRPr lang="en-US" sz="1180" dirty="0"/>
          </a:p>
        </p:txBody>
      </p:sp>
      <p:sp>
        <p:nvSpPr>
          <p:cNvPr id="17" name="Text 14"/>
          <p:cNvSpPr/>
          <p:nvPr/>
        </p:nvSpPr>
        <p:spPr>
          <a:xfrm>
            <a:off x="1252728" y="4160520"/>
            <a:ext cx="3063240" cy="475488"/>
          </a:xfrm>
          <a:prstGeom prst="rect">
            <a:avLst/>
          </a:prstGeom>
          <a:noFill/>
          <a:ln/>
        </p:spPr>
        <p:txBody>
          <a:bodyPr wrap="square" lIns="0" tIns="0" rIns="0" bIns="0" rtlCol="0" anchor="ctr">
            <a:normAutofit/>
          </a:bodyPr>
          <a:lstStyle/>
          <a:p>
            <a:pPr marL="0" indent="0">
              <a:buNone/>
            </a:pPr>
            <a:r>
              <a:rPr lang="en-US" sz="980" dirty="0">
                <a:solidFill>
                  <a:srgbClr val="B5C7D9"/>
                </a:solidFill>
                <a:latin typeface="Segoe UI" pitchFamily="34" charset="0"/>
                <a:ea typeface="Segoe UI" pitchFamily="34" charset="-122"/>
                <a:cs typeface="Segoe UI" pitchFamily="34" charset="-120"/>
              </a:rPr>
              <a:t>70% skill match + 30% department diversity.</a:t>
            </a:r>
            <a:endParaRPr lang="en-US" sz="980" dirty="0"/>
          </a:p>
        </p:txBody>
      </p:sp>
      <p:sp>
        <p:nvSpPr>
          <p:cNvPr id="18" name="Shape 15"/>
          <p:cNvSpPr/>
          <p:nvPr/>
        </p:nvSpPr>
        <p:spPr>
          <a:xfrm>
            <a:off x="950976" y="4736592"/>
            <a:ext cx="201168" cy="0"/>
          </a:xfrm>
          <a:prstGeom prst="line">
            <a:avLst/>
          </a:prstGeom>
          <a:noFill/>
          <a:ln w="27940">
            <a:solidFill>
              <a:srgbClr val="8E7CFF"/>
            </a:solidFill>
            <a:prstDash val="solid"/>
          </a:ln>
        </p:spPr>
        <p:txBody>
          <a:bodyPr/>
          <a:lstStyle/>
          <a:p>
            <a:endParaRPr lang="en-US"/>
          </a:p>
        </p:txBody>
      </p:sp>
      <p:sp>
        <p:nvSpPr>
          <p:cNvPr id="19" name="Text 16"/>
          <p:cNvSpPr/>
          <p:nvPr/>
        </p:nvSpPr>
        <p:spPr>
          <a:xfrm>
            <a:off x="1252728" y="4663440"/>
            <a:ext cx="3063240" cy="201168"/>
          </a:xfrm>
          <a:prstGeom prst="rect">
            <a:avLst/>
          </a:prstGeom>
          <a:noFill/>
          <a:ln/>
        </p:spPr>
        <p:txBody>
          <a:bodyPr wrap="square" lIns="0" tIns="0" rIns="0" bIns="0" rtlCol="0" anchor="ctr">
            <a:normAutofit/>
          </a:bodyPr>
          <a:lstStyle/>
          <a:p>
            <a:pPr marL="0" indent="0">
              <a:buNone/>
            </a:pPr>
            <a:r>
              <a:rPr lang="en-US" sz="1180" dirty="0">
                <a:solidFill>
                  <a:srgbClr val="F5FBFF"/>
                </a:solidFill>
                <a:latin typeface="Segoe UI Semibold" pitchFamily="34" charset="0"/>
                <a:ea typeface="Segoe UI Semibold" pitchFamily="34" charset="-122"/>
                <a:cs typeface="Segoe UI Semibold" pitchFamily="34" charset="-120"/>
              </a:rPr>
              <a:t>Metropolis criterion</a:t>
            </a:r>
            <a:endParaRPr lang="en-US" sz="1180" dirty="0"/>
          </a:p>
        </p:txBody>
      </p:sp>
      <p:sp>
        <p:nvSpPr>
          <p:cNvPr id="20" name="Text 17"/>
          <p:cNvSpPr/>
          <p:nvPr/>
        </p:nvSpPr>
        <p:spPr>
          <a:xfrm>
            <a:off x="1252728" y="4892040"/>
            <a:ext cx="3063240" cy="475488"/>
          </a:xfrm>
          <a:prstGeom prst="rect">
            <a:avLst/>
          </a:prstGeom>
          <a:noFill/>
          <a:ln/>
        </p:spPr>
        <p:txBody>
          <a:bodyPr wrap="square" lIns="0" tIns="0" rIns="0" bIns="0" rtlCol="0" anchor="ctr">
            <a:normAutofit/>
          </a:bodyPr>
          <a:lstStyle/>
          <a:p>
            <a:pPr marL="0" indent="0">
              <a:buNone/>
            </a:pPr>
            <a:r>
              <a:rPr lang="en-US" sz="980" dirty="0">
                <a:solidFill>
                  <a:srgbClr val="B5C7D9"/>
                </a:solidFill>
                <a:latin typeface="Segoe UI" pitchFamily="34" charset="0"/>
                <a:ea typeface="Segoe UI" pitchFamily="34" charset="-122"/>
                <a:cs typeface="Segoe UI" pitchFamily="34" charset="-120"/>
              </a:rPr>
              <a:t>Accepts early sub-optimal moves to escape local optima.</a:t>
            </a:r>
            <a:endParaRPr lang="en-US" sz="980" dirty="0"/>
          </a:p>
        </p:txBody>
      </p:sp>
      <p:sp>
        <p:nvSpPr>
          <p:cNvPr id="21" name="Shape 18"/>
          <p:cNvSpPr/>
          <p:nvPr/>
        </p:nvSpPr>
        <p:spPr>
          <a:xfrm>
            <a:off x="7498080" y="1755648"/>
            <a:ext cx="3657600" cy="4069080"/>
          </a:xfrm>
          <a:prstGeom prst="roundRect">
            <a:avLst>
              <a:gd name="adj" fmla="val 3000"/>
            </a:avLst>
          </a:prstGeom>
          <a:solidFill>
            <a:srgbClr val="020916">
              <a:alpha val="89000"/>
            </a:srgbClr>
          </a:solidFill>
          <a:ln w="12700">
            <a:solidFill>
              <a:srgbClr val="00EBDF">
                <a:alpha val="30000"/>
              </a:srgbClr>
            </a:solidFill>
            <a:prstDash val="solid"/>
          </a:ln>
          <a:effectLst>
            <a:outerShdw blurRad="25400" dist="50800" dir="2700000" algn="bl" rotWithShape="0">
              <a:srgbClr val="00EBDF">
                <a:alpha val="18000"/>
              </a:srgbClr>
            </a:outerShdw>
          </a:effectLst>
        </p:spPr>
        <p:txBody>
          <a:bodyPr/>
          <a:lstStyle/>
          <a:p>
            <a:endParaRPr lang="en-US"/>
          </a:p>
        </p:txBody>
      </p:sp>
      <p:sp>
        <p:nvSpPr>
          <p:cNvPr id="22" name="Text 19"/>
          <p:cNvSpPr/>
          <p:nvPr/>
        </p:nvSpPr>
        <p:spPr>
          <a:xfrm>
            <a:off x="7772400" y="1965960"/>
            <a:ext cx="2194560" cy="219456"/>
          </a:xfrm>
          <a:prstGeom prst="rect">
            <a:avLst/>
          </a:prstGeom>
          <a:noFill/>
          <a:ln/>
        </p:spPr>
        <p:txBody>
          <a:bodyPr wrap="square" lIns="0" tIns="0" rIns="0" bIns="0" rtlCol="0" anchor="ctr">
            <a:normAutofit/>
          </a:bodyPr>
          <a:lstStyle/>
          <a:p>
            <a:pPr marL="0" indent="0">
              <a:buNone/>
            </a:pPr>
            <a:r>
              <a:rPr lang="en-US" sz="850" dirty="0">
                <a:solidFill>
                  <a:srgbClr val="00EBDF"/>
                </a:solidFill>
                <a:latin typeface="Segoe UI Semibold" pitchFamily="34" charset="0"/>
                <a:ea typeface="Segoe UI Semibold" pitchFamily="34" charset="-122"/>
                <a:cs typeface="Segoe UI Semibold" pitchFamily="34" charset="-120"/>
              </a:rPr>
              <a:t>COOLING CURVE</a:t>
            </a:r>
            <a:endParaRPr lang="en-US" sz="850" dirty="0"/>
          </a:p>
        </p:txBody>
      </p:sp>
      <p:graphicFrame>
        <p:nvGraphicFramePr>
          <p:cNvPr id="23" name="Chart 0"/>
          <p:cNvGraphicFramePr/>
          <p:nvPr/>
        </p:nvGraphicFramePr>
        <p:xfrm>
          <a:off x="7818120" y="2331720"/>
          <a:ext cx="2926080" cy="1600200"/>
        </p:xfrm>
        <a:graphic>
          <a:graphicData uri="http://schemas.openxmlformats.org/drawingml/2006/chart">
            <c:chart xmlns:c="http://schemas.openxmlformats.org/drawingml/2006/chart" xmlns:r="http://schemas.openxmlformats.org/officeDocument/2006/relationships" r:id="rId4"/>
          </a:graphicData>
        </a:graphic>
      </p:graphicFrame>
      <p:sp>
        <p:nvSpPr>
          <p:cNvPr id="24" name="Text 20"/>
          <p:cNvSpPr/>
          <p:nvPr/>
        </p:nvSpPr>
        <p:spPr>
          <a:xfrm>
            <a:off x="7818120" y="4224528"/>
            <a:ext cx="2194560" cy="201168"/>
          </a:xfrm>
          <a:prstGeom prst="rect">
            <a:avLst/>
          </a:prstGeom>
          <a:noFill/>
          <a:ln/>
        </p:spPr>
        <p:txBody>
          <a:bodyPr wrap="square" lIns="0" tIns="0" rIns="0" bIns="0" rtlCol="0" anchor="ctr"/>
          <a:lstStyle/>
          <a:p>
            <a:pPr marL="0" indent="0">
              <a:buNone/>
            </a:pPr>
            <a:r>
              <a:rPr lang="en-US" sz="1250" dirty="0">
                <a:solidFill>
                  <a:srgbClr val="F5FBFF"/>
                </a:solidFill>
                <a:latin typeface="Segoe UI Semibold" pitchFamily="34" charset="0"/>
                <a:ea typeface="Segoe UI Semibold" pitchFamily="34" charset="-122"/>
                <a:cs typeface="Segoe UI Semibold" pitchFamily="34" charset="-120"/>
              </a:rPr>
              <a:t>Performance benchmark</a:t>
            </a:r>
            <a:endParaRPr lang="en-US" sz="1250" dirty="0"/>
          </a:p>
        </p:txBody>
      </p:sp>
      <p:sp>
        <p:nvSpPr>
          <p:cNvPr id="25" name="Text 21"/>
          <p:cNvSpPr/>
          <p:nvPr/>
        </p:nvSpPr>
        <p:spPr>
          <a:xfrm>
            <a:off x="7818120" y="4553712"/>
            <a:ext cx="2834640" cy="502920"/>
          </a:xfrm>
          <a:prstGeom prst="rect">
            <a:avLst/>
          </a:prstGeom>
          <a:noFill/>
          <a:ln/>
        </p:spPr>
        <p:txBody>
          <a:bodyPr wrap="square" lIns="0" tIns="0" rIns="0" bIns="0" rtlCol="0" anchor="ctr">
            <a:normAutofit/>
          </a:bodyPr>
          <a:lstStyle/>
          <a:p>
            <a:pPr marL="0" indent="0">
              <a:buNone/>
            </a:pPr>
            <a:r>
              <a:rPr lang="en-US" sz="960" dirty="0">
                <a:solidFill>
                  <a:srgbClr val="B5C7D9"/>
                </a:solidFill>
                <a:latin typeface="Segoe UI" pitchFamily="34" charset="0"/>
                <a:ea typeface="Segoe UI" pitchFamily="34" charset="-122"/>
                <a:cs typeface="Segoe UI" pitchFamily="34" charset="-120"/>
              </a:rPr>
              <a:t>Single database prefetch → in-memory annealing loop → optimal configuration in under 3ms.</a:t>
            </a:r>
            <a:endParaRPr lang="en-US" sz="960" dirty="0"/>
          </a:p>
        </p:txBody>
      </p:sp>
      <p:sp>
        <p:nvSpPr>
          <p:cNvPr id="26" name="Shape 22"/>
          <p:cNvSpPr/>
          <p:nvPr/>
        </p:nvSpPr>
        <p:spPr>
          <a:xfrm>
            <a:off x="548640" y="6446520"/>
            <a:ext cx="11109960" cy="0"/>
          </a:xfrm>
          <a:prstGeom prst="line">
            <a:avLst/>
          </a:prstGeom>
          <a:noFill/>
          <a:ln w="15240">
            <a:solidFill>
              <a:srgbClr val="00EBDF">
                <a:alpha val="45000"/>
              </a:srgbClr>
            </a:solidFill>
            <a:prstDash val="solid"/>
          </a:ln>
        </p:spPr>
        <p:txBody>
          <a:bodyPr/>
          <a:lstStyle/>
          <a:p>
            <a:endParaRPr lang="en-US"/>
          </a:p>
        </p:txBody>
      </p:sp>
      <p:sp>
        <p:nvSpPr>
          <p:cNvPr id="27" name="Text 23"/>
          <p:cNvSpPr/>
          <p:nvPr/>
        </p:nvSpPr>
        <p:spPr>
          <a:xfrm>
            <a:off x="594360" y="6528816"/>
            <a:ext cx="4937760" cy="182880"/>
          </a:xfrm>
          <a:prstGeom prst="rect">
            <a:avLst/>
          </a:prstGeom>
          <a:noFill/>
          <a:ln/>
        </p:spPr>
        <p:txBody>
          <a:bodyPr wrap="square" lIns="0" tIns="0" rIns="0" bIns="0" rtlCol="0" anchor="ctr"/>
          <a:lstStyle/>
          <a:p>
            <a:pPr marL="0" indent="0">
              <a:buNone/>
            </a:pPr>
            <a:r>
              <a:rPr lang="en-US" sz="750" dirty="0">
                <a:solidFill>
                  <a:srgbClr val="6D7F96"/>
                </a:solidFill>
                <a:latin typeface="Segoe UI" pitchFamily="34" charset="0"/>
                <a:ea typeface="Segoe UI" pitchFamily="34" charset="-122"/>
                <a:cs typeface="Segoe UI" pitchFamily="34" charset="-120"/>
              </a:rPr>
              <a:t>AURELIUS Management OS</a:t>
            </a:r>
            <a:endParaRPr lang="en-US" sz="750" dirty="0"/>
          </a:p>
        </p:txBody>
      </p:sp>
      <p:sp>
        <p:nvSpPr>
          <p:cNvPr id="28" name="Text 24"/>
          <p:cNvSpPr/>
          <p:nvPr/>
        </p:nvSpPr>
        <p:spPr>
          <a:xfrm>
            <a:off x="11384280" y="6473952"/>
            <a:ext cx="320040" cy="228600"/>
          </a:xfrm>
          <a:prstGeom prst="rect">
            <a:avLst/>
          </a:prstGeom>
          <a:noFill/>
          <a:ln/>
        </p:spPr>
        <p:txBody>
          <a:bodyPr wrap="square" lIns="0" tIns="0" rIns="0" bIns="0" rtlCol="0" anchor="ctr"/>
          <a:lstStyle/>
          <a:p>
            <a:pPr marL="0" indent="0" algn="r">
              <a:buNone/>
            </a:pPr>
            <a:r>
              <a:rPr lang="en-US" sz="800" dirty="0">
                <a:solidFill>
                  <a:srgbClr val="00EBDF"/>
                </a:solidFill>
                <a:latin typeface="Segoe UI Semibold" pitchFamily="34" charset="0"/>
                <a:ea typeface="Segoe UI Semibold" pitchFamily="34" charset="-122"/>
                <a:cs typeface="Segoe UI Semibold" pitchFamily="34" charset="-120"/>
              </a:rPr>
              <a:t>07</a:t>
            </a:r>
            <a:endParaRPr lang="en-US" sz="800" dirty="0"/>
          </a:p>
        </p:txBody>
      </p:sp>
      <p:sp>
        <p:nvSpPr>
          <p:cNvPr id="29" name="TextBox 28"/>
          <p:cNvSpPr txBox="1"/>
          <p:nvPr/>
        </p:nvSpPr>
        <p:spPr>
          <a:xfrm>
            <a:off x="6309360" y="5989320"/>
            <a:ext cx="5212080" cy="256032"/>
          </a:xfrm>
          <a:prstGeom prst="rect">
            <a:avLst/>
          </a:prstGeom>
          <a:noFill/>
        </p:spPr>
        <p:txBody>
          <a:bodyPr wrap="none">
            <a:spAutoFit/>
          </a:bodyPr>
          <a:lstStyle/>
          <a:p>
            <a:pPr algn="r">
              <a:defRPr sz="869" i="1">
                <a:solidFill>
                  <a:srgbClr val="91AAC3"/>
                </a:solidFill>
              </a:defRPr>
            </a:pPr>
            <a:r>
              <a:t>(Kirkpatrick et al., 1983)</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0B132B"/>
        </a:solidFill>
        <a:effectLst/>
      </p:bgPr>
    </p:bg>
    <p:spTree>
      <p:nvGrpSpPr>
        <p:cNvPr id="1" name=""/>
        <p:cNvGrpSpPr/>
        <p:nvPr/>
      </p:nvGrpSpPr>
      <p:grpSpPr>
        <a:xfrm>
          <a:off x="0" y="0"/>
          <a:ext cx="0" cy="0"/>
          <a:chOff x="0" y="0"/>
          <a:chExt cx="0" cy="0"/>
        </a:xfrm>
      </p:grpSpPr>
      <p:pic>
        <p:nvPicPr>
          <p:cNvPr id="2" name="Image 0" descr="/mnt/data/a_high_tech_futuristic_digital_cybersecurity_gover_batch_8.png"/>
          <p:cNvPicPr>
            <a:picLocks noChangeAspect="1"/>
          </p:cNvPicPr>
          <p:nvPr/>
        </p:nvPicPr>
        <p:blipFill>
          <a:blip r:embed="rId3"/>
          <a:srcRect t="25" b="25"/>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B132B">
              <a:alpha val="63000"/>
            </a:srgbClr>
          </a:solidFill>
          <a:ln w="12700">
            <a:solidFill>
              <a:srgbClr val="333333">
                <a:alpha val="0"/>
              </a:srgbClr>
            </a:solidFill>
            <a:prstDash val="solid"/>
          </a:ln>
        </p:spPr>
        <p:txBody>
          <a:bodyPr/>
          <a:lstStyle/>
          <a:p>
            <a:endParaRPr lang="en-US"/>
          </a:p>
        </p:txBody>
      </p:sp>
      <p:sp>
        <p:nvSpPr>
          <p:cNvPr id="4" name="Shape 1"/>
          <p:cNvSpPr/>
          <p:nvPr/>
        </p:nvSpPr>
        <p:spPr>
          <a:xfrm>
            <a:off x="0" y="0"/>
            <a:ext cx="12191695" cy="6858000"/>
          </a:xfrm>
          <a:prstGeom prst="rect">
            <a:avLst/>
          </a:prstGeom>
          <a:solidFill>
            <a:srgbClr val="000000">
              <a:alpha val="32000"/>
            </a:srgbClr>
          </a:solidFill>
          <a:ln w="12700">
            <a:solidFill>
              <a:srgbClr val="333333">
                <a:alpha val="0"/>
              </a:srgbClr>
            </a:solidFill>
            <a:prstDash val="solid"/>
          </a:ln>
        </p:spPr>
        <p:txBody>
          <a:bodyPr/>
          <a:lstStyle/>
          <a:p>
            <a:endParaRPr lang="en-US"/>
          </a:p>
        </p:txBody>
      </p:sp>
      <p:sp>
        <p:nvSpPr>
          <p:cNvPr id="5" name="Text 2"/>
          <p:cNvSpPr/>
          <p:nvPr/>
        </p:nvSpPr>
        <p:spPr>
          <a:xfrm>
            <a:off x="658368" y="429768"/>
            <a:ext cx="5120640" cy="246888"/>
          </a:xfrm>
          <a:prstGeom prst="rect">
            <a:avLst/>
          </a:prstGeom>
          <a:noFill/>
          <a:ln/>
        </p:spPr>
        <p:txBody>
          <a:bodyPr wrap="square" lIns="0" tIns="0" rIns="0" bIns="0" rtlCol="0" anchor="ctr"/>
          <a:lstStyle/>
          <a:p>
            <a:pPr marL="0" indent="0">
              <a:buNone/>
            </a:pPr>
            <a:r>
              <a:rPr lang="en-US" sz="850" dirty="0">
                <a:solidFill>
                  <a:srgbClr val="00EBDF"/>
                </a:solidFill>
                <a:latin typeface="Segoe UI Semibold" pitchFamily="34" charset="0"/>
                <a:ea typeface="Segoe UI Semibold" pitchFamily="34" charset="-122"/>
                <a:cs typeface="Segoe UI Semibold" pitchFamily="34" charset="-120"/>
              </a:rPr>
              <a:t>GOVERNANCE</a:t>
            </a:r>
            <a:endParaRPr lang="en-US" sz="850" dirty="0"/>
          </a:p>
        </p:txBody>
      </p:sp>
      <p:sp>
        <p:nvSpPr>
          <p:cNvPr id="6" name="Text 3"/>
          <p:cNvSpPr/>
          <p:nvPr/>
        </p:nvSpPr>
        <p:spPr>
          <a:xfrm>
            <a:off x="658368" y="713232"/>
            <a:ext cx="7680960" cy="493776"/>
          </a:xfrm>
          <a:prstGeom prst="rect">
            <a:avLst/>
          </a:prstGeom>
          <a:noFill/>
          <a:ln/>
        </p:spPr>
        <p:txBody>
          <a:bodyPr wrap="square" lIns="0" tIns="0" rIns="0" bIns="0" rtlCol="0" anchor="ctr">
            <a:normAutofit/>
          </a:bodyPr>
          <a:lstStyle/>
          <a:p>
            <a:pPr marL="0" indent="0">
              <a:buNone/>
            </a:pPr>
            <a:r>
              <a:rPr lang="en-US" sz="2700" b="1" dirty="0">
                <a:solidFill>
                  <a:srgbClr val="F5FBFF"/>
                </a:solidFill>
                <a:latin typeface="Segoe UI Semibold" pitchFamily="34" charset="0"/>
                <a:ea typeface="Segoe UI Semibold" pitchFamily="34" charset="-122"/>
                <a:cs typeface="Segoe UI Semibold" pitchFamily="34" charset="-120"/>
              </a:rPr>
              <a:t>RBAC, Human Gate &amp; Audit Trails</a:t>
            </a:r>
            <a:endParaRPr lang="en-US" sz="2700" dirty="0"/>
          </a:p>
        </p:txBody>
      </p:sp>
      <p:sp>
        <p:nvSpPr>
          <p:cNvPr id="7" name="Text 4"/>
          <p:cNvSpPr/>
          <p:nvPr/>
        </p:nvSpPr>
        <p:spPr>
          <a:xfrm>
            <a:off x="676656" y="1225296"/>
            <a:ext cx="7452360" cy="310896"/>
          </a:xfrm>
          <a:prstGeom prst="rect">
            <a:avLst/>
          </a:prstGeom>
          <a:noFill/>
          <a:ln/>
        </p:spPr>
        <p:txBody>
          <a:bodyPr wrap="square" lIns="0" tIns="0" rIns="0" bIns="0" rtlCol="0" anchor="ctr">
            <a:normAutofit/>
          </a:bodyPr>
          <a:lstStyle/>
          <a:p>
            <a:pPr marL="0" indent="0">
              <a:buNone/>
            </a:pPr>
            <a:r>
              <a:rPr lang="en-US" sz="1250" dirty="0">
                <a:solidFill>
                  <a:srgbClr val="B5C7D9"/>
                </a:solidFill>
                <a:latin typeface="Segoe UI" pitchFamily="34" charset="0"/>
                <a:ea typeface="Segoe UI" pitchFamily="34" charset="-122"/>
                <a:cs typeface="Segoe UI" pitchFamily="34" charset="-120"/>
              </a:rPr>
              <a:t>The AI agent is powerful, but not uncontrolled.</a:t>
            </a:r>
            <a:endParaRPr lang="en-US" sz="1250" dirty="0"/>
          </a:p>
        </p:txBody>
      </p:sp>
      <p:sp>
        <p:nvSpPr>
          <p:cNvPr id="8" name="Shape 5"/>
          <p:cNvSpPr/>
          <p:nvPr/>
        </p:nvSpPr>
        <p:spPr>
          <a:xfrm>
            <a:off x="658368" y="1755648"/>
            <a:ext cx="4800600" cy="4251960"/>
          </a:xfrm>
          <a:prstGeom prst="roundRect">
            <a:avLst>
              <a:gd name="adj" fmla="val 2581"/>
            </a:avLst>
          </a:prstGeom>
          <a:solidFill>
            <a:srgbClr val="020916">
              <a:alpha val="88000"/>
            </a:srgbClr>
          </a:solidFill>
          <a:ln w="12700">
            <a:solidFill>
              <a:srgbClr val="00EBDF">
                <a:alpha val="35000"/>
              </a:srgbClr>
            </a:solidFill>
            <a:prstDash val="solid"/>
          </a:ln>
          <a:effectLst>
            <a:outerShdw blurRad="25400" dist="50800" dir="2700000" algn="bl" rotWithShape="0">
              <a:srgbClr val="00EBDF">
                <a:alpha val="18000"/>
              </a:srgbClr>
            </a:outerShdw>
          </a:effectLst>
        </p:spPr>
        <p:txBody>
          <a:bodyPr/>
          <a:lstStyle/>
          <a:p>
            <a:endParaRPr lang="en-US"/>
          </a:p>
        </p:txBody>
      </p:sp>
      <p:sp>
        <p:nvSpPr>
          <p:cNvPr id="9" name="Text 6"/>
          <p:cNvSpPr/>
          <p:nvPr/>
        </p:nvSpPr>
        <p:spPr>
          <a:xfrm>
            <a:off x="932688" y="1975104"/>
            <a:ext cx="3474720" cy="219456"/>
          </a:xfrm>
          <a:prstGeom prst="rect">
            <a:avLst/>
          </a:prstGeom>
          <a:noFill/>
          <a:ln/>
        </p:spPr>
        <p:txBody>
          <a:bodyPr wrap="square" lIns="0" tIns="0" rIns="0" bIns="0" rtlCol="0" anchor="ctr">
            <a:normAutofit/>
          </a:bodyPr>
          <a:lstStyle/>
          <a:p>
            <a:pPr marL="0" indent="0">
              <a:buNone/>
            </a:pPr>
            <a:r>
              <a:rPr lang="en-US" sz="850" dirty="0">
                <a:solidFill>
                  <a:srgbClr val="00EBDF"/>
                </a:solidFill>
                <a:latin typeface="Segoe UI Semibold" pitchFamily="34" charset="0"/>
                <a:ea typeface="Segoe UI Semibold" pitchFamily="34" charset="-122"/>
                <a:cs typeface="Segoe UI Semibold" pitchFamily="34" charset="-120"/>
              </a:rPr>
              <a:t>ROLE-BASED ACCESS CONTROL</a:t>
            </a:r>
            <a:endParaRPr lang="en-US" sz="850" dirty="0"/>
          </a:p>
        </p:txBody>
      </p:sp>
      <p:sp>
        <p:nvSpPr>
          <p:cNvPr id="10" name="Shape 7"/>
          <p:cNvSpPr/>
          <p:nvPr/>
        </p:nvSpPr>
        <p:spPr>
          <a:xfrm>
            <a:off x="950976" y="2523744"/>
            <a:ext cx="201168" cy="0"/>
          </a:xfrm>
          <a:prstGeom prst="line">
            <a:avLst/>
          </a:prstGeom>
          <a:noFill/>
          <a:ln w="27940">
            <a:solidFill>
              <a:srgbClr val="48CAE4"/>
            </a:solidFill>
            <a:prstDash val="solid"/>
          </a:ln>
        </p:spPr>
        <p:txBody>
          <a:bodyPr/>
          <a:lstStyle/>
          <a:p>
            <a:endParaRPr lang="en-US"/>
          </a:p>
        </p:txBody>
      </p:sp>
      <p:sp>
        <p:nvSpPr>
          <p:cNvPr id="11" name="Text 8"/>
          <p:cNvSpPr/>
          <p:nvPr/>
        </p:nvSpPr>
        <p:spPr>
          <a:xfrm>
            <a:off x="1252728" y="2450592"/>
            <a:ext cx="3840480" cy="201168"/>
          </a:xfrm>
          <a:prstGeom prst="rect">
            <a:avLst/>
          </a:prstGeom>
          <a:noFill/>
          <a:ln/>
        </p:spPr>
        <p:txBody>
          <a:bodyPr wrap="square" lIns="0" tIns="0" rIns="0" bIns="0" rtlCol="0" anchor="ctr">
            <a:normAutofit/>
          </a:bodyPr>
          <a:lstStyle/>
          <a:p>
            <a:pPr marL="0" indent="0">
              <a:buNone/>
            </a:pPr>
            <a:r>
              <a:rPr lang="en-US" sz="1180" dirty="0">
                <a:solidFill>
                  <a:srgbClr val="F5FBFF"/>
                </a:solidFill>
                <a:latin typeface="Segoe UI Semibold" pitchFamily="34" charset="0"/>
                <a:ea typeface="Segoe UI Semibold" pitchFamily="34" charset="-122"/>
                <a:cs typeface="Segoe UI Semibold" pitchFamily="34" charset="-120"/>
              </a:rPr>
              <a:t>Read-only boundaries</a:t>
            </a:r>
            <a:endParaRPr lang="en-US" sz="1180" dirty="0"/>
          </a:p>
        </p:txBody>
      </p:sp>
      <p:sp>
        <p:nvSpPr>
          <p:cNvPr id="12" name="Text 9"/>
          <p:cNvSpPr/>
          <p:nvPr/>
        </p:nvSpPr>
        <p:spPr>
          <a:xfrm>
            <a:off x="1252728" y="2679192"/>
            <a:ext cx="3840480" cy="475488"/>
          </a:xfrm>
          <a:prstGeom prst="rect">
            <a:avLst/>
          </a:prstGeom>
          <a:noFill/>
          <a:ln/>
        </p:spPr>
        <p:txBody>
          <a:bodyPr wrap="square" lIns="0" tIns="0" rIns="0" bIns="0" rtlCol="0" anchor="ctr">
            <a:normAutofit/>
          </a:bodyPr>
          <a:lstStyle/>
          <a:p>
            <a:pPr marL="0" indent="0">
              <a:buNone/>
            </a:pPr>
            <a:r>
              <a:rPr lang="en-US" sz="980" dirty="0">
                <a:solidFill>
                  <a:srgbClr val="B5C7D9"/>
                </a:solidFill>
                <a:latin typeface="Segoe UI" pitchFamily="34" charset="0"/>
                <a:ea typeface="Segoe UI" pitchFamily="34" charset="-122"/>
                <a:cs typeface="Segoe UI" pitchFamily="34" charset="-120"/>
              </a:rPr>
              <a:t>Non-admin users remain restricted to dashboards and safe data access.</a:t>
            </a:r>
            <a:endParaRPr lang="en-US" sz="980" dirty="0"/>
          </a:p>
        </p:txBody>
      </p:sp>
      <p:sp>
        <p:nvSpPr>
          <p:cNvPr id="13" name="Shape 10"/>
          <p:cNvSpPr/>
          <p:nvPr/>
        </p:nvSpPr>
        <p:spPr>
          <a:xfrm>
            <a:off x="950976" y="3319272"/>
            <a:ext cx="201168" cy="0"/>
          </a:xfrm>
          <a:prstGeom prst="line">
            <a:avLst/>
          </a:prstGeom>
          <a:noFill/>
          <a:ln w="27940">
            <a:solidFill>
              <a:srgbClr val="FF5277"/>
            </a:solidFill>
            <a:prstDash val="solid"/>
          </a:ln>
        </p:spPr>
        <p:txBody>
          <a:bodyPr/>
          <a:lstStyle/>
          <a:p>
            <a:endParaRPr lang="en-US"/>
          </a:p>
        </p:txBody>
      </p:sp>
      <p:sp>
        <p:nvSpPr>
          <p:cNvPr id="14" name="Text 11"/>
          <p:cNvSpPr/>
          <p:nvPr/>
        </p:nvSpPr>
        <p:spPr>
          <a:xfrm>
            <a:off x="1252728" y="3246120"/>
            <a:ext cx="3840480" cy="201168"/>
          </a:xfrm>
          <a:prstGeom prst="rect">
            <a:avLst/>
          </a:prstGeom>
          <a:noFill/>
          <a:ln/>
        </p:spPr>
        <p:txBody>
          <a:bodyPr wrap="square" lIns="0" tIns="0" rIns="0" bIns="0" rtlCol="0" anchor="ctr">
            <a:normAutofit/>
          </a:bodyPr>
          <a:lstStyle/>
          <a:p>
            <a:pPr marL="0" indent="0">
              <a:buNone/>
            </a:pPr>
            <a:r>
              <a:rPr lang="en-US" sz="1180" dirty="0">
                <a:solidFill>
                  <a:srgbClr val="F5FBFF"/>
                </a:solidFill>
                <a:latin typeface="Segoe UI Semibold" pitchFamily="34" charset="0"/>
                <a:ea typeface="Segoe UI Semibold" pitchFamily="34" charset="-122"/>
                <a:cs typeface="Segoe UI Semibold" pitchFamily="34" charset="-120"/>
              </a:rPr>
              <a:t>Zero AI autonomous deletions</a:t>
            </a:r>
            <a:endParaRPr lang="en-US" sz="1180" dirty="0"/>
          </a:p>
        </p:txBody>
      </p:sp>
      <p:sp>
        <p:nvSpPr>
          <p:cNvPr id="15" name="Text 12"/>
          <p:cNvSpPr/>
          <p:nvPr/>
        </p:nvSpPr>
        <p:spPr>
          <a:xfrm>
            <a:off x="1252728" y="3474720"/>
            <a:ext cx="3840480" cy="475488"/>
          </a:xfrm>
          <a:prstGeom prst="rect">
            <a:avLst/>
          </a:prstGeom>
          <a:noFill/>
          <a:ln/>
        </p:spPr>
        <p:txBody>
          <a:bodyPr wrap="square" lIns="0" tIns="0" rIns="0" bIns="0" rtlCol="0" anchor="ctr">
            <a:normAutofit/>
          </a:bodyPr>
          <a:lstStyle/>
          <a:p>
            <a:pPr marL="0" indent="0">
              <a:buNone/>
            </a:pPr>
            <a:r>
              <a:rPr lang="en-US" sz="980" dirty="0">
                <a:solidFill>
                  <a:srgbClr val="B5C7D9"/>
                </a:solidFill>
                <a:latin typeface="Segoe UI" pitchFamily="34" charset="0"/>
                <a:ea typeface="Segoe UI" pitchFamily="34" charset="-122"/>
                <a:cs typeface="Segoe UI" pitchFamily="34" charset="-120"/>
              </a:rPr>
              <a:t>The governance kernel blocks deletion commands at source.</a:t>
            </a:r>
            <a:endParaRPr lang="en-US" sz="980" dirty="0"/>
          </a:p>
        </p:txBody>
      </p:sp>
      <p:sp>
        <p:nvSpPr>
          <p:cNvPr id="16" name="Shape 13"/>
          <p:cNvSpPr/>
          <p:nvPr/>
        </p:nvSpPr>
        <p:spPr>
          <a:xfrm>
            <a:off x="950976" y="4114800"/>
            <a:ext cx="201168" cy="0"/>
          </a:xfrm>
          <a:prstGeom prst="line">
            <a:avLst/>
          </a:prstGeom>
          <a:noFill/>
          <a:ln w="27940">
            <a:solidFill>
              <a:srgbClr val="29F0A0"/>
            </a:solidFill>
            <a:prstDash val="solid"/>
          </a:ln>
        </p:spPr>
        <p:txBody>
          <a:bodyPr/>
          <a:lstStyle/>
          <a:p>
            <a:endParaRPr lang="en-US"/>
          </a:p>
        </p:txBody>
      </p:sp>
      <p:sp>
        <p:nvSpPr>
          <p:cNvPr id="17" name="Text 14"/>
          <p:cNvSpPr/>
          <p:nvPr/>
        </p:nvSpPr>
        <p:spPr>
          <a:xfrm>
            <a:off x="1252728" y="4041648"/>
            <a:ext cx="3840480" cy="201168"/>
          </a:xfrm>
          <a:prstGeom prst="rect">
            <a:avLst/>
          </a:prstGeom>
          <a:noFill/>
          <a:ln/>
        </p:spPr>
        <p:txBody>
          <a:bodyPr wrap="square" lIns="0" tIns="0" rIns="0" bIns="0" rtlCol="0" anchor="ctr">
            <a:normAutofit/>
          </a:bodyPr>
          <a:lstStyle/>
          <a:p>
            <a:pPr marL="0" indent="0">
              <a:buNone/>
            </a:pPr>
            <a:r>
              <a:rPr lang="en-US" sz="1180" dirty="0">
                <a:solidFill>
                  <a:srgbClr val="F5FBFF"/>
                </a:solidFill>
                <a:latin typeface="Segoe UI Semibold" pitchFamily="34" charset="0"/>
                <a:ea typeface="Segoe UI Semibold" pitchFamily="34" charset="-122"/>
                <a:cs typeface="Segoe UI Semibold" pitchFamily="34" charset="-120"/>
              </a:rPr>
              <a:t>Human-in-the-loop confirmation</a:t>
            </a:r>
            <a:endParaRPr lang="en-US" sz="1180" dirty="0"/>
          </a:p>
        </p:txBody>
      </p:sp>
      <p:sp>
        <p:nvSpPr>
          <p:cNvPr id="18" name="Text 15"/>
          <p:cNvSpPr/>
          <p:nvPr/>
        </p:nvSpPr>
        <p:spPr>
          <a:xfrm>
            <a:off x="1252728" y="4270248"/>
            <a:ext cx="3840480" cy="475488"/>
          </a:xfrm>
          <a:prstGeom prst="rect">
            <a:avLst/>
          </a:prstGeom>
          <a:noFill/>
          <a:ln/>
        </p:spPr>
        <p:txBody>
          <a:bodyPr wrap="square" lIns="0" tIns="0" rIns="0" bIns="0" rtlCol="0" anchor="ctr">
            <a:normAutofit/>
          </a:bodyPr>
          <a:lstStyle/>
          <a:p>
            <a:pPr marL="0" indent="0">
              <a:buNone/>
            </a:pPr>
            <a:r>
              <a:rPr lang="en-US" sz="980" dirty="0">
                <a:solidFill>
                  <a:srgbClr val="B5C7D9"/>
                </a:solidFill>
                <a:latin typeface="Segoe UI" pitchFamily="34" charset="0"/>
                <a:ea typeface="Segoe UI" pitchFamily="34" charset="-122"/>
                <a:cs typeface="Segoe UI" pitchFamily="34" charset="-120"/>
              </a:rPr>
              <a:t>Critical database changes require explicit UI approval.</a:t>
            </a:r>
            <a:endParaRPr lang="en-US" sz="980" dirty="0"/>
          </a:p>
        </p:txBody>
      </p:sp>
      <p:sp>
        <p:nvSpPr>
          <p:cNvPr id="19" name="Shape 16"/>
          <p:cNvSpPr/>
          <p:nvPr/>
        </p:nvSpPr>
        <p:spPr>
          <a:xfrm>
            <a:off x="7360920" y="1901952"/>
            <a:ext cx="3794760" cy="3429000"/>
          </a:xfrm>
          <a:prstGeom prst="roundRect">
            <a:avLst>
              <a:gd name="adj" fmla="val 3200"/>
            </a:avLst>
          </a:prstGeom>
          <a:solidFill>
            <a:srgbClr val="020916">
              <a:alpha val="94000"/>
            </a:srgbClr>
          </a:solidFill>
          <a:ln w="12700">
            <a:solidFill>
              <a:srgbClr val="00EBDF">
                <a:alpha val="38000"/>
              </a:srgbClr>
            </a:solidFill>
            <a:prstDash val="solid"/>
          </a:ln>
          <a:effectLst>
            <a:outerShdw blurRad="25400" dist="50800" dir="2700000" algn="bl" rotWithShape="0">
              <a:srgbClr val="00EBDF">
                <a:alpha val="18000"/>
              </a:srgbClr>
            </a:outerShdw>
          </a:effectLst>
        </p:spPr>
        <p:txBody>
          <a:bodyPr/>
          <a:lstStyle/>
          <a:p>
            <a:endParaRPr lang="en-US"/>
          </a:p>
        </p:txBody>
      </p:sp>
      <p:sp>
        <p:nvSpPr>
          <p:cNvPr id="20" name="Text 17"/>
          <p:cNvSpPr/>
          <p:nvPr/>
        </p:nvSpPr>
        <p:spPr>
          <a:xfrm>
            <a:off x="7635240" y="2121408"/>
            <a:ext cx="2194560" cy="219456"/>
          </a:xfrm>
          <a:prstGeom prst="rect">
            <a:avLst/>
          </a:prstGeom>
          <a:noFill/>
          <a:ln/>
        </p:spPr>
        <p:txBody>
          <a:bodyPr wrap="square" lIns="0" tIns="0" rIns="0" bIns="0" rtlCol="0" anchor="ctr">
            <a:normAutofit/>
          </a:bodyPr>
          <a:lstStyle/>
          <a:p>
            <a:pPr marL="0" indent="0">
              <a:buNone/>
            </a:pPr>
            <a:r>
              <a:rPr lang="en-US" sz="850" dirty="0">
                <a:solidFill>
                  <a:srgbClr val="00EBDF"/>
                </a:solidFill>
                <a:latin typeface="Segoe UI Semibold" pitchFamily="34" charset="0"/>
                <a:ea typeface="Segoe UI Semibold" pitchFamily="34" charset="-122"/>
                <a:cs typeface="Segoe UI Semibold" pitchFamily="34" charset="-120"/>
              </a:rPr>
              <a:t>AUDIT LEDGER</a:t>
            </a:r>
            <a:endParaRPr lang="en-US" sz="850" dirty="0"/>
          </a:p>
        </p:txBody>
      </p:sp>
      <p:sp>
        <p:nvSpPr>
          <p:cNvPr id="21" name="Shape 18"/>
          <p:cNvSpPr/>
          <p:nvPr/>
        </p:nvSpPr>
        <p:spPr>
          <a:xfrm>
            <a:off x="7662672" y="2560320"/>
            <a:ext cx="3090672" cy="310896"/>
          </a:xfrm>
          <a:prstGeom prst="roundRect">
            <a:avLst>
              <a:gd name="adj" fmla="val 17647"/>
            </a:avLst>
          </a:prstGeom>
          <a:solidFill>
            <a:srgbClr val="0C1C35">
              <a:alpha val="92000"/>
            </a:srgbClr>
          </a:solidFill>
          <a:ln w="6350">
            <a:solidFill>
              <a:srgbClr val="48CAE4">
                <a:alpha val="20000"/>
              </a:srgbClr>
            </a:solidFill>
            <a:prstDash val="solid"/>
          </a:ln>
        </p:spPr>
        <p:txBody>
          <a:bodyPr/>
          <a:lstStyle/>
          <a:p>
            <a:endParaRPr lang="en-US"/>
          </a:p>
        </p:txBody>
      </p:sp>
      <p:sp>
        <p:nvSpPr>
          <p:cNvPr id="22" name="Text 19"/>
          <p:cNvSpPr/>
          <p:nvPr/>
        </p:nvSpPr>
        <p:spPr>
          <a:xfrm>
            <a:off x="7818120" y="2633472"/>
            <a:ext cx="2560320" cy="146304"/>
          </a:xfrm>
          <a:prstGeom prst="rect">
            <a:avLst/>
          </a:prstGeom>
          <a:noFill/>
          <a:ln/>
        </p:spPr>
        <p:txBody>
          <a:bodyPr wrap="square" lIns="0" tIns="0" rIns="0" bIns="0" rtlCol="0" anchor="ctr">
            <a:normAutofit/>
          </a:bodyPr>
          <a:lstStyle/>
          <a:p>
            <a:pPr marL="0" indent="0">
              <a:buNone/>
            </a:pPr>
            <a:r>
              <a:rPr lang="en-US" sz="880" dirty="0">
                <a:solidFill>
                  <a:srgbClr val="B5C7D9"/>
                </a:solidFill>
                <a:latin typeface="Segoe UI" pitchFamily="34" charset="0"/>
                <a:ea typeface="Segoe UI" pitchFamily="34" charset="-122"/>
                <a:cs typeface="Segoe UI" pitchFamily="34" charset="-120"/>
              </a:rPr>
              <a:t>Timestamp</a:t>
            </a:r>
            <a:endParaRPr lang="en-US" sz="880" dirty="0"/>
          </a:p>
        </p:txBody>
      </p:sp>
      <p:sp>
        <p:nvSpPr>
          <p:cNvPr id="23" name="Shape 20"/>
          <p:cNvSpPr/>
          <p:nvPr/>
        </p:nvSpPr>
        <p:spPr>
          <a:xfrm>
            <a:off x="7662672" y="3035808"/>
            <a:ext cx="3090672" cy="310896"/>
          </a:xfrm>
          <a:prstGeom prst="roundRect">
            <a:avLst>
              <a:gd name="adj" fmla="val 17647"/>
            </a:avLst>
          </a:prstGeom>
          <a:solidFill>
            <a:srgbClr val="0C1C35">
              <a:alpha val="92000"/>
            </a:srgbClr>
          </a:solidFill>
          <a:ln w="6350">
            <a:solidFill>
              <a:srgbClr val="48CAE4">
                <a:alpha val="20000"/>
              </a:srgbClr>
            </a:solidFill>
            <a:prstDash val="solid"/>
          </a:ln>
        </p:spPr>
        <p:txBody>
          <a:bodyPr/>
          <a:lstStyle/>
          <a:p>
            <a:endParaRPr lang="en-US"/>
          </a:p>
        </p:txBody>
      </p:sp>
      <p:sp>
        <p:nvSpPr>
          <p:cNvPr id="24" name="Text 21"/>
          <p:cNvSpPr/>
          <p:nvPr/>
        </p:nvSpPr>
        <p:spPr>
          <a:xfrm>
            <a:off x="7818120" y="3108960"/>
            <a:ext cx="2560320" cy="146304"/>
          </a:xfrm>
          <a:prstGeom prst="rect">
            <a:avLst/>
          </a:prstGeom>
          <a:noFill/>
          <a:ln/>
        </p:spPr>
        <p:txBody>
          <a:bodyPr wrap="square" lIns="0" tIns="0" rIns="0" bIns="0" rtlCol="0" anchor="ctr">
            <a:normAutofit/>
          </a:bodyPr>
          <a:lstStyle/>
          <a:p>
            <a:pPr marL="0" indent="0">
              <a:buNone/>
            </a:pPr>
            <a:r>
              <a:rPr lang="en-US" sz="880" dirty="0">
                <a:solidFill>
                  <a:srgbClr val="B5C7D9"/>
                </a:solidFill>
                <a:latin typeface="Segoe UI" pitchFamily="34" charset="0"/>
                <a:ea typeface="Segoe UI" pitchFamily="34" charset="-122"/>
                <a:cs typeface="Segoe UI" pitchFamily="34" charset="-120"/>
              </a:rPr>
              <a:t>User / agent actor</a:t>
            </a:r>
            <a:endParaRPr lang="en-US" sz="880" dirty="0"/>
          </a:p>
        </p:txBody>
      </p:sp>
      <p:sp>
        <p:nvSpPr>
          <p:cNvPr id="25" name="Shape 22"/>
          <p:cNvSpPr/>
          <p:nvPr/>
        </p:nvSpPr>
        <p:spPr>
          <a:xfrm>
            <a:off x="7662672" y="3511296"/>
            <a:ext cx="3090672" cy="310896"/>
          </a:xfrm>
          <a:prstGeom prst="roundRect">
            <a:avLst>
              <a:gd name="adj" fmla="val 17647"/>
            </a:avLst>
          </a:prstGeom>
          <a:solidFill>
            <a:srgbClr val="0C1C35">
              <a:alpha val="92000"/>
            </a:srgbClr>
          </a:solidFill>
          <a:ln w="6350">
            <a:solidFill>
              <a:srgbClr val="48CAE4">
                <a:alpha val="20000"/>
              </a:srgbClr>
            </a:solidFill>
            <a:prstDash val="solid"/>
          </a:ln>
        </p:spPr>
        <p:txBody>
          <a:bodyPr/>
          <a:lstStyle/>
          <a:p>
            <a:endParaRPr lang="en-US"/>
          </a:p>
        </p:txBody>
      </p:sp>
      <p:sp>
        <p:nvSpPr>
          <p:cNvPr id="26" name="Text 23"/>
          <p:cNvSpPr/>
          <p:nvPr/>
        </p:nvSpPr>
        <p:spPr>
          <a:xfrm>
            <a:off x="7818120" y="3584448"/>
            <a:ext cx="2560320" cy="146304"/>
          </a:xfrm>
          <a:prstGeom prst="rect">
            <a:avLst/>
          </a:prstGeom>
          <a:noFill/>
          <a:ln/>
        </p:spPr>
        <p:txBody>
          <a:bodyPr wrap="square" lIns="0" tIns="0" rIns="0" bIns="0" rtlCol="0" anchor="ctr">
            <a:normAutofit/>
          </a:bodyPr>
          <a:lstStyle/>
          <a:p>
            <a:pPr marL="0" indent="0">
              <a:buNone/>
            </a:pPr>
            <a:r>
              <a:rPr lang="en-US" sz="880" dirty="0">
                <a:solidFill>
                  <a:srgbClr val="B5C7D9"/>
                </a:solidFill>
                <a:latin typeface="Segoe UI" pitchFamily="34" charset="0"/>
                <a:ea typeface="Segoe UI" pitchFamily="34" charset="-122"/>
                <a:cs typeface="Segoe UI" pitchFamily="34" charset="-120"/>
              </a:rPr>
              <a:t>Target record context</a:t>
            </a:r>
            <a:endParaRPr lang="en-US" sz="880" dirty="0"/>
          </a:p>
        </p:txBody>
      </p:sp>
      <p:sp>
        <p:nvSpPr>
          <p:cNvPr id="27" name="Shape 24"/>
          <p:cNvSpPr/>
          <p:nvPr/>
        </p:nvSpPr>
        <p:spPr>
          <a:xfrm>
            <a:off x="7662672" y="3986784"/>
            <a:ext cx="3090672" cy="310896"/>
          </a:xfrm>
          <a:prstGeom prst="roundRect">
            <a:avLst>
              <a:gd name="adj" fmla="val 17647"/>
            </a:avLst>
          </a:prstGeom>
          <a:solidFill>
            <a:srgbClr val="0C1C35">
              <a:alpha val="92000"/>
            </a:srgbClr>
          </a:solidFill>
          <a:ln w="6350">
            <a:solidFill>
              <a:srgbClr val="48CAE4">
                <a:alpha val="20000"/>
              </a:srgbClr>
            </a:solidFill>
            <a:prstDash val="solid"/>
          </a:ln>
        </p:spPr>
        <p:txBody>
          <a:bodyPr/>
          <a:lstStyle/>
          <a:p>
            <a:endParaRPr lang="en-US"/>
          </a:p>
        </p:txBody>
      </p:sp>
      <p:sp>
        <p:nvSpPr>
          <p:cNvPr id="28" name="Text 25"/>
          <p:cNvSpPr/>
          <p:nvPr/>
        </p:nvSpPr>
        <p:spPr>
          <a:xfrm>
            <a:off x="7818120" y="4059936"/>
            <a:ext cx="2560320" cy="146304"/>
          </a:xfrm>
          <a:prstGeom prst="rect">
            <a:avLst/>
          </a:prstGeom>
          <a:noFill/>
          <a:ln/>
        </p:spPr>
        <p:txBody>
          <a:bodyPr wrap="square" lIns="0" tIns="0" rIns="0" bIns="0" rtlCol="0" anchor="ctr">
            <a:normAutofit/>
          </a:bodyPr>
          <a:lstStyle/>
          <a:p>
            <a:pPr marL="0" indent="0">
              <a:buNone/>
            </a:pPr>
            <a:r>
              <a:rPr lang="en-US" sz="880" dirty="0">
                <a:solidFill>
                  <a:srgbClr val="B5C7D9"/>
                </a:solidFill>
                <a:latin typeface="Segoe UI" pitchFamily="34" charset="0"/>
                <a:ea typeface="Segoe UI" pitchFamily="34" charset="-122"/>
                <a:cs typeface="Segoe UI" pitchFamily="34" charset="-120"/>
              </a:rPr>
              <a:t>Blocked mutations</a:t>
            </a:r>
            <a:endParaRPr lang="en-US" sz="880" dirty="0"/>
          </a:p>
        </p:txBody>
      </p:sp>
      <p:sp>
        <p:nvSpPr>
          <p:cNvPr id="29" name="Shape 26"/>
          <p:cNvSpPr/>
          <p:nvPr/>
        </p:nvSpPr>
        <p:spPr>
          <a:xfrm>
            <a:off x="7662672" y="4462272"/>
            <a:ext cx="3090672" cy="310896"/>
          </a:xfrm>
          <a:prstGeom prst="roundRect">
            <a:avLst>
              <a:gd name="adj" fmla="val 17647"/>
            </a:avLst>
          </a:prstGeom>
          <a:solidFill>
            <a:srgbClr val="0C1C35">
              <a:alpha val="92000"/>
            </a:srgbClr>
          </a:solidFill>
          <a:ln w="6350">
            <a:solidFill>
              <a:srgbClr val="48CAE4">
                <a:alpha val="20000"/>
              </a:srgbClr>
            </a:solidFill>
            <a:prstDash val="solid"/>
          </a:ln>
        </p:spPr>
        <p:txBody>
          <a:bodyPr/>
          <a:lstStyle/>
          <a:p>
            <a:endParaRPr lang="en-US"/>
          </a:p>
        </p:txBody>
      </p:sp>
      <p:sp>
        <p:nvSpPr>
          <p:cNvPr id="30" name="Text 27"/>
          <p:cNvSpPr/>
          <p:nvPr/>
        </p:nvSpPr>
        <p:spPr>
          <a:xfrm>
            <a:off x="7818120" y="4535424"/>
            <a:ext cx="2560320" cy="146304"/>
          </a:xfrm>
          <a:prstGeom prst="rect">
            <a:avLst/>
          </a:prstGeom>
          <a:noFill/>
          <a:ln/>
        </p:spPr>
        <p:txBody>
          <a:bodyPr wrap="square" lIns="0" tIns="0" rIns="0" bIns="0" rtlCol="0" anchor="ctr">
            <a:normAutofit/>
          </a:bodyPr>
          <a:lstStyle/>
          <a:p>
            <a:pPr marL="0" indent="0">
              <a:buNone/>
            </a:pPr>
            <a:r>
              <a:rPr lang="en-US" sz="880" dirty="0">
                <a:solidFill>
                  <a:srgbClr val="B5C7D9"/>
                </a:solidFill>
                <a:latin typeface="Segoe UI" pitchFamily="34" charset="0"/>
                <a:ea typeface="Segoe UI" pitchFamily="34" charset="-122"/>
                <a:cs typeface="Segoe UI" pitchFamily="34" charset="-120"/>
              </a:rPr>
              <a:t>Security alert</a:t>
            </a:r>
            <a:endParaRPr lang="en-US" sz="880" dirty="0"/>
          </a:p>
        </p:txBody>
      </p:sp>
      <p:sp>
        <p:nvSpPr>
          <p:cNvPr id="31" name="Shape 28"/>
          <p:cNvSpPr/>
          <p:nvPr/>
        </p:nvSpPr>
        <p:spPr>
          <a:xfrm>
            <a:off x="548640" y="6446520"/>
            <a:ext cx="11109960" cy="0"/>
          </a:xfrm>
          <a:prstGeom prst="line">
            <a:avLst/>
          </a:prstGeom>
          <a:noFill/>
          <a:ln w="15240">
            <a:solidFill>
              <a:srgbClr val="00EBDF">
                <a:alpha val="45000"/>
              </a:srgbClr>
            </a:solidFill>
            <a:prstDash val="solid"/>
          </a:ln>
        </p:spPr>
        <p:txBody>
          <a:bodyPr/>
          <a:lstStyle/>
          <a:p>
            <a:endParaRPr lang="en-US"/>
          </a:p>
        </p:txBody>
      </p:sp>
      <p:sp>
        <p:nvSpPr>
          <p:cNvPr id="32" name="Text 29"/>
          <p:cNvSpPr/>
          <p:nvPr/>
        </p:nvSpPr>
        <p:spPr>
          <a:xfrm>
            <a:off x="594360" y="6528816"/>
            <a:ext cx="4937760" cy="182880"/>
          </a:xfrm>
          <a:prstGeom prst="rect">
            <a:avLst/>
          </a:prstGeom>
          <a:noFill/>
          <a:ln/>
        </p:spPr>
        <p:txBody>
          <a:bodyPr wrap="square" lIns="0" tIns="0" rIns="0" bIns="0" rtlCol="0" anchor="ctr"/>
          <a:lstStyle/>
          <a:p>
            <a:pPr marL="0" indent="0">
              <a:buNone/>
            </a:pPr>
            <a:r>
              <a:rPr lang="en-US" sz="750" dirty="0">
                <a:solidFill>
                  <a:srgbClr val="6D7F96"/>
                </a:solidFill>
                <a:latin typeface="Segoe UI" pitchFamily="34" charset="0"/>
                <a:ea typeface="Segoe UI" pitchFamily="34" charset="-122"/>
                <a:cs typeface="Segoe UI" pitchFamily="34" charset="-120"/>
              </a:rPr>
              <a:t>AURELIUS Management OS</a:t>
            </a:r>
            <a:endParaRPr lang="en-US" sz="750" dirty="0"/>
          </a:p>
        </p:txBody>
      </p:sp>
      <p:sp>
        <p:nvSpPr>
          <p:cNvPr id="33" name="Text 30"/>
          <p:cNvSpPr/>
          <p:nvPr/>
        </p:nvSpPr>
        <p:spPr>
          <a:xfrm>
            <a:off x="11384280" y="6473952"/>
            <a:ext cx="320040" cy="228600"/>
          </a:xfrm>
          <a:prstGeom prst="rect">
            <a:avLst/>
          </a:prstGeom>
          <a:noFill/>
          <a:ln/>
        </p:spPr>
        <p:txBody>
          <a:bodyPr wrap="square" lIns="0" tIns="0" rIns="0" bIns="0" rtlCol="0" anchor="ctr"/>
          <a:lstStyle/>
          <a:p>
            <a:pPr marL="0" indent="0" algn="r">
              <a:buNone/>
            </a:pPr>
            <a:r>
              <a:rPr lang="en-US" sz="800" dirty="0">
                <a:solidFill>
                  <a:srgbClr val="00EBDF"/>
                </a:solidFill>
                <a:latin typeface="Segoe UI Semibold" pitchFamily="34" charset="0"/>
                <a:ea typeface="Segoe UI Semibold" pitchFamily="34" charset="-122"/>
                <a:cs typeface="Segoe UI Semibold" pitchFamily="34" charset="-120"/>
              </a:rPr>
              <a:t>08</a:t>
            </a:r>
            <a:endParaRPr lang="en-US" sz="800" dirty="0"/>
          </a:p>
        </p:txBody>
      </p:sp>
      <p:sp>
        <p:nvSpPr>
          <p:cNvPr id="34" name="TextBox 33"/>
          <p:cNvSpPr txBox="1"/>
          <p:nvPr/>
        </p:nvSpPr>
        <p:spPr>
          <a:xfrm>
            <a:off x="6309360" y="5989320"/>
            <a:ext cx="5212080" cy="256032"/>
          </a:xfrm>
          <a:prstGeom prst="rect">
            <a:avLst/>
          </a:prstGeom>
          <a:noFill/>
        </p:spPr>
        <p:txBody>
          <a:bodyPr wrap="none">
            <a:spAutoFit/>
          </a:bodyPr>
          <a:lstStyle/>
          <a:p>
            <a:pPr algn="r">
              <a:defRPr sz="869" i="1">
                <a:solidFill>
                  <a:srgbClr val="91AAC3"/>
                </a:solidFill>
              </a:defRPr>
            </a:pPr>
            <a:r>
              <a:t>(Kaplan &amp; Haenlein, 2019)</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0B132B"/>
        </a:solidFill>
        <a:effectLst/>
      </p:bgPr>
    </p:bg>
    <p:spTree>
      <p:nvGrpSpPr>
        <p:cNvPr id="1" name=""/>
        <p:cNvGrpSpPr/>
        <p:nvPr/>
      </p:nvGrpSpPr>
      <p:grpSpPr>
        <a:xfrm>
          <a:off x="0" y="0"/>
          <a:ext cx="0" cy="0"/>
          <a:chOff x="0" y="0"/>
          <a:chExt cx="0" cy="0"/>
        </a:xfrm>
      </p:grpSpPr>
      <p:pic>
        <p:nvPicPr>
          <p:cNvPr id="2" name="Image 0" descr="/mnt/data/a_wide_futuristic_digital_tech_concept_scene_with_batch_9.png"/>
          <p:cNvPicPr>
            <a:picLocks noChangeAspect="1"/>
          </p:cNvPicPr>
          <p:nvPr/>
        </p:nvPicPr>
        <p:blipFill>
          <a:blip r:embed="rId3"/>
          <a:srcRect t="25" b="25"/>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B132B">
              <a:alpha val="62000"/>
            </a:srgbClr>
          </a:solidFill>
          <a:ln w="12700">
            <a:solidFill>
              <a:srgbClr val="333333">
                <a:alpha val="0"/>
              </a:srgbClr>
            </a:solidFill>
            <a:prstDash val="solid"/>
          </a:ln>
        </p:spPr>
        <p:txBody>
          <a:bodyPr/>
          <a:lstStyle/>
          <a:p>
            <a:endParaRPr lang="en-US"/>
          </a:p>
        </p:txBody>
      </p:sp>
      <p:sp>
        <p:nvSpPr>
          <p:cNvPr id="4" name="Shape 1"/>
          <p:cNvSpPr/>
          <p:nvPr/>
        </p:nvSpPr>
        <p:spPr>
          <a:xfrm>
            <a:off x="0" y="0"/>
            <a:ext cx="12191695" cy="6858000"/>
          </a:xfrm>
          <a:prstGeom prst="rect">
            <a:avLst/>
          </a:prstGeom>
          <a:solidFill>
            <a:srgbClr val="000000">
              <a:alpha val="32000"/>
            </a:srgbClr>
          </a:solidFill>
          <a:ln w="12700">
            <a:solidFill>
              <a:srgbClr val="333333">
                <a:alpha val="0"/>
              </a:srgbClr>
            </a:solidFill>
            <a:prstDash val="solid"/>
          </a:ln>
        </p:spPr>
        <p:txBody>
          <a:bodyPr/>
          <a:lstStyle/>
          <a:p>
            <a:endParaRPr lang="en-US"/>
          </a:p>
        </p:txBody>
      </p:sp>
      <p:sp>
        <p:nvSpPr>
          <p:cNvPr id="5" name="Text 2"/>
          <p:cNvSpPr/>
          <p:nvPr/>
        </p:nvSpPr>
        <p:spPr>
          <a:xfrm>
            <a:off x="658368" y="429768"/>
            <a:ext cx="5120640" cy="246888"/>
          </a:xfrm>
          <a:prstGeom prst="rect">
            <a:avLst/>
          </a:prstGeom>
          <a:noFill/>
          <a:ln/>
        </p:spPr>
        <p:txBody>
          <a:bodyPr wrap="square" lIns="0" tIns="0" rIns="0" bIns="0" rtlCol="0" anchor="ctr"/>
          <a:lstStyle/>
          <a:p>
            <a:pPr marL="0" indent="0">
              <a:buNone/>
            </a:pPr>
            <a:r>
              <a:rPr lang="en-US" sz="850" dirty="0">
                <a:solidFill>
                  <a:srgbClr val="00EBDF"/>
                </a:solidFill>
                <a:latin typeface="Segoe UI Semibold" pitchFamily="34" charset="0"/>
                <a:ea typeface="Segoe UI Semibold" pitchFamily="34" charset="-122"/>
                <a:cs typeface="Segoe UI Semibold" pitchFamily="34" charset="-120"/>
              </a:rPr>
              <a:t>PERFORMANCE</a:t>
            </a:r>
            <a:endParaRPr lang="en-US" sz="850" dirty="0"/>
          </a:p>
        </p:txBody>
      </p:sp>
      <p:sp>
        <p:nvSpPr>
          <p:cNvPr id="6" name="Text 3"/>
          <p:cNvSpPr/>
          <p:nvPr/>
        </p:nvSpPr>
        <p:spPr>
          <a:xfrm>
            <a:off x="658368" y="713232"/>
            <a:ext cx="7680960" cy="493776"/>
          </a:xfrm>
          <a:prstGeom prst="rect">
            <a:avLst/>
          </a:prstGeom>
          <a:noFill/>
          <a:ln/>
        </p:spPr>
        <p:txBody>
          <a:bodyPr wrap="square" lIns="0" tIns="0" rIns="0" bIns="0" rtlCol="0" anchor="ctr">
            <a:normAutofit/>
          </a:bodyPr>
          <a:lstStyle/>
          <a:p>
            <a:pPr marL="0" indent="0">
              <a:buNone/>
            </a:pPr>
            <a:r>
              <a:rPr lang="en-US" sz="2700" b="1" dirty="0">
                <a:solidFill>
                  <a:srgbClr val="F5FBFF"/>
                </a:solidFill>
                <a:latin typeface="Segoe UI Semibold" pitchFamily="34" charset="0"/>
                <a:ea typeface="Segoe UI Semibold" pitchFamily="34" charset="-122"/>
                <a:cs typeface="Segoe UI Semibold" pitchFamily="34" charset="-120"/>
              </a:rPr>
              <a:t>Caching, Scalability &amp; Endpoint Speed</a:t>
            </a:r>
            <a:endParaRPr lang="en-US" sz="2700" dirty="0"/>
          </a:p>
        </p:txBody>
      </p:sp>
      <p:sp>
        <p:nvSpPr>
          <p:cNvPr id="7" name="Text 4"/>
          <p:cNvSpPr/>
          <p:nvPr/>
        </p:nvSpPr>
        <p:spPr>
          <a:xfrm>
            <a:off x="676656" y="1225296"/>
            <a:ext cx="7452360" cy="310896"/>
          </a:xfrm>
          <a:prstGeom prst="rect">
            <a:avLst/>
          </a:prstGeom>
          <a:noFill/>
          <a:ln/>
        </p:spPr>
        <p:txBody>
          <a:bodyPr wrap="square" lIns="0" tIns="0" rIns="0" bIns="0" rtlCol="0" anchor="ctr">
            <a:normAutofit/>
          </a:bodyPr>
          <a:lstStyle/>
          <a:p>
            <a:pPr marL="0" indent="0">
              <a:buNone/>
            </a:pPr>
            <a:r>
              <a:rPr lang="en-US" sz="1250" dirty="0">
                <a:solidFill>
                  <a:srgbClr val="B5C7D9"/>
                </a:solidFill>
                <a:latin typeface="Segoe UI" pitchFamily="34" charset="0"/>
                <a:ea typeface="Segoe UI" pitchFamily="34" charset="-122"/>
                <a:cs typeface="Segoe UI" pitchFamily="34" charset="-120"/>
              </a:rPr>
              <a:t>Aurelius is optimized to avoid database fatigue and token overload.</a:t>
            </a:r>
            <a:endParaRPr lang="en-US" sz="1250" dirty="0"/>
          </a:p>
        </p:txBody>
      </p:sp>
      <p:sp>
        <p:nvSpPr>
          <p:cNvPr id="8" name="Shape 5"/>
          <p:cNvSpPr/>
          <p:nvPr/>
        </p:nvSpPr>
        <p:spPr>
          <a:xfrm>
            <a:off x="658368" y="1755648"/>
            <a:ext cx="5074920" cy="4133088"/>
          </a:xfrm>
          <a:prstGeom prst="roundRect">
            <a:avLst>
              <a:gd name="adj" fmla="val 2655"/>
            </a:avLst>
          </a:prstGeom>
          <a:solidFill>
            <a:srgbClr val="020916">
              <a:alpha val="91000"/>
            </a:srgbClr>
          </a:solidFill>
          <a:ln w="12700">
            <a:solidFill>
              <a:srgbClr val="00EBDF">
                <a:alpha val="30000"/>
              </a:srgbClr>
            </a:solidFill>
            <a:prstDash val="solid"/>
          </a:ln>
          <a:effectLst>
            <a:outerShdw blurRad="25400" dist="50800" dir="2700000" algn="bl" rotWithShape="0">
              <a:srgbClr val="00EBDF">
                <a:alpha val="18000"/>
              </a:srgbClr>
            </a:outerShdw>
          </a:effectLst>
        </p:spPr>
        <p:txBody>
          <a:bodyPr/>
          <a:lstStyle/>
          <a:p>
            <a:endParaRPr lang="en-US"/>
          </a:p>
        </p:txBody>
      </p:sp>
      <p:sp>
        <p:nvSpPr>
          <p:cNvPr id="9" name="Text 6"/>
          <p:cNvSpPr/>
          <p:nvPr/>
        </p:nvSpPr>
        <p:spPr>
          <a:xfrm>
            <a:off x="932688" y="1975104"/>
            <a:ext cx="2834640" cy="219456"/>
          </a:xfrm>
          <a:prstGeom prst="rect">
            <a:avLst/>
          </a:prstGeom>
          <a:noFill/>
          <a:ln/>
        </p:spPr>
        <p:txBody>
          <a:bodyPr wrap="square" lIns="0" tIns="0" rIns="0" bIns="0" rtlCol="0" anchor="ctr">
            <a:normAutofit/>
          </a:bodyPr>
          <a:lstStyle/>
          <a:p>
            <a:pPr marL="0" indent="0">
              <a:buNone/>
            </a:pPr>
            <a:r>
              <a:rPr lang="en-US" sz="850" dirty="0">
                <a:solidFill>
                  <a:srgbClr val="00EBDF"/>
                </a:solidFill>
                <a:latin typeface="Segoe UI Semibold" pitchFamily="34" charset="0"/>
                <a:ea typeface="Segoe UI Semibold" pitchFamily="34" charset="-122"/>
                <a:cs typeface="Segoe UI Semibold" pitchFamily="34" charset="-120"/>
              </a:rPr>
              <a:t>N+1 QUERY ELIMINATION</a:t>
            </a:r>
            <a:endParaRPr lang="en-US" sz="850" dirty="0"/>
          </a:p>
        </p:txBody>
      </p:sp>
      <p:graphicFrame>
        <p:nvGraphicFramePr>
          <p:cNvPr id="10" name="Chart 0"/>
          <p:cNvGraphicFramePr/>
          <p:nvPr/>
        </p:nvGraphicFramePr>
        <p:xfrm>
          <a:off x="960120" y="2423160"/>
          <a:ext cx="4224528" cy="1755648"/>
        </p:xfrm>
        <a:graphic>
          <a:graphicData uri="http://schemas.openxmlformats.org/drawingml/2006/chart">
            <c:chart xmlns:c="http://schemas.openxmlformats.org/drawingml/2006/chart" xmlns:r="http://schemas.openxmlformats.org/officeDocument/2006/relationships" r:id="rId4"/>
          </a:graphicData>
        </a:graphic>
      </p:graphicFrame>
      <p:sp>
        <p:nvSpPr>
          <p:cNvPr id="11" name="Text 7"/>
          <p:cNvSpPr/>
          <p:nvPr/>
        </p:nvSpPr>
        <p:spPr>
          <a:xfrm>
            <a:off x="950976" y="4498848"/>
            <a:ext cx="4187952" cy="420624"/>
          </a:xfrm>
          <a:prstGeom prst="rect">
            <a:avLst/>
          </a:prstGeom>
          <a:noFill/>
          <a:ln/>
        </p:spPr>
        <p:txBody>
          <a:bodyPr wrap="square" lIns="0" tIns="0" rIns="0" bIns="0" rtlCol="0" anchor="ctr">
            <a:normAutofit/>
          </a:bodyPr>
          <a:lstStyle/>
          <a:p>
            <a:pPr marL="0" indent="0">
              <a:buNone/>
            </a:pPr>
            <a:r>
              <a:rPr lang="en-US" sz="1050" dirty="0">
                <a:solidFill>
                  <a:srgbClr val="B5C7D9"/>
                </a:solidFill>
                <a:latin typeface="Segoe UI" pitchFamily="34" charset="0"/>
                <a:ea typeface="Segoe UI" pitchFamily="34" charset="-122"/>
                <a:cs typeface="Segoe UI" pitchFamily="34" charset="-120"/>
              </a:rPr>
              <a:t>Pre-fetch all skills once, group in memory, and run optimization without repeated DB calls.</a:t>
            </a:r>
            <a:endParaRPr lang="en-US" sz="1050" dirty="0"/>
          </a:p>
        </p:txBody>
      </p:sp>
      <p:sp>
        <p:nvSpPr>
          <p:cNvPr id="12" name="Shape 8"/>
          <p:cNvSpPr/>
          <p:nvPr/>
        </p:nvSpPr>
        <p:spPr>
          <a:xfrm>
            <a:off x="6629400" y="1755648"/>
            <a:ext cx="4526280" cy="4133088"/>
          </a:xfrm>
          <a:prstGeom prst="roundRect">
            <a:avLst>
              <a:gd name="adj" fmla="val 2655"/>
            </a:avLst>
          </a:prstGeom>
          <a:solidFill>
            <a:srgbClr val="020916">
              <a:alpha val="92000"/>
            </a:srgbClr>
          </a:solidFill>
          <a:ln w="12700">
            <a:solidFill>
              <a:srgbClr val="00EBDF">
                <a:alpha val="30000"/>
              </a:srgbClr>
            </a:solidFill>
            <a:prstDash val="solid"/>
          </a:ln>
          <a:effectLst>
            <a:outerShdw blurRad="25400" dist="50800" dir="2700000" algn="bl" rotWithShape="0">
              <a:srgbClr val="00EBDF">
                <a:alpha val="18000"/>
              </a:srgbClr>
            </a:outerShdw>
          </a:effectLst>
        </p:spPr>
        <p:txBody>
          <a:bodyPr/>
          <a:lstStyle/>
          <a:p>
            <a:endParaRPr lang="en-US"/>
          </a:p>
        </p:txBody>
      </p:sp>
      <p:sp>
        <p:nvSpPr>
          <p:cNvPr id="13" name="Text 9"/>
          <p:cNvSpPr/>
          <p:nvPr/>
        </p:nvSpPr>
        <p:spPr>
          <a:xfrm>
            <a:off x="6903720" y="1975104"/>
            <a:ext cx="2560320" cy="219456"/>
          </a:xfrm>
          <a:prstGeom prst="rect">
            <a:avLst/>
          </a:prstGeom>
          <a:noFill/>
          <a:ln/>
        </p:spPr>
        <p:txBody>
          <a:bodyPr wrap="square" lIns="0" tIns="0" rIns="0" bIns="0" rtlCol="0" anchor="ctr">
            <a:normAutofit/>
          </a:bodyPr>
          <a:lstStyle/>
          <a:p>
            <a:pPr marL="0" indent="0">
              <a:buNone/>
            </a:pPr>
            <a:r>
              <a:rPr lang="en-US" sz="850" dirty="0">
                <a:solidFill>
                  <a:srgbClr val="00EBDF"/>
                </a:solidFill>
                <a:latin typeface="Segoe UI Semibold" pitchFamily="34" charset="0"/>
                <a:ea typeface="Segoe UI Semibold" pitchFamily="34" charset="-122"/>
                <a:cs typeface="Segoe UI Semibold" pitchFamily="34" charset="-120"/>
              </a:rPr>
              <a:t>VERIFIED BENCHMARKS</a:t>
            </a:r>
            <a:endParaRPr lang="en-US" sz="850" dirty="0"/>
          </a:p>
        </p:txBody>
      </p:sp>
      <p:sp>
        <p:nvSpPr>
          <p:cNvPr id="14" name="Shape 10"/>
          <p:cNvSpPr/>
          <p:nvPr/>
        </p:nvSpPr>
        <p:spPr>
          <a:xfrm>
            <a:off x="6903720" y="2331720"/>
            <a:ext cx="3520440" cy="777240"/>
          </a:xfrm>
          <a:prstGeom prst="roundRect">
            <a:avLst>
              <a:gd name="adj" fmla="val 14118"/>
            </a:avLst>
          </a:prstGeom>
          <a:solidFill>
            <a:srgbClr val="07101F">
              <a:alpha val="92000"/>
            </a:srgbClr>
          </a:solidFill>
          <a:ln w="12700">
            <a:solidFill>
              <a:srgbClr val="00EBDF">
                <a:alpha val="60000"/>
              </a:srgbClr>
            </a:solidFill>
            <a:prstDash val="solid"/>
          </a:ln>
          <a:effectLst>
            <a:outerShdw blurRad="25400" dist="50800" dir="2700000" algn="bl" rotWithShape="0">
              <a:srgbClr val="00EBDF">
                <a:alpha val="18000"/>
              </a:srgbClr>
            </a:outerShdw>
          </a:effectLst>
        </p:spPr>
        <p:txBody>
          <a:bodyPr/>
          <a:lstStyle/>
          <a:p>
            <a:endParaRPr lang="en-US"/>
          </a:p>
        </p:txBody>
      </p:sp>
      <p:sp>
        <p:nvSpPr>
          <p:cNvPr id="15" name="Text 11"/>
          <p:cNvSpPr/>
          <p:nvPr/>
        </p:nvSpPr>
        <p:spPr>
          <a:xfrm>
            <a:off x="7068312" y="2432304"/>
            <a:ext cx="3191256" cy="349758"/>
          </a:xfrm>
          <a:prstGeom prst="rect">
            <a:avLst/>
          </a:prstGeom>
          <a:noFill/>
          <a:ln/>
        </p:spPr>
        <p:txBody>
          <a:bodyPr wrap="square" lIns="0" tIns="0" rIns="0" bIns="0" rtlCol="0" anchor="ctr">
            <a:normAutofit lnSpcReduction="10000"/>
          </a:bodyPr>
          <a:lstStyle/>
          <a:p>
            <a:pPr marL="0" indent="0">
              <a:buNone/>
            </a:pPr>
            <a:r>
              <a:rPr lang="en-US" sz="2300" b="1" dirty="0">
                <a:solidFill>
                  <a:srgbClr val="00EBDF"/>
                </a:solidFill>
                <a:latin typeface="Segoe UI Semibold" pitchFamily="34" charset="0"/>
                <a:ea typeface="Segoe UI Semibold" pitchFamily="34" charset="-122"/>
                <a:cs typeface="Segoe UI Semibold" pitchFamily="34" charset="-120"/>
              </a:rPr>
              <a:t>&lt;5ms</a:t>
            </a:r>
            <a:endParaRPr lang="en-US" sz="2300" dirty="0"/>
          </a:p>
        </p:txBody>
      </p:sp>
      <p:sp>
        <p:nvSpPr>
          <p:cNvPr id="16" name="Text 12"/>
          <p:cNvSpPr/>
          <p:nvPr/>
        </p:nvSpPr>
        <p:spPr>
          <a:xfrm>
            <a:off x="7086600" y="2735885"/>
            <a:ext cx="3154680" cy="279806"/>
          </a:xfrm>
          <a:prstGeom prst="rect">
            <a:avLst/>
          </a:prstGeom>
          <a:noFill/>
          <a:ln/>
        </p:spPr>
        <p:txBody>
          <a:bodyPr wrap="square" lIns="0" tIns="0" rIns="0" bIns="0" rtlCol="0" anchor="ctr">
            <a:normAutofit/>
          </a:bodyPr>
          <a:lstStyle/>
          <a:p>
            <a:pPr marL="0" indent="0">
              <a:buNone/>
            </a:pPr>
            <a:r>
              <a:rPr lang="en-US" sz="880" dirty="0">
                <a:solidFill>
                  <a:srgbClr val="B5C7D9"/>
                </a:solidFill>
                <a:latin typeface="Segoe UI" pitchFamily="34" charset="0"/>
                <a:ea typeface="Segoe UI" pitchFamily="34" charset="-122"/>
                <a:cs typeface="Segoe UI" pitchFamily="34" charset="-120"/>
              </a:rPr>
              <a:t>intelligence calculation endpoint time</a:t>
            </a:r>
            <a:endParaRPr lang="en-US" sz="880" dirty="0"/>
          </a:p>
        </p:txBody>
      </p:sp>
      <p:sp>
        <p:nvSpPr>
          <p:cNvPr id="17" name="Shape 13"/>
          <p:cNvSpPr/>
          <p:nvPr/>
        </p:nvSpPr>
        <p:spPr>
          <a:xfrm>
            <a:off x="6903720" y="3291840"/>
            <a:ext cx="3520440" cy="777240"/>
          </a:xfrm>
          <a:prstGeom prst="roundRect">
            <a:avLst>
              <a:gd name="adj" fmla="val 14118"/>
            </a:avLst>
          </a:prstGeom>
          <a:solidFill>
            <a:srgbClr val="07101F">
              <a:alpha val="92000"/>
            </a:srgbClr>
          </a:solidFill>
          <a:ln w="12700">
            <a:solidFill>
              <a:srgbClr val="29F0A0">
                <a:alpha val="60000"/>
              </a:srgbClr>
            </a:solidFill>
            <a:prstDash val="solid"/>
          </a:ln>
          <a:effectLst>
            <a:outerShdw blurRad="25400" dist="50800" dir="2700000" algn="bl" rotWithShape="0">
              <a:srgbClr val="00EBDF">
                <a:alpha val="18000"/>
              </a:srgbClr>
            </a:outerShdw>
          </a:effectLst>
        </p:spPr>
        <p:txBody>
          <a:bodyPr/>
          <a:lstStyle/>
          <a:p>
            <a:endParaRPr lang="en-US"/>
          </a:p>
        </p:txBody>
      </p:sp>
      <p:sp>
        <p:nvSpPr>
          <p:cNvPr id="18" name="Text 14"/>
          <p:cNvSpPr/>
          <p:nvPr/>
        </p:nvSpPr>
        <p:spPr>
          <a:xfrm>
            <a:off x="7068312" y="3392424"/>
            <a:ext cx="3191256" cy="349758"/>
          </a:xfrm>
          <a:prstGeom prst="rect">
            <a:avLst/>
          </a:prstGeom>
          <a:noFill/>
          <a:ln/>
        </p:spPr>
        <p:txBody>
          <a:bodyPr wrap="square" lIns="0" tIns="0" rIns="0" bIns="0" rtlCol="0" anchor="ctr">
            <a:normAutofit lnSpcReduction="10000"/>
          </a:bodyPr>
          <a:lstStyle/>
          <a:p>
            <a:pPr marL="0" indent="0">
              <a:buNone/>
            </a:pPr>
            <a:r>
              <a:rPr lang="en-US" sz="2300" b="1" dirty="0">
                <a:solidFill>
                  <a:srgbClr val="29F0A0"/>
                </a:solidFill>
                <a:latin typeface="Segoe UI Semibold" pitchFamily="34" charset="0"/>
                <a:ea typeface="Segoe UI Semibold" pitchFamily="34" charset="-122"/>
                <a:cs typeface="Segoe UI Semibold" pitchFamily="34" charset="-120"/>
              </a:rPr>
              <a:t>400×</a:t>
            </a:r>
            <a:endParaRPr lang="en-US" sz="2300" dirty="0"/>
          </a:p>
        </p:txBody>
      </p:sp>
      <p:sp>
        <p:nvSpPr>
          <p:cNvPr id="19" name="Text 15"/>
          <p:cNvSpPr/>
          <p:nvPr/>
        </p:nvSpPr>
        <p:spPr>
          <a:xfrm>
            <a:off x="7086600" y="3696005"/>
            <a:ext cx="3154680" cy="279806"/>
          </a:xfrm>
          <a:prstGeom prst="rect">
            <a:avLst/>
          </a:prstGeom>
          <a:noFill/>
          <a:ln/>
        </p:spPr>
        <p:txBody>
          <a:bodyPr wrap="square" lIns="0" tIns="0" rIns="0" bIns="0" rtlCol="0" anchor="ctr">
            <a:normAutofit/>
          </a:bodyPr>
          <a:lstStyle/>
          <a:p>
            <a:pPr marL="0" indent="0">
              <a:buNone/>
            </a:pPr>
            <a:r>
              <a:rPr lang="en-US" sz="880" dirty="0">
                <a:solidFill>
                  <a:srgbClr val="B5C7D9"/>
                </a:solidFill>
                <a:latin typeface="Segoe UI" pitchFamily="34" charset="0"/>
                <a:ea typeface="Segoe UI" pitchFamily="34" charset="-122"/>
                <a:cs typeface="Segoe UI" pitchFamily="34" charset="-120"/>
              </a:rPr>
              <a:t>speedup after query/caching refactor</a:t>
            </a:r>
            <a:endParaRPr lang="en-US" sz="880" dirty="0"/>
          </a:p>
        </p:txBody>
      </p:sp>
      <p:sp>
        <p:nvSpPr>
          <p:cNvPr id="20" name="Shape 16"/>
          <p:cNvSpPr/>
          <p:nvPr/>
        </p:nvSpPr>
        <p:spPr>
          <a:xfrm>
            <a:off x="6903720" y="4251960"/>
            <a:ext cx="3520440" cy="777240"/>
          </a:xfrm>
          <a:prstGeom prst="roundRect">
            <a:avLst>
              <a:gd name="adj" fmla="val 14118"/>
            </a:avLst>
          </a:prstGeom>
          <a:solidFill>
            <a:srgbClr val="07101F">
              <a:alpha val="92000"/>
            </a:srgbClr>
          </a:solidFill>
          <a:ln w="12700">
            <a:solidFill>
              <a:srgbClr val="48CAE4">
                <a:alpha val="60000"/>
              </a:srgbClr>
            </a:solidFill>
            <a:prstDash val="solid"/>
          </a:ln>
          <a:effectLst>
            <a:outerShdw blurRad="25400" dist="50800" dir="2700000" algn="bl" rotWithShape="0">
              <a:srgbClr val="00EBDF">
                <a:alpha val="18000"/>
              </a:srgbClr>
            </a:outerShdw>
          </a:effectLst>
        </p:spPr>
        <p:txBody>
          <a:bodyPr/>
          <a:lstStyle/>
          <a:p>
            <a:endParaRPr lang="en-US"/>
          </a:p>
        </p:txBody>
      </p:sp>
      <p:sp>
        <p:nvSpPr>
          <p:cNvPr id="21" name="Text 17"/>
          <p:cNvSpPr/>
          <p:nvPr/>
        </p:nvSpPr>
        <p:spPr>
          <a:xfrm>
            <a:off x="7068312" y="4352544"/>
            <a:ext cx="3191256" cy="349758"/>
          </a:xfrm>
          <a:prstGeom prst="rect">
            <a:avLst/>
          </a:prstGeom>
          <a:noFill/>
          <a:ln/>
        </p:spPr>
        <p:txBody>
          <a:bodyPr wrap="square" lIns="0" tIns="0" rIns="0" bIns="0" rtlCol="0" anchor="ctr">
            <a:normAutofit lnSpcReduction="10000"/>
          </a:bodyPr>
          <a:lstStyle/>
          <a:p>
            <a:pPr marL="0" indent="0">
              <a:buNone/>
            </a:pPr>
            <a:r>
              <a:rPr lang="en-US" sz="2300" b="1" dirty="0">
                <a:solidFill>
                  <a:srgbClr val="48CAE4"/>
                </a:solidFill>
                <a:latin typeface="Segoe UI Semibold" pitchFamily="34" charset="0"/>
                <a:ea typeface="Segoe UI Semibold" pitchFamily="34" charset="-122"/>
                <a:cs typeface="Segoe UI Semibold" pitchFamily="34" charset="-120"/>
              </a:rPr>
              <a:t>&lt;80ms</a:t>
            </a:r>
            <a:endParaRPr lang="en-US" sz="2300" dirty="0"/>
          </a:p>
        </p:txBody>
      </p:sp>
      <p:sp>
        <p:nvSpPr>
          <p:cNvPr id="22" name="Text 18"/>
          <p:cNvSpPr/>
          <p:nvPr/>
        </p:nvSpPr>
        <p:spPr>
          <a:xfrm>
            <a:off x="7086600" y="4656125"/>
            <a:ext cx="3154680" cy="279806"/>
          </a:xfrm>
          <a:prstGeom prst="rect">
            <a:avLst/>
          </a:prstGeom>
          <a:noFill/>
          <a:ln/>
        </p:spPr>
        <p:txBody>
          <a:bodyPr wrap="square" lIns="0" tIns="0" rIns="0" bIns="0" rtlCol="0" anchor="ctr">
            <a:normAutofit/>
          </a:bodyPr>
          <a:lstStyle/>
          <a:p>
            <a:pPr marL="0" indent="0">
              <a:buNone/>
            </a:pPr>
            <a:r>
              <a:rPr lang="en-US" sz="880" dirty="0">
                <a:solidFill>
                  <a:srgbClr val="B5C7D9"/>
                </a:solidFill>
                <a:latin typeface="Segoe UI" pitchFamily="34" charset="0"/>
                <a:ea typeface="Segoe UI" pitchFamily="34" charset="-122"/>
                <a:cs typeface="Segoe UI" pitchFamily="34" charset="-120"/>
              </a:rPr>
              <a:t>SSE start latency for real-time streaming</a:t>
            </a:r>
            <a:endParaRPr lang="en-US" sz="880" dirty="0"/>
          </a:p>
        </p:txBody>
      </p:sp>
      <p:sp>
        <p:nvSpPr>
          <p:cNvPr id="23" name="Shape 19"/>
          <p:cNvSpPr/>
          <p:nvPr/>
        </p:nvSpPr>
        <p:spPr>
          <a:xfrm>
            <a:off x="548640" y="6446520"/>
            <a:ext cx="11109960" cy="0"/>
          </a:xfrm>
          <a:prstGeom prst="line">
            <a:avLst/>
          </a:prstGeom>
          <a:noFill/>
          <a:ln w="15240">
            <a:solidFill>
              <a:srgbClr val="00EBDF">
                <a:alpha val="45000"/>
              </a:srgbClr>
            </a:solidFill>
            <a:prstDash val="solid"/>
          </a:ln>
        </p:spPr>
        <p:txBody>
          <a:bodyPr/>
          <a:lstStyle/>
          <a:p>
            <a:endParaRPr lang="en-US"/>
          </a:p>
        </p:txBody>
      </p:sp>
      <p:sp>
        <p:nvSpPr>
          <p:cNvPr id="24" name="Text 20"/>
          <p:cNvSpPr/>
          <p:nvPr/>
        </p:nvSpPr>
        <p:spPr>
          <a:xfrm>
            <a:off x="594360" y="6528816"/>
            <a:ext cx="4937760" cy="182880"/>
          </a:xfrm>
          <a:prstGeom prst="rect">
            <a:avLst/>
          </a:prstGeom>
          <a:noFill/>
          <a:ln/>
        </p:spPr>
        <p:txBody>
          <a:bodyPr wrap="square" lIns="0" tIns="0" rIns="0" bIns="0" rtlCol="0" anchor="ctr"/>
          <a:lstStyle/>
          <a:p>
            <a:pPr marL="0" indent="0">
              <a:buNone/>
            </a:pPr>
            <a:r>
              <a:rPr lang="en-US" sz="750" dirty="0">
                <a:solidFill>
                  <a:srgbClr val="6D7F96"/>
                </a:solidFill>
                <a:latin typeface="Segoe UI" pitchFamily="34" charset="0"/>
                <a:ea typeface="Segoe UI" pitchFamily="34" charset="-122"/>
                <a:cs typeface="Segoe UI" pitchFamily="34" charset="-120"/>
              </a:rPr>
              <a:t>AURELIUS Management OS</a:t>
            </a:r>
            <a:endParaRPr lang="en-US" sz="750" dirty="0"/>
          </a:p>
        </p:txBody>
      </p:sp>
      <p:sp>
        <p:nvSpPr>
          <p:cNvPr id="25" name="Text 21"/>
          <p:cNvSpPr/>
          <p:nvPr/>
        </p:nvSpPr>
        <p:spPr>
          <a:xfrm>
            <a:off x="11384280" y="6473952"/>
            <a:ext cx="320040" cy="228600"/>
          </a:xfrm>
          <a:prstGeom prst="rect">
            <a:avLst/>
          </a:prstGeom>
          <a:noFill/>
          <a:ln/>
        </p:spPr>
        <p:txBody>
          <a:bodyPr wrap="square" lIns="0" tIns="0" rIns="0" bIns="0" rtlCol="0" anchor="ctr"/>
          <a:lstStyle/>
          <a:p>
            <a:pPr marL="0" indent="0" algn="r">
              <a:buNone/>
            </a:pPr>
            <a:r>
              <a:rPr lang="en-US" sz="800" dirty="0">
                <a:solidFill>
                  <a:srgbClr val="00EBDF"/>
                </a:solidFill>
                <a:latin typeface="Segoe UI Semibold" pitchFamily="34" charset="0"/>
                <a:ea typeface="Segoe UI Semibold" pitchFamily="34" charset="-122"/>
                <a:cs typeface="Segoe UI Semibold" pitchFamily="34" charset="-120"/>
              </a:rPr>
              <a:t>09</a:t>
            </a:r>
            <a:endParaRPr lang="en-US" sz="800" dirty="0"/>
          </a:p>
        </p:txBody>
      </p:sp>
      <p:sp>
        <p:nvSpPr>
          <p:cNvPr id="26" name="TextBox 25"/>
          <p:cNvSpPr txBox="1"/>
          <p:nvPr/>
        </p:nvSpPr>
        <p:spPr>
          <a:xfrm>
            <a:off x="6309360" y="5989320"/>
            <a:ext cx="5212080" cy="256032"/>
          </a:xfrm>
          <a:prstGeom prst="rect">
            <a:avLst/>
          </a:prstGeom>
          <a:noFill/>
        </p:spPr>
        <p:txBody>
          <a:bodyPr wrap="none">
            <a:spAutoFit/>
          </a:bodyPr>
          <a:lstStyle/>
          <a:p>
            <a:pPr algn="r">
              <a:defRPr sz="869" i="1">
                <a:solidFill>
                  <a:srgbClr val="91AAC3"/>
                </a:solidFill>
              </a:defRPr>
            </a:pPr>
            <a:r>
              <a:t>(Kirkpatrick et al., 1983)</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0B132B"/>
        </a:solidFill>
        <a:effectLst/>
      </p:bgPr>
    </p:bg>
    <p:spTree>
      <p:nvGrpSpPr>
        <p:cNvPr id="1" name=""/>
        <p:cNvGrpSpPr/>
        <p:nvPr/>
      </p:nvGrpSpPr>
      <p:grpSpPr>
        <a:xfrm>
          <a:off x="0" y="0"/>
          <a:ext cx="0" cy="0"/>
          <a:chOff x="0" y="0"/>
          <a:chExt cx="0" cy="0"/>
        </a:xfrm>
      </p:grpSpPr>
      <p:pic>
        <p:nvPicPr>
          <p:cNvPr id="2" name="Image 0" descr="/mnt/data/a_futuristic_high_tech_sci_fi_infographic_scene_o_batch_10.png"/>
          <p:cNvPicPr>
            <a:picLocks noChangeAspect="1"/>
          </p:cNvPicPr>
          <p:nvPr/>
        </p:nvPicPr>
        <p:blipFill>
          <a:blip r:embed="rId3"/>
          <a:srcRect t="25" b="25"/>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B132B">
              <a:alpha val="66000"/>
            </a:srgbClr>
          </a:solidFill>
          <a:ln w="12700">
            <a:solidFill>
              <a:srgbClr val="333333">
                <a:alpha val="0"/>
              </a:srgbClr>
            </a:solidFill>
            <a:prstDash val="solid"/>
          </a:ln>
        </p:spPr>
        <p:txBody>
          <a:bodyPr/>
          <a:lstStyle/>
          <a:p>
            <a:endParaRPr lang="en-US"/>
          </a:p>
        </p:txBody>
      </p:sp>
      <p:sp>
        <p:nvSpPr>
          <p:cNvPr id="4" name="Shape 1"/>
          <p:cNvSpPr/>
          <p:nvPr/>
        </p:nvSpPr>
        <p:spPr>
          <a:xfrm>
            <a:off x="0" y="0"/>
            <a:ext cx="12191695" cy="6858000"/>
          </a:xfrm>
          <a:prstGeom prst="rect">
            <a:avLst/>
          </a:prstGeom>
          <a:solidFill>
            <a:srgbClr val="000000">
              <a:alpha val="32000"/>
            </a:srgbClr>
          </a:solidFill>
          <a:ln w="12700">
            <a:solidFill>
              <a:srgbClr val="333333">
                <a:alpha val="0"/>
              </a:srgbClr>
            </a:solidFill>
            <a:prstDash val="solid"/>
          </a:ln>
        </p:spPr>
        <p:txBody>
          <a:bodyPr/>
          <a:lstStyle/>
          <a:p>
            <a:endParaRPr lang="en-US"/>
          </a:p>
        </p:txBody>
      </p:sp>
      <p:sp>
        <p:nvSpPr>
          <p:cNvPr id="5" name="Text 2"/>
          <p:cNvSpPr/>
          <p:nvPr/>
        </p:nvSpPr>
        <p:spPr>
          <a:xfrm>
            <a:off x="658368" y="429768"/>
            <a:ext cx="5120640" cy="246888"/>
          </a:xfrm>
          <a:prstGeom prst="rect">
            <a:avLst/>
          </a:prstGeom>
          <a:noFill/>
          <a:ln/>
        </p:spPr>
        <p:txBody>
          <a:bodyPr wrap="square" lIns="0" tIns="0" rIns="0" bIns="0" rtlCol="0" anchor="ctr"/>
          <a:lstStyle/>
          <a:p>
            <a:pPr marL="0" indent="0">
              <a:buNone/>
            </a:pPr>
            <a:r>
              <a:rPr lang="en-US" sz="850" dirty="0">
                <a:solidFill>
                  <a:srgbClr val="00EBDF"/>
                </a:solidFill>
                <a:latin typeface="Segoe UI Semibold" pitchFamily="34" charset="0"/>
                <a:ea typeface="Segoe UI Semibold" pitchFamily="34" charset="-122"/>
                <a:cs typeface="Segoe UI Semibold" pitchFamily="34" charset="-120"/>
              </a:rPr>
              <a:t>ROADMAP &amp; CLOSE</a:t>
            </a:r>
            <a:endParaRPr lang="en-US" sz="850" dirty="0"/>
          </a:p>
        </p:txBody>
      </p:sp>
      <p:sp>
        <p:nvSpPr>
          <p:cNvPr id="6" name="Text 3"/>
          <p:cNvSpPr/>
          <p:nvPr/>
        </p:nvSpPr>
        <p:spPr>
          <a:xfrm>
            <a:off x="658368" y="713232"/>
            <a:ext cx="7680960" cy="493776"/>
          </a:xfrm>
          <a:prstGeom prst="rect">
            <a:avLst/>
          </a:prstGeom>
          <a:noFill/>
          <a:ln/>
        </p:spPr>
        <p:txBody>
          <a:bodyPr wrap="square" lIns="0" tIns="0" rIns="0" bIns="0" rtlCol="0" anchor="ctr">
            <a:normAutofit/>
          </a:bodyPr>
          <a:lstStyle/>
          <a:p>
            <a:pPr marL="0" indent="0">
              <a:buNone/>
            </a:pPr>
            <a:r>
              <a:rPr lang="en-US" sz="2700" b="1" dirty="0">
                <a:solidFill>
                  <a:srgbClr val="F5FBFF"/>
                </a:solidFill>
                <a:latin typeface="Segoe UI Semibold" pitchFamily="34" charset="0"/>
                <a:ea typeface="Segoe UI Semibold" pitchFamily="34" charset="-122"/>
                <a:cs typeface="Segoe UI Semibold" pitchFamily="34" charset="-120"/>
              </a:rPr>
              <a:t>Future Roadmap &amp; Career Transition Intelligence</a:t>
            </a:r>
            <a:endParaRPr lang="en-US" sz="2700" dirty="0"/>
          </a:p>
        </p:txBody>
      </p:sp>
      <p:sp>
        <p:nvSpPr>
          <p:cNvPr id="7" name="Text 4"/>
          <p:cNvSpPr/>
          <p:nvPr/>
        </p:nvSpPr>
        <p:spPr>
          <a:xfrm>
            <a:off x="676656" y="1225296"/>
            <a:ext cx="7452360" cy="310896"/>
          </a:xfrm>
          <a:prstGeom prst="rect">
            <a:avLst/>
          </a:prstGeom>
          <a:noFill/>
          <a:ln/>
        </p:spPr>
        <p:txBody>
          <a:bodyPr wrap="square" lIns="0" tIns="0" rIns="0" bIns="0" rtlCol="0" anchor="ctr">
            <a:normAutofit/>
          </a:bodyPr>
          <a:lstStyle/>
          <a:p>
            <a:pPr marL="0" indent="0">
              <a:buNone/>
            </a:pPr>
            <a:r>
              <a:rPr lang="en-US" sz="1250" dirty="0">
                <a:solidFill>
                  <a:srgbClr val="B5C7D9"/>
                </a:solidFill>
                <a:latin typeface="Segoe UI" pitchFamily="34" charset="0"/>
                <a:ea typeface="Segoe UI" pitchFamily="34" charset="-122"/>
                <a:cs typeface="Segoe UI" pitchFamily="34" charset="-120"/>
              </a:rPr>
              <a:t>From HR records to proactive workforce operating system.</a:t>
            </a:r>
            <a:endParaRPr lang="en-US" sz="1250" dirty="0"/>
          </a:p>
        </p:txBody>
      </p:sp>
      <p:sp>
        <p:nvSpPr>
          <p:cNvPr id="8" name="Shape 5"/>
          <p:cNvSpPr/>
          <p:nvPr/>
        </p:nvSpPr>
        <p:spPr>
          <a:xfrm>
            <a:off x="658368" y="1810512"/>
            <a:ext cx="5596128" cy="3913632"/>
          </a:xfrm>
          <a:prstGeom prst="roundRect">
            <a:avLst>
              <a:gd name="adj" fmla="val 2804"/>
            </a:avLst>
          </a:prstGeom>
          <a:solidFill>
            <a:srgbClr val="020916">
              <a:alpha val="88000"/>
            </a:srgbClr>
          </a:solidFill>
          <a:ln w="12700">
            <a:solidFill>
              <a:srgbClr val="00EBDF">
                <a:alpha val="35000"/>
              </a:srgbClr>
            </a:solidFill>
            <a:prstDash val="solid"/>
          </a:ln>
          <a:effectLst>
            <a:outerShdw blurRad="25400" dist="50800" dir="2700000" algn="bl" rotWithShape="0">
              <a:srgbClr val="00EBDF">
                <a:alpha val="18000"/>
              </a:srgbClr>
            </a:outerShdw>
          </a:effectLst>
        </p:spPr>
        <p:txBody>
          <a:bodyPr/>
          <a:lstStyle/>
          <a:p>
            <a:endParaRPr lang="en-US"/>
          </a:p>
        </p:txBody>
      </p:sp>
      <p:sp>
        <p:nvSpPr>
          <p:cNvPr id="9" name="Text 6"/>
          <p:cNvSpPr/>
          <p:nvPr/>
        </p:nvSpPr>
        <p:spPr>
          <a:xfrm>
            <a:off x="932688" y="2057400"/>
            <a:ext cx="3291840" cy="219456"/>
          </a:xfrm>
          <a:prstGeom prst="rect">
            <a:avLst/>
          </a:prstGeom>
          <a:noFill/>
          <a:ln/>
        </p:spPr>
        <p:txBody>
          <a:bodyPr wrap="square" lIns="0" tIns="0" rIns="0" bIns="0" rtlCol="0" anchor="ctr">
            <a:normAutofit/>
          </a:bodyPr>
          <a:lstStyle/>
          <a:p>
            <a:pPr marL="0" indent="0">
              <a:buNone/>
            </a:pPr>
            <a:r>
              <a:rPr lang="en-US" sz="850" dirty="0">
                <a:solidFill>
                  <a:srgbClr val="00EBDF"/>
                </a:solidFill>
                <a:latin typeface="Segoe UI Semibold" pitchFamily="34" charset="0"/>
                <a:ea typeface="Segoe UI Semibold" pitchFamily="34" charset="-122"/>
                <a:cs typeface="Segoe UI Semibold" pitchFamily="34" charset="-120"/>
              </a:rPr>
              <a:t>MARKOV CAREER TRANSITIONS</a:t>
            </a:r>
            <a:endParaRPr lang="en-US" sz="850" dirty="0"/>
          </a:p>
        </p:txBody>
      </p:sp>
      <p:sp>
        <p:nvSpPr>
          <p:cNvPr id="10" name="Text 7"/>
          <p:cNvSpPr/>
          <p:nvPr/>
        </p:nvSpPr>
        <p:spPr>
          <a:xfrm>
            <a:off x="932688" y="2432304"/>
            <a:ext cx="4663440" cy="292608"/>
          </a:xfrm>
          <a:prstGeom prst="rect">
            <a:avLst/>
          </a:prstGeom>
          <a:noFill/>
          <a:ln/>
        </p:spPr>
        <p:txBody>
          <a:bodyPr wrap="square" lIns="0" tIns="0" rIns="0" bIns="0" rtlCol="0" anchor="ctr">
            <a:normAutofit fontScale="92500" lnSpcReduction="20000"/>
          </a:bodyPr>
          <a:lstStyle/>
          <a:p>
            <a:pPr marL="0" indent="0">
              <a:buNone/>
            </a:pPr>
            <a:r>
              <a:rPr lang="en-US" sz="1150" dirty="0">
                <a:solidFill>
                  <a:srgbClr val="B5C7D9"/>
                </a:solidFill>
                <a:latin typeface="Segoe UI" pitchFamily="34" charset="0"/>
                <a:ea typeface="Segoe UI" pitchFamily="34" charset="-122"/>
                <a:cs typeface="Segoe UI" pitchFamily="34" charset="-120"/>
              </a:rPr>
              <a:t>Models promotion and lateral movement pathways with transition matrices.</a:t>
            </a:r>
            <a:endParaRPr lang="en-US" sz="1150" dirty="0"/>
          </a:p>
        </p:txBody>
      </p:sp>
      <p:sp>
        <p:nvSpPr>
          <p:cNvPr id="11" name="Text 8"/>
          <p:cNvSpPr/>
          <p:nvPr/>
        </p:nvSpPr>
        <p:spPr>
          <a:xfrm>
            <a:off x="987552" y="2944368"/>
            <a:ext cx="960120" cy="201168"/>
          </a:xfrm>
          <a:prstGeom prst="rect">
            <a:avLst/>
          </a:prstGeom>
          <a:noFill/>
          <a:ln/>
        </p:spPr>
        <p:txBody>
          <a:bodyPr wrap="square" lIns="0" tIns="0" rIns="0" bIns="0" rtlCol="0" anchor="ctr"/>
          <a:lstStyle/>
          <a:p>
            <a:pPr marL="0" indent="0">
              <a:buNone/>
            </a:pPr>
            <a:r>
              <a:rPr lang="en-US" sz="1120" dirty="0">
                <a:solidFill>
                  <a:srgbClr val="00EBDF"/>
                </a:solidFill>
                <a:latin typeface="Segoe UI Semibold" pitchFamily="34" charset="0"/>
                <a:ea typeface="Segoe UI Semibold" pitchFamily="34" charset="-122"/>
                <a:cs typeface="Segoe UI Semibold" pitchFamily="34" charset="-120"/>
              </a:rPr>
              <a:t>Phase 1</a:t>
            </a:r>
            <a:endParaRPr lang="en-US" sz="1120" dirty="0"/>
          </a:p>
        </p:txBody>
      </p:sp>
      <p:sp>
        <p:nvSpPr>
          <p:cNvPr id="12" name="Shape 9"/>
          <p:cNvSpPr/>
          <p:nvPr/>
        </p:nvSpPr>
        <p:spPr>
          <a:xfrm>
            <a:off x="1993392" y="3035808"/>
            <a:ext cx="320040" cy="0"/>
          </a:xfrm>
          <a:prstGeom prst="line">
            <a:avLst/>
          </a:prstGeom>
          <a:noFill/>
          <a:ln w="20320">
            <a:solidFill>
              <a:srgbClr val="00EBDF"/>
            </a:solidFill>
            <a:prstDash val="solid"/>
          </a:ln>
        </p:spPr>
        <p:txBody>
          <a:bodyPr/>
          <a:lstStyle/>
          <a:p>
            <a:endParaRPr lang="en-US"/>
          </a:p>
        </p:txBody>
      </p:sp>
      <p:sp>
        <p:nvSpPr>
          <p:cNvPr id="13" name="Text 10"/>
          <p:cNvSpPr/>
          <p:nvPr/>
        </p:nvSpPr>
        <p:spPr>
          <a:xfrm>
            <a:off x="2432304" y="2926080"/>
            <a:ext cx="3291840" cy="256032"/>
          </a:xfrm>
          <a:prstGeom prst="rect">
            <a:avLst/>
          </a:prstGeom>
          <a:noFill/>
          <a:ln/>
        </p:spPr>
        <p:txBody>
          <a:bodyPr wrap="square" lIns="0" tIns="0" rIns="0" bIns="0" rtlCol="0" anchor="ctr">
            <a:normAutofit fontScale="92500"/>
          </a:bodyPr>
          <a:lstStyle/>
          <a:p>
            <a:pPr marL="0" indent="0">
              <a:buNone/>
            </a:pPr>
            <a:r>
              <a:rPr lang="en-US" sz="1050" dirty="0">
                <a:solidFill>
                  <a:srgbClr val="F5FBFF"/>
                </a:solidFill>
                <a:latin typeface="Segoe UI" pitchFamily="34" charset="0"/>
                <a:ea typeface="Segoe UI" pitchFamily="34" charset="-122"/>
                <a:cs typeface="Segoe UI" pitchFamily="34" charset="-120"/>
              </a:rPr>
              <a:t>Resume parser with semantic scoring + vector matching</a:t>
            </a:r>
            <a:endParaRPr lang="en-US" sz="1050" dirty="0"/>
          </a:p>
        </p:txBody>
      </p:sp>
      <p:sp>
        <p:nvSpPr>
          <p:cNvPr id="14" name="Text 11"/>
          <p:cNvSpPr/>
          <p:nvPr/>
        </p:nvSpPr>
        <p:spPr>
          <a:xfrm>
            <a:off x="987552" y="3639312"/>
            <a:ext cx="960120" cy="201168"/>
          </a:xfrm>
          <a:prstGeom prst="rect">
            <a:avLst/>
          </a:prstGeom>
          <a:noFill/>
          <a:ln/>
        </p:spPr>
        <p:txBody>
          <a:bodyPr wrap="square" lIns="0" tIns="0" rIns="0" bIns="0" rtlCol="0" anchor="ctr"/>
          <a:lstStyle/>
          <a:p>
            <a:pPr marL="0" indent="0">
              <a:buNone/>
            </a:pPr>
            <a:r>
              <a:rPr lang="en-US" sz="1120" dirty="0">
                <a:solidFill>
                  <a:srgbClr val="48CAE4"/>
                </a:solidFill>
                <a:latin typeface="Segoe UI Semibold" pitchFamily="34" charset="0"/>
                <a:ea typeface="Segoe UI Semibold" pitchFamily="34" charset="-122"/>
                <a:cs typeface="Segoe UI Semibold" pitchFamily="34" charset="-120"/>
              </a:rPr>
              <a:t>Phase 2</a:t>
            </a:r>
            <a:endParaRPr lang="en-US" sz="1120" dirty="0"/>
          </a:p>
        </p:txBody>
      </p:sp>
      <p:sp>
        <p:nvSpPr>
          <p:cNvPr id="15" name="Shape 12"/>
          <p:cNvSpPr/>
          <p:nvPr/>
        </p:nvSpPr>
        <p:spPr>
          <a:xfrm>
            <a:off x="1993392" y="3730752"/>
            <a:ext cx="320040" cy="0"/>
          </a:xfrm>
          <a:prstGeom prst="line">
            <a:avLst/>
          </a:prstGeom>
          <a:noFill/>
          <a:ln w="20320">
            <a:solidFill>
              <a:srgbClr val="48CAE4"/>
            </a:solidFill>
            <a:prstDash val="solid"/>
          </a:ln>
        </p:spPr>
        <p:txBody>
          <a:bodyPr/>
          <a:lstStyle/>
          <a:p>
            <a:endParaRPr lang="en-US"/>
          </a:p>
        </p:txBody>
      </p:sp>
      <p:sp>
        <p:nvSpPr>
          <p:cNvPr id="16" name="Text 13"/>
          <p:cNvSpPr/>
          <p:nvPr/>
        </p:nvSpPr>
        <p:spPr>
          <a:xfrm>
            <a:off x="2432304" y="3621024"/>
            <a:ext cx="3291840" cy="256032"/>
          </a:xfrm>
          <a:prstGeom prst="rect">
            <a:avLst/>
          </a:prstGeom>
          <a:noFill/>
          <a:ln/>
        </p:spPr>
        <p:txBody>
          <a:bodyPr wrap="square" lIns="0" tIns="0" rIns="0" bIns="0" rtlCol="0" anchor="ctr">
            <a:normAutofit/>
          </a:bodyPr>
          <a:lstStyle/>
          <a:p>
            <a:pPr marL="0" indent="0">
              <a:buNone/>
            </a:pPr>
            <a:r>
              <a:rPr lang="en-US" sz="1050" dirty="0">
                <a:solidFill>
                  <a:srgbClr val="F5FBFF"/>
                </a:solidFill>
                <a:latin typeface="Segoe UI" pitchFamily="34" charset="0"/>
                <a:ea typeface="Segoe UI" pitchFamily="34" charset="-122"/>
                <a:cs typeface="Segoe UI" pitchFamily="34" charset="-120"/>
              </a:rPr>
              <a:t>Native vector search with pgvector / sqlite-vss</a:t>
            </a:r>
            <a:endParaRPr lang="en-US" sz="1050" dirty="0"/>
          </a:p>
        </p:txBody>
      </p:sp>
      <p:sp>
        <p:nvSpPr>
          <p:cNvPr id="17" name="Text 14"/>
          <p:cNvSpPr/>
          <p:nvPr/>
        </p:nvSpPr>
        <p:spPr>
          <a:xfrm>
            <a:off x="987552" y="4334256"/>
            <a:ext cx="960120" cy="201168"/>
          </a:xfrm>
          <a:prstGeom prst="rect">
            <a:avLst/>
          </a:prstGeom>
          <a:noFill/>
          <a:ln/>
        </p:spPr>
        <p:txBody>
          <a:bodyPr wrap="square" lIns="0" tIns="0" rIns="0" bIns="0" rtlCol="0" anchor="ctr"/>
          <a:lstStyle/>
          <a:p>
            <a:pPr marL="0" indent="0">
              <a:buNone/>
            </a:pPr>
            <a:r>
              <a:rPr lang="en-US" sz="1120" dirty="0">
                <a:solidFill>
                  <a:srgbClr val="8E7CFF"/>
                </a:solidFill>
                <a:latin typeface="Segoe UI Semibold" pitchFamily="34" charset="0"/>
                <a:ea typeface="Segoe UI Semibold" pitchFamily="34" charset="-122"/>
                <a:cs typeface="Segoe UI Semibold" pitchFamily="34" charset="-120"/>
              </a:rPr>
              <a:t>Phase 3</a:t>
            </a:r>
            <a:endParaRPr lang="en-US" sz="1120" dirty="0"/>
          </a:p>
        </p:txBody>
      </p:sp>
      <p:sp>
        <p:nvSpPr>
          <p:cNvPr id="18" name="Shape 15"/>
          <p:cNvSpPr/>
          <p:nvPr/>
        </p:nvSpPr>
        <p:spPr>
          <a:xfrm>
            <a:off x="1993392" y="4425696"/>
            <a:ext cx="320040" cy="0"/>
          </a:xfrm>
          <a:prstGeom prst="line">
            <a:avLst/>
          </a:prstGeom>
          <a:noFill/>
          <a:ln w="20320">
            <a:solidFill>
              <a:srgbClr val="8E7CFF"/>
            </a:solidFill>
            <a:prstDash val="solid"/>
          </a:ln>
        </p:spPr>
        <p:txBody>
          <a:bodyPr/>
          <a:lstStyle/>
          <a:p>
            <a:endParaRPr lang="en-US"/>
          </a:p>
        </p:txBody>
      </p:sp>
      <p:sp>
        <p:nvSpPr>
          <p:cNvPr id="19" name="Text 16"/>
          <p:cNvSpPr/>
          <p:nvPr/>
        </p:nvSpPr>
        <p:spPr>
          <a:xfrm>
            <a:off x="2432304" y="4315968"/>
            <a:ext cx="3291840" cy="256032"/>
          </a:xfrm>
          <a:prstGeom prst="rect">
            <a:avLst/>
          </a:prstGeom>
          <a:noFill/>
          <a:ln/>
        </p:spPr>
        <p:txBody>
          <a:bodyPr wrap="square" lIns="0" tIns="0" rIns="0" bIns="0" rtlCol="0" anchor="ctr">
            <a:normAutofit/>
          </a:bodyPr>
          <a:lstStyle/>
          <a:p>
            <a:pPr marL="0" indent="0">
              <a:buNone/>
            </a:pPr>
            <a:r>
              <a:rPr lang="en-US" sz="1050" dirty="0">
                <a:solidFill>
                  <a:srgbClr val="F5FBFF"/>
                </a:solidFill>
                <a:latin typeface="Segoe UI" pitchFamily="34" charset="0"/>
                <a:ea typeface="Segoe UI" pitchFamily="34" charset="-122"/>
                <a:cs typeface="Segoe UI" pitchFamily="34" charset="-120"/>
              </a:rPr>
              <a:t>Autonomous agentic workflow task queues</a:t>
            </a:r>
            <a:endParaRPr lang="en-US" sz="1050" dirty="0"/>
          </a:p>
        </p:txBody>
      </p:sp>
      <p:sp>
        <p:nvSpPr>
          <p:cNvPr id="20" name="Shape 17"/>
          <p:cNvSpPr/>
          <p:nvPr/>
        </p:nvSpPr>
        <p:spPr>
          <a:xfrm>
            <a:off x="7406640" y="1810512"/>
            <a:ext cx="3749040" cy="3913632"/>
          </a:xfrm>
          <a:prstGeom prst="roundRect">
            <a:avLst>
              <a:gd name="adj" fmla="val 2927"/>
            </a:avLst>
          </a:prstGeom>
          <a:solidFill>
            <a:srgbClr val="020916">
              <a:alpha val="93000"/>
            </a:srgbClr>
          </a:solidFill>
          <a:ln w="12700">
            <a:solidFill>
              <a:srgbClr val="00EBDF">
                <a:alpha val="40000"/>
              </a:srgbClr>
            </a:solidFill>
            <a:prstDash val="solid"/>
          </a:ln>
          <a:effectLst>
            <a:outerShdw blurRad="25400" dist="50800" dir="2700000" algn="bl" rotWithShape="0">
              <a:srgbClr val="00EBDF">
                <a:alpha val="18000"/>
              </a:srgbClr>
            </a:outerShdw>
          </a:effectLst>
        </p:spPr>
        <p:txBody>
          <a:bodyPr/>
          <a:lstStyle/>
          <a:p>
            <a:endParaRPr lang="en-US"/>
          </a:p>
        </p:txBody>
      </p:sp>
      <p:sp>
        <p:nvSpPr>
          <p:cNvPr id="21" name="Text 18"/>
          <p:cNvSpPr/>
          <p:nvPr/>
        </p:nvSpPr>
        <p:spPr>
          <a:xfrm>
            <a:off x="7699248" y="2139696"/>
            <a:ext cx="2011680" cy="246888"/>
          </a:xfrm>
          <a:prstGeom prst="rect">
            <a:avLst/>
          </a:prstGeom>
          <a:noFill/>
          <a:ln/>
        </p:spPr>
        <p:txBody>
          <a:bodyPr wrap="square" lIns="0" tIns="0" rIns="0" bIns="0" rtlCol="0" anchor="ctr"/>
          <a:lstStyle/>
          <a:p>
            <a:pPr marL="0" indent="0">
              <a:buNone/>
            </a:pPr>
            <a:r>
              <a:rPr lang="en-US" sz="1450" dirty="0">
                <a:solidFill>
                  <a:srgbClr val="00EBDF"/>
                </a:solidFill>
                <a:latin typeface="Segoe UI Semibold" pitchFamily="34" charset="0"/>
                <a:ea typeface="Segoe UI Semibold" pitchFamily="34" charset="-122"/>
                <a:cs typeface="Segoe UI Semibold" pitchFamily="34" charset="-120"/>
              </a:rPr>
              <a:t>Key conclusion</a:t>
            </a:r>
            <a:endParaRPr lang="en-US" sz="1450" dirty="0"/>
          </a:p>
        </p:txBody>
      </p:sp>
      <p:sp>
        <p:nvSpPr>
          <p:cNvPr id="22" name="Text 19"/>
          <p:cNvSpPr/>
          <p:nvPr/>
        </p:nvSpPr>
        <p:spPr>
          <a:xfrm>
            <a:off x="7699248" y="2606040"/>
            <a:ext cx="2944368" cy="1133856"/>
          </a:xfrm>
          <a:prstGeom prst="rect">
            <a:avLst/>
          </a:prstGeom>
          <a:noFill/>
          <a:ln/>
        </p:spPr>
        <p:txBody>
          <a:bodyPr wrap="square" lIns="0" tIns="0" rIns="0" bIns="0" rtlCol="0" anchor="ctr">
            <a:normAutofit/>
          </a:bodyPr>
          <a:lstStyle/>
          <a:p>
            <a:pPr marL="0" indent="0">
              <a:buNone/>
            </a:pPr>
            <a:r>
              <a:rPr lang="en-US" sz="1220" dirty="0">
                <a:solidFill>
                  <a:srgbClr val="F5FBFF"/>
                </a:solidFill>
                <a:latin typeface="Segoe UI" pitchFamily="34" charset="0"/>
                <a:ea typeface="Segoe UI" pitchFamily="34" charset="-122"/>
                <a:cs typeface="Segoe UI" pitchFamily="34" charset="-120"/>
              </a:rPr>
              <a:t>Aurelius fuses predictive math, graph intelligence, heuristic optimization, and a secure conversational agent into one course project prototype with production-oriented design.</a:t>
            </a:r>
            <a:endParaRPr lang="en-US" sz="1220" dirty="0"/>
          </a:p>
        </p:txBody>
      </p:sp>
      <p:sp>
        <p:nvSpPr>
          <p:cNvPr id="23" name="Text 20"/>
          <p:cNvSpPr/>
          <p:nvPr/>
        </p:nvSpPr>
        <p:spPr>
          <a:xfrm>
            <a:off x="7699248" y="4718304"/>
            <a:ext cx="2560320" cy="384048"/>
          </a:xfrm>
          <a:prstGeom prst="rect">
            <a:avLst/>
          </a:prstGeom>
          <a:noFill/>
          <a:ln/>
        </p:spPr>
        <p:txBody>
          <a:bodyPr wrap="square" lIns="0" tIns="0" rIns="0" bIns="0" rtlCol="0" anchor="ctr"/>
          <a:lstStyle/>
          <a:p>
            <a:pPr marL="0" indent="0">
              <a:buNone/>
            </a:pPr>
            <a:r>
              <a:rPr lang="en-US" sz="2300" dirty="0">
                <a:solidFill>
                  <a:srgbClr val="F5FBFF"/>
                </a:solidFill>
                <a:latin typeface="Segoe UI Semibold" pitchFamily="34" charset="0"/>
                <a:ea typeface="Segoe UI Semibold" pitchFamily="34" charset="-122"/>
                <a:cs typeface="Segoe UI Semibold" pitchFamily="34" charset="-120"/>
              </a:rPr>
              <a:t>Thank you</a:t>
            </a:r>
            <a:endParaRPr lang="en-US" sz="2300" dirty="0"/>
          </a:p>
        </p:txBody>
      </p:sp>
      <p:sp>
        <p:nvSpPr>
          <p:cNvPr id="24" name="Shape 21"/>
          <p:cNvSpPr/>
          <p:nvPr/>
        </p:nvSpPr>
        <p:spPr>
          <a:xfrm>
            <a:off x="7726680" y="5230368"/>
            <a:ext cx="1417320" cy="0"/>
          </a:xfrm>
          <a:prstGeom prst="line">
            <a:avLst/>
          </a:prstGeom>
          <a:noFill/>
          <a:ln w="25400">
            <a:solidFill>
              <a:srgbClr val="00EBDF"/>
            </a:solidFill>
            <a:prstDash val="solid"/>
          </a:ln>
        </p:spPr>
        <p:txBody>
          <a:bodyPr/>
          <a:lstStyle/>
          <a:p>
            <a:endParaRPr lang="en-US"/>
          </a:p>
        </p:txBody>
      </p:sp>
      <p:sp>
        <p:nvSpPr>
          <p:cNvPr id="25" name="Shape 22"/>
          <p:cNvSpPr/>
          <p:nvPr/>
        </p:nvSpPr>
        <p:spPr>
          <a:xfrm>
            <a:off x="548640" y="6446520"/>
            <a:ext cx="11109960" cy="0"/>
          </a:xfrm>
          <a:prstGeom prst="line">
            <a:avLst/>
          </a:prstGeom>
          <a:noFill/>
          <a:ln w="15240">
            <a:solidFill>
              <a:srgbClr val="00EBDF">
                <a:alpha val="45000"/>
              </a:srgbClr>
            </a:solidFill>
            <a:prstDash val="solid"/>
          </a:ln>
        </p:spPr>
        <p:txBody>
          <a:bodyPr/>
          <a:lstStyle/>
          <a:p>
            <a:endParaRPr lang="en-US"/>
          </a:p>
        </p:txBody>
      </p:sp>
      <p:sp>
        <p:nvSpPr>
          <p:cNvPr id="26" name="Text 23"/>
          <p:cNvSpPr/>
          <p:nvPr/>
        </p:nvSpPr>
        <p:spPr>
          <a:xfrm>
            <a:off x="594360" y="6528816"/>
            <a:ext cx="4937760" cy="182880"/>
          </a:xfrm>
          <a:prstGeom prst="rect">
            <a:avLst/>
          </a:prstGeom>
          <a:noFill/>
          <a:ln/>
        </p:spPr>
        <p:txBody>
          <a:bodyPr wrap="square" lIns="0" tIns="0" rIns="0" bIns="0" rtlCol="0" anchor="ctr"/>
          <a:lstStyle/>
          <a:p>
            <a:pPr marL="0" indent="0">
              <a:buNone/>
            </a:pPr>
            <a:r>
              <a:rPr lang="en-US" sz="750" dirty="0">
                <a:solidFill>
                  <a:srgbClr val="6D7F96"/>
                </a:solidFill>
                <a:latin typeface="Segoe UI" pitchFamily="34" charset="0"/>
                <a:ea typeface="Segoe UI" pitchFamily="34" charset="-122"/>
                <a:cs typeface="Segoe UI" pitchFamily="34" charset="-120"/>
              </a:rPr>
              <a:t>AURELIUS Management OS</a:t>
            </a:r>
            <a:endParaRPr lang="en-US" sz="750" dirty="0"/>
          </a:p>
        </p:txBody>
      </p:sp>
      <p:sp>
        <p:nvSpPr>
          <p:cNvPr id="27" name="Text 24"/>
          <p:cNvSpPr/>
          <p:nvPr/>
        </p:nvSpPr>
        <p:spPr>
          <a:xfrm>
            <a:off x="11384280" y="6473952"/>
            <a:ext cx="320040" cy="228600"/>
          </a:xfrm>
          <a:prstGeom prst="rect">
            <a:avLst/>
          </a:prstGeom>
          <a:noFill/>
          <a:ln/>
        </p:spPr>
        <p:txBody>
          <a:bodyPr wrap="square" lIns="0" tIns="0" rIns="0" bIns="0" rtlCol="0" anchor="ctr"/>
          <a:lstStyle/>
          <a:p>
            <a:pPr marL="0" indent="0" algn="r">
              <a:buNone/>
            </a:pPr>
            <a:r>
              <a:rPr lang="en-US" sz="800" dirty="0">
                <a:solidFill>
                  <a:srgbClr val="00EBDF"/>
                </a:solidFill>
                <a:latin typeface="Segoe UI Semibold" pitchFamily="34" charset="0"/>
                <a:ea typeface="Segoe UI Semibold" pitchFamily="34" charset="-122"/>
                <a:cs typeface="Segoe UI Semibold" pitchFamily="34" charset="-120"/>
              </a:rPr>
              <a:t>10</a:t>
            </a:r>
            <a:endParaRPr lang="en-US" sz="800" dirty="0"/>
          </a:p>
        </p:txBody>
      </p:sp>
      <p:sp>
        <p:nvSpPr>
          <p:cNvPr id="28" name="TextBox 27"/>
          <p:cNvSpPr txBox="1"/>
          <p:nvPr/>
        </p:nvSpPr>
        <p:spPr>
          <a:xfrm>
            <a:off x="6309360" y="5989320"/>
            <a:ext cx="5212080" cy="256032"/>
          </a:xfrm>
          <a:prstGeom prst="rect">
            <a:avLst/>
          </a:prstGeom>
          <a:noFill/>
        </p:spPr>
        <p:txBody>
          <a:bodyPr wrap="none">
            <a:spAutoFit/>
          </a:bodyPr>
          <a:lstStyle/>
          <a:p>
            <a:pPr algn="r">
              <a:defRPr sz="869" i="1">
                <a:solidFill>
                  <a:srgbClr val="91AAC3"/>
                </a:solidFill>
              </a:defRPr>
            </a:pPr>
            <a:r>
              <a:t>(Cox, 1972; Upadhyay &amp; Khandelwal, 2018)</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132B"/>
        </a:solidFill>
        <a:effectLst/>
      </p:bgPr>
    </p:bg>
    <p:spTree>
      <p:nvGrpSpPr>
        <p:cNvPr id="1" name=""/>
        <p:cNvGrpSpPr/>
        <p:nvPr/>
      </p:nvGrpSpPr>
      <p:grpSpPr/>
      <p:sp>
        <p:nvSpPr>
          <p:cNvPr id="2" name="TextBox 1"/>
          <p:cNvSpPr txBox="1"/>
          <p:nvPr/>
        </p:nvSpPr>
        <p:spPr>
          <a:xfrm>
            <a:off x="594360" y="320040"/>
            <a:ext cx="5029200" cy="320040"/>
          </a:xfrm>
          <a:prstGeom prst="rect">
            <a:avLst/>
          </a:prstGeom>
          <a:noFill/>
        </p:spPr>
        <p:txBody>
          <a:bodyPr wrap="none">
            <a:spAutoFit/>
          </a:bodyPr>
          <a:lstStyle/>
          <a:p>
            <a:pPr>
              <a:defRPr sz="1000" b="1">
                <a:solidFill>
                  <a:srgbClr val="00EBDF"/>
                </a:solidFill>
              </a:defRPr>
            </a:pPr>
            <a:r>
              <a:t>ACADEMIC SOURCES</a:t>
            </a:r>
          </a:p>
        </p:txBody>
      </p:sp>
      <p:sp>
        <p:nvSpPr>
          <p:cNvPr id="3" name="TextBox 2"/>
          <p:cNvSpPr txBox="1"/>
          <p:nvPr/>
        </p:nvSpPr>
        <p:spPr>
          <a:xfrm>
            <a:off x="594360" y="685800"/>
            <a:ext cx="9326880" cy="502920"/>
          </a:xfrm>
          <a:prstGeom prst="rect">
            <a:avLst/>
          </a:prstGeom>
          <a:noFill/>
        </p:spPr>
        <p:txBody>
          <a:bodyPr wrap="none">
            <a:spAutoFit/>
          </a:bodyPr>
          <a:lstStyle/>
          <a:p>
            <a:pPr>
              <a:defRPr sz="2600" b="1">
                <a:solidFill>
                  <a:srgbClr val="F5F8FF"/>
                </a:solidFill>
              </a:defRPr>
            </a:pPr>
            <a:r>
              <a:t>References</a:t>
            </a:r>
          </a:p>
        </p:txBody>
      </p:sp>
      <p:sp>
        <p:nvSpPr>
          <p:cNvPr id="4" name="TextBox 3"/>
          <p:cNvSpPr txBox="1"/>
          <p:nvPr/>
        </p:nvSpPr>
        <p:spPr>
          <a:xfrm>
            <a:off x="612648" y="1170432"/>
            <a:ext cx="9875520" cy="320040"/>
          </a:xfrm>
          <a:prstGeom prst="rect">
            <a:avLst/>
          </a:prstGeom>
          <a:noFill/>
        </p:spPr>
        <p:txBody>
          <a:bodyPr wrap="none">
            <a:spAutoFit/>
          </a:bodyPr>
          <a:lstStyle/>
          <a:p>
            <a:pPr>
              <a:defRPr sz="1250">
                <a:solidFill>
                  <a:srgbClr val="AFC4DC"/>
                </a:solidFill>
              </a:defRPr>
            </a:pPr>
            <a:r>
              <a:t>APA-style references used for in-text citations in the presentation.</a:t>
            </a:r>
          </a:p>
        </p:txBody>
      </p:sp>
      <p:sp>
        <p:nvSpPr>
          <p:cNvPr id="5" name="Rectangle 4"/>
          <p:cNvSpPr/>
          <p:nvPr/>
        </p:nvSpPr>
        <p:spPr>
          <a:xfrm>
            <a:off x="594360" y="6199632"/>
            <a:ext cx="10744200" cy="9144"/>
          </a:xfrm>
          <a:prstGeom prst="rect">
            <a:avLst/>
          </a:prstGeom>
          <a:solidFill>
            <a:srgbClr val="355375"/>
          </a:solidFill>
          <a:ln>
            <a:solidFill>
              <a:srgbClr val="3553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291072"/>
            <a:ext cx="5486400" cy="228600"/>
          </a:xfrm>
          <a:prstGeom prst="rect">
            <a:avLst/>
          </a:prstGeom>
          <a:noFill/>
        </p:spPr>
        <p:txBody>
          <a:bodyPr wrap="none">
            <a:spAutoFit/>
          </a:bodyPr>
          <a:lstStyle/>
          <a:p>
            <a:pPr>
              <a:defRPr sz="950">
                <a:solidFill>
                  <a:srgbClr val="AFC4DC"/>
                </a:solidFill>
              </a:defRPr>
            </a:pPr>
            <a:r>
              <a:t>AURELIUS Management OS | University Presentation</a:t>
            </a:r>
          </a:p>
        </p:txBody>
      </p:sp>
      <p:sp>
        <p:nvSpPr>
          <p:cNvPr id="7" name="TextBox 6"/>
          <p:cNvSpPr txBox="1"/>
          <p:nvPr/>
        </p:nvSpPr>
        <p:spPr>
          <a:xfrm>
            <a:off x="10972800" y="6272784"/>
            <a:ext cx="640080" cy="228600"/>
          </a:xfrm>
          <a:prstGeom prst="rect">
            <a:avLst/>
          </a:prstGeom>
          <a:noFill/>
        </p:spPr>
        <p:txBody>
          <a:bodyPr wrap="none">
            <a:spAutoFit/>
          </a:bodyPr>
          <a:lstStyle/>
          <a:p>
            <a:pPr algn="r">
              <a:defRPr sz="1000" b="1">
                <a:solidFill>
                  <a:srgbClr val="00EBDF"/>
                </a:solidFill>
              </a:defRPr>
            </a:pPr>
            <a:r>
              <a:t>R</a:t>
            </a:r>
          </a:p>
        </p:txBody>
      </p:sp>
      <p:sp>
        <p:nvSpPr>
          <p:cNvPr id="8" name="TextBox 7"/>
          <p:cNvSpPr txBox="1"/>
          <p:nvPr/>
        </p:nvSpPr>
        <p:spPr>
          <a:xfrm>
            <a:off x="731520" y="1325880"/>
            <a:ext cx="10789920" cy="566928"/>
          </a:xfrm>
          <a:prstGeom prst="rect">
            <a:avLst/>
          </a:prstGeom>
          <a:noFill/>
        </p:spPr>
        <p:txBody>
          <a:bodyPr wrap="square">
            <a:spAutoFit/>
          </a:bodyPr>
          <a:lstStyle/>
          <a:p>
            <a:pPr>
              <a:defRPr sz="969">
                <a:solidFill>
                  <a:srgbClr val="F5F8FF"/>
                </a:solidFill>
              </a:defRPr>
            </a:pPr>
          </a:p>
        </p:txBody>
      </p:sp>
      <p:sp>
        <p:nvSpPr>
          <p:cNvPr id="9" name="TextBox 8"/>
          <p:cNvSpPr txBox="1"/>
          <p:nvPr/>
        </p:nvSpPr>
        <p:spPr>
          <a:xfrm>
            <a:off x="731520" y="2039112"/>
            <a:ext cx="10789920" cy="566928"/>
          </a:xfrm>
          <a:prstGeom prst="rect">
            <a:avLst/>
          </a:prstGeom>
          <a:noFill/>
        </p:spPr>
        <p:txBody>
          <a:bodyPr wrap="square">
            <a:spAutoFit/>
          </a:bodyPr>
          <a:lstStyle/>
          <a:p>
            <a:pPr>
              <a:defRPr sz="969">
                <a:solidFill>
                  <a:srgbClr val="D2E4F5"/>
                </a:solidFill>
              </a:defRPr>
            </a:pPr>
          </a:p>
        </p:txBody>
      </p:sp>
      <p:sp>
        <p:nvSpPr>
          <p:cNvPr id="10" name="TextBox 9"/>
          <p:cNvSpPr txBox="1"/>
          <p:nvPr/>
        </p:nvSpPr>
        <p:spPr>
          <a:xfrm>
            <a:off x="731520" y="2752344"/>
            <a:ext cx="10789920" cy="566928"/>
          </a:xfrm>
          <a:prstGeom prst="rect">
            <a:avLst/>
          </a:prstGeom>
          <a:noFill/>
        </p:spPr>
        <p:txBody>
          <a:bodyPr wrap="square">
            <a:spAutoFit/>
          </a:bodyPr>
          <a:lstStyle/>
          <a:p>
            <a:pPr>
              <a:defRPr sz="969">
                <a:solidFill>
                  <a:srgbClr val="F5F8FF"/>
                </a:solidFill>
              </a:defRPr>
            </a:pPr>
          </a:p>
        </p:txBody>
      </p:sp>
      <p:sp>
        <p:nvSpPr>
          <p:cNvPr id="11" name="TextBox 10"/>
          <p:cNvSpPr txBox="1"/>
          <p:nvPr/>
        </p:nvSpPr>
        <p:spPr>
          <a:xfrm>
            <a:off x="731520" y="3465576"/>
            <a:ext cx="10789920" cy="566928"/>
          </a:xfrm>
          <a:prstGeom prst="rect">
            <a:avLst/>
          </a:prstGeom>
          <a:noFill/>
        </p:spPr>
        <p:txBody>
          <a:bodyPr wrap="square">
            <a:spAutoFit/>
          </a:bodyPr>
          <a:lstStyle/>
          <a:p>
            <a:pPr>
              <a:defRPr sz="969">
                <a:solidFill>
                  <a:srgbClr val="D2E4F5"/>
                </a:solidFill>
              </a:defRPr>
            </a:pPr>
          </a:p>
        </p:txBody>
      </p:sp>
      <p:sp>
        <p:nvSpPr>
          <p:cNvPr id="12" name="TextBox 11"/>
          <p:cNvSpPr txBox="1"/>
          <p:nvPr/>
        </p:nvSpPr>
        <p:spPr>
          <a:xfrm>
            <a:off x="731520" y="4178808"/>
            <a:ext cx="10789920" cy="566928"/>
          </a:xfrm>
          <a:prstGeom prst="rect">
            <a:avLst/>
          </a:prstGeom>
          <a:noFill/>
        </p:spPr>
        <p:txBody>
          <a:bodyPr wrap="square">
            <a:spAutoFit/>
          </a:bodyPr>
          <a:lstStyle/>
          <a:p>
            <a:pPr>
              <a:defRPr sz="969">
                <a:solidFill>
                  <a:srgbClr val="F5F8FF"/>
                </a:solidFill>
              </a:defRPr>
            </a:pPr>
          </a:p>
        </p:txBody>
      </p:sp>
      <p:sp>
        <p:nvSpPr>
          <p:cNvPr id="13" name="TextBox 12"/>
          <p:cNvSpPr txBox="1"/>
          <p:nvPr/>
        </p:nvSpPr>
        <p:spPr>
          <a:xfrm>
            <a:off x="731520" y="4892040"/>
            <a:ext cx="10789920" cy="566928"/>
          </a:xfrm>
          <a:prstGeom prst="rect">
            <a:avLst/>
          </a:prstGeom>
          <a:noFill/>
        </p:spPr>
        <p:txBody>
          <a:bodyPr wrap="square">
            <a:spAutoFit/>
          </a:bodyPr>
          <a:lstStyle/>
          <a:p>
            <a:pPr>
              <a:defRPr sz="969">
                <a:solidFill>
                  <a:srgbClr val="D2E4F5"/>
                </a:solidFill>
              </a:defRPr>
            </a:pPr>
          </a:p>
        </p:txBody>
      </p:sp>
      <p:sp>
        <p:nvSpPr>
          <p:cNvPr id="14" name="TextBox 13"/>
          <p:cNvSpPr txBox="1"/>
          <p:nvPr/>
        </p:nvSpPr>
        <p:spPr>
          <a:xfrm>
            <a:off x="777240" y="5742432"/>
            <a:ext cx="10424160" cy="320040"/>
          </a:xfrm>
          <a:prstGeom prst="rect">
            <a:avLst/>
          </a:prstGeom>
          <a:noFill/>
        </p:spPr>
        <p:txBody>
          <a:bodyPr wrap="none">
            <a:spAutoFit/>
          </a:bodyPr>
          <a:lstStyle/>
          <a:p>
            <a:pPr algn="ctr">
              <a:defRPr sz="1050" i="1">
                <a:solidFill>
                  <a:srgbClr val="AFC4DC"/>
                </a:solidFill>
              </a:defRPr>
            </a:pPr>
            <a:r>
              <a:t>Note: Keep the in-text citations on the relevant slides and list the full references here to reduce plagiarism risk.</a:t>
            </a:r>
          </a:p>
        </p:txBody>
      </p:sp>
      <p:sp>
        <p:nvSpPr>
          <p:cNvPr id="15" name="TextBox 14"/>
          <p:cNvSpPr txBox="1"/>
          <p:nvPr/>
        </p:nvSpPr>
        <p:spPr>
          <a:xfrm>
            <a:off x="685800" y="1234440"/>
            <a:ext cx="5166360" cy="713232"/>
          </a:xfrm>
          <a:prstGeom prst="rect">
            <a:avLst/>
          </a:prstGeom>
          <a:noFill/>
        </p:spPr>
        <p:txBody>
          <a:bodyPr wrap="square" lIns="0" rIns="0" tIns="0" bIns="0">
            <a:spAutoFit/>
          </a:bodyPr>
          <a:lstStyle/>
          <a:p>
            <a:pPr>
              <a:defRPr sz="850">
                <a:solidFill>
                  <a:srgbClr val="F5F8FF"/>
                </a:solidFill>
              </a:defRPr>
            </a:pPr>
            <a:r>
              <a:t>Brandes, U. (2001). A faster algorithm for betweenness centrality. Journal of Mathematical Sociology, 25(2), 163-177. https://doi.org/10.1080/0022250X.2001.9990249</a:t>
            </a:r>
          </a:p>
        </p:txBody>
      </p:sp>
      <p:sp>
        <p:nvSpPr>
          <p:cNvPr id="16" name="TextBox 15"/>
          <p:cNvSpPr txBox="1"/>
          <p:nvPr/>
        </p:nvSpPr>
        <p:spPr>
          <a:xfrm>
            <a:off x="685800" y="2057400"/>
            <a:ext cx="5166360" cy="713232"/>
          </a:xfrm>
          <a:prstGeom prst="rect">
            <a:avLst/>
          </a:prstGeom>
          <a:noFill/>
        </p:spPr>
        <p:txBody>
          <a:bodyPr wrap="square" lIns="0" rIns="0" tIns="0" bIns="0">
            <a:spAutoFit/>
          </a:bodyPr>
          <a:lstStyle/>
          <a:p>
            <a:pPr>
              <a:defRPr sz="850">
                <a:solidFill>
                  <a:srgbClr val="D2E4F5"/>
                </a:solidFill>
              </a:defRPr>
            </a:pPr>
            <a:r>
              <a:t>Brin, S., &amp; Page, L. (1998). The anatomy of a large-scale hypertextual Web search engine. Computer Networks and ISDN Systems, 30(1-7), 107-117. https://doi.org/10.1016/S0169-7552(98)00110-X</a:t>
            </a:r>
          </a:p>
        </p:txBody>
      </p:sp>
      <p:sp>
        <p:nvSpPr>
          <p:cNvPr id="17" name="TextBox 16"/>
          <p:cNvSpPr txBox="1"/>
          <p:nvPr/>
        </p:nvSpPr>
        <p:spPr>
          <a:xfrm>
            <a:off x="685800" y="2880360"/>
            <a:ext cx="5166360" cy="713232"/>
          </a:xfrm>
          <a:prstGeom prst="rect">
            <a:avLst/>
          </a:prstGeom>
          <a:noFill/>
        </p:spPr>
        <p:txBody>
          <a:bodyPr wrap="square" lIns="0" rIns="0" tIns="0" bIns="0">
            <a:spAutoFit/>
          </a:bodyPr>
          <a:lstStyle/>
          <a:p>
            <a:pPr>
              <a:defRPr sz="850">
                <a:solidFill>
                  <a:srgbClr val="F5F8FF"/>
                </a:solidFill>
              </a:defRPr>
            </a:pPr>
            <a:r>
              <a:t>Cox, D. R. (1972). Regression models and life-tables. Journal of the Royal Statistical Society: Series B, 34(2), 187-202. https://doi.org/10.1111/j.2517-6161.1972.tb00899.x</a:t>
            </a:r>
          </a:p>
        </p:txBody>
      </p:sp>
      <p:sp>
        <p:nvSpPr>
          <p:cNvPr id="18" name="TextBox 17"/>
          <p:cNvSpPr txBox="1"/>
          <p:nvPr/>
        </p:nvSpPr>
        <p:spPr>
          <a:xfrm>
            <a:off x="685800" y="3703320"/>
            <a:ext cx="5166360" cy="713232"/>
          </a:xfrm>
          <a:prstGeom prst="rect">
            <a:avLst/>
          </a:prstGeom>
          <a:noFill/>
        </p:spPr>
        <p:txBody>
          <a:bodyPr wrap="square" lIns="0" rIns="0" tIns="0" bIns="0">
            <a:spAutoFit/>
          </a:bodyPr>
          <a:lstStyle/>
          <a:p>
            <a:pPr>
              <a:defRPr sz="850">
                <a:solidFill>
                  <a:srgbClr val="D2E4F5"/>
                </a:solidFill>
              </a:defRPr>
            </a:pPr>
            <a:r>
              <a:t>Kaplan, A., &amp; Haenlein, M. (2019). Siri, Siri, in my hand: Who is the fairest in the land? Business Horizons, 62(1), 15-25. https://doi.org/10.1016/j.bushor.2018.08.004</a:t>
            </a:r>
          </a:p>
        </p:txBody>
      </p:sp>
      <p:sp>
        <p:nvSpPr>
          <p:cNvPr id="19" name="TextBox 18"/>
          <p:cNvSpPr txBox="1"/>
          <p:nvPr/>
        </p:nvSpPr>
        <p:spPr>
          <a:xfrm>
            <a:off x="6263640" y="1234440"/>
            <a:ext cx="5166360" cy="713232"/>
          </a:xfrm>
          <a:prstGeom prst="rect">
            <a:avLst/>
          </a:prstGeom>
          <a:noFill/>
        </p:spPr>
        <p:txBody>
          <a:bodyPr wrap="square" lIns="0" rIns="0" tIns="0" bIns="0">
            <a:spAutoFit/>
          </a:bodyPr>
          <a:lstStyle/>
          <a:p>
            <a:pPr>
              <a:defRPr sz="850">
                <a:solidFill>
                  <a:srgbClr val="F5F8FF"/>
                </a:solidFill>
              </a:defRPr>
            </a:pPr>
            <a:r>
              <a:t>Kirkpatrick, S., Gelatt, C. D., &amp; Vecchi, M. P. (1983). Optimization by simulated annealing. Science, 220(4598), 671-680. https://doi.org/10.1126/science.220.4598.671</a:t>
            </a:r>
          </a:p>
        </p:txBody>
      </p:sp>
      <p:sp>
        <p:nvSpPr>
          <p:cNvPr id="20" name="TextBox 19"/>
          <p:cNvSpPr txBox="1"/>
          <p:nvPr/>
        </p:nvSpPr>
        <p:spPr>
          <a:xfrm>
            <a:off x="6263640" y="2057400"/>
            <a:ext cx="5166360" cy="713232"/>
          </a:xfrm>
          <a:prstGeom prst="rect">
            <a:avLst/>
          </a:prstGeom>
          <a:noFill/>
        </p:spPr>
        <p:txBody>
          <a:bodyPr wrap="square" lIns="0" rIns="0" tIns="0" bIns="0">
            <a:spAutoFit/>
          </a:bodyPr>
          <a:lstStyle/>
          <a:p>
            <a:pPr>
              <a:defRPr sz="850">
                <a:solidFill>
                  <a:srgbClr val="D2E4F5"/>
                </a:solidFill>
              </a:defRPr>
            </a:pPr>
            <a:r>
              <a:t>Maslach, C., &amp; Leiter, M. P. (2016). Understanding the burnout experience: Recent research and its implications for psychiatry. World Psychiatry, 15(2), 103-111. https://doi.org/10.1002/wps.20311</a:t>
            </a:r>
          </a:p>
        </p:txBody>
      </p:sp>
      <p:sp>
        <p:nvSpPr>
          <p:cNvPr id="21" name="TextBox 20"/>
          <p:cNvSpPr txBox="1"/>
          <p:nvPr/>
        </p:nvSpPr>
        <p:spPr>
          <a:xfrm>
            <a:off x="6263640" y="2880360"/>
            <a:ext cx="5166360" cy="713232"/>
          </a:xfrm>
          <a:prstGeom prst="rect">
            <a:avLst/>
          </a:prstGeom>
          <a:noFill/>
        </p:spPr>
        <p:txBody>
          <a:bodyPr wrap="square" lIns="0" rIns="0" tIns="0" bIns="0">
            <a:spAutoFit/>
          </a:bodyPr>
          <a:lstStyle/>
          <a:p>
            <a:pPr>
              <a:defRPr sz="850">
                <a:solidFill>
                  <a:srgbClr val="F5F8FF"/>
                </a:solidFill>
              </a:defRPr>
            </a:pPr>
            <a:r>
              <a:t>Upadhyay, A. K., &amp; Khandelwal, K. (2018). Applying artificial intelligence: Implications for recruitment. Strategic HR Review, 17(5), 255-258. https://doi.org/10.1108/SHR-07-2018-0051</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Image 0" descr="/mnt/data/a_high_tech_futuristic_digital_cybersecurity_gover_batch_8.png"/>
          <p:cNvPicPr>
            <a:picLocks noChangeAspect="1"/>
          </p:cNvPicPr>
          <p:nvPr/>
        </p:nvPicPr>
        <p:blipFill>
          <a:blip r:embed="rId3"/>
          <a:srcRect t="25" b="25"/>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B132B">
              <a:alpha val="63000"/>
            </a:srgbClr>
          </a:solidFill>
          <a:ln w="12700">
            <a:solidFill>
              <a:srgbClr val="333333">
                <a:alpha val="0"/>
              </a:srgbClr>
            </a:solidFill>
            <a:prstDash val="solid"/>
          </a:ln>
        </p:spPr>
        <p:txBody>
          <a:bodyPr/>
          <a:lstStyle/>
          <a:p>
            <a:endParaRPr lang="en-US"/>
          </a:p>
        </p:txBody>
      </p:sp>
      <p:sp>
        <p:nvSpPr>
          <p:cNvPr id="4" name="Shape 1"/>
          <p:cNvSpPr/>
          <p:nvPr/>
        </p:nvSpPr>
        <p:spPr>
          <a:xfrm>
            <a:off x="0" y="0"/>
            <a:ext cx="12191695" cy="6858000"/>
          </a:xfrm>
          <a:prstGeom prst="rect">
            <a:avLst/>
          </a:prstGeom>
          <a:solidFill>
            <a:srgbClr val="000000">
              <a:alpha val="32000"/>
            </a:srgbClr>
          </a:solidFill>
          <a:ln w="12700">
            <a:solidFill>
              <a:srgbClr val="333333">
                <a:alpha val="0"/>
              </a:srgbClr>
            </a:solidFill>
            <a:prstDash val="solid"/>
          </a:ln>
        </p:spPr>
        <p:txBody>
          <a:bodyPr/>
          <a:lstStyle/>
          <a:p>
            <a:endParaRPr lang="en-US"/>
          </a:p>
        </p:txBody>
      </p:sp>
      <p:sp>
        <p:nvSpPr>
          <p:cNvPr id="5" name="Text 2"/>
          <p:cNvSpPr/>
          <p:nvPr/>
        </p:nvSpPr>
        <p:spPr>
          <a:xfrm>
            <a:off x="658368" y="429768"/>
            <a:ext cx="5120640" cy="246888"/>
          </a:xfrm>
          <a:prstGeom prst="rect">
            <a:avLst/>
          </a:prstGeom>
          <a:noFill/>
          <a:ln/>
        </p:spPr>
        <p:txBody>
          <a:bodyPr wrap="square" lIns="0" tIns="0" rIns="0" bIns="0" rtlCol="0" anchor="ctr"/>
          <a:lstStyle/>
          <a:p>
            <a:pPr marL="0" indent="0">
              <a:buNone/>
            </a:pPr>
            <a:r>
              <a:rPr lang="en-US" sz="850" dirty="0">
                <a:solidFill>
                  <a:srgbClr val="00EBDF"/>
                </a:solidFill>
                <a:latin typeface="Segoe UI Semibold" pitchFamily="34" charset="0"/>
                <a:ea typeface="Segoe UI Semibold" pitchFamily="34" charset="-122"/>
                <a:cs typeface="Segoe UI Semibold" pitchFamily="34" charset="-120"/>
              </a:rPr>
              <a:t>GOVERNANCE</a:t>
            </a:r>
            <a:endParaRPr lang="en-US" sz="850" dirty="0"/>
          </a:p>
        </p:txBody>
      </p:sp>
      <p:sp>
        <p:nvSpPr>
          <p:cNvPr id="6" name="Text 3"/>
          <p:cNvSpPr/>
          <p:nvPr/>
        </p:nvSpPr>
        <p:spPr>
          <a:xfrm>
            <a:off x="658368" y="713232"/>
            <a:ext cx="7680960" cy="493776"/>
          </a:xfrm>
          <a:prstGeom prst="rect">
            <a:avLst/>
          </a:prstGeom>
          <a:noFill/>
          <a:ln/>
        </p:spPr>
        <p:txBody>
          <a:bodyPr wrap="square" lIns="0" tIns="0" rIns="0" bIns="0" rtlCol="0" anchor="ctr">
            <a:normAutofit/>
          </a:bodyPr>
          <a:lstStyle/>
          <a:p>
            <a:pPr marL="0" indent="0">
              <a:buNone/>
            </a:pPr>
            <a:r>
              <a:rPr lang="en-US" sz="2700" b="1" dirty="0">
                <a:solidFill>
                  <a:srgbClr val="F5FBFF"/>
                </a:solidFill>
                <a:latin typeface="Segoe UI Semibold" pitchFamily="34" charset="0"/>
                <a:ea typeface="Segoe UI Semibold" pitchFamily="34" charset="-122"/>
                <a:cs typeface="Segoe UI Semibold" pitchFamily="34" charset="-120"/>
              </a:rPr>
              <a:t>RBAC, Human Gate &amp; Audit Trails</a:t>
            </a:r>
            <a:endParaRPr lang="en-US" sz="2700" dirty="0"/>
          </a:p>
        </p:txBody>
      </p:sp>
      <p:sp>
        <p:nvSpPr>
          <p:cNvPr id="7" name="Text 4"/>
          <p:cNvSpPr/>
          <p:nvPr/>
        </p:nvSpPr>
        <p:spPr>
          <a:xfrm>
            <a:off x="676656" y="1225296"/>
            <a:ext cx="7452360" cy="310896"/>
          </a:xfrm>
          <a:prstGeom prst="rect">
            <a:avLst/>
          </a:prstGeom>
          <a:noFill/>
          <a:ln/>
        </p:spPr>
        <p:txBody>
          <a:bodyPr wrap="square" lIns="0" tIns="0" rIns="0" bIns="0" rtlCol="0" anchor="ctr">
            <a:normAutofit/>
          </a:bodyPr>
          <a:lstStyle/>
          <a:p>
            <a:pPr marL="0" indent="0">
              <a:buNone/>
            </a:pPr>
            <a:r>
              <a:rPr lang="en-US" sz="1250" dirty="0">
                <a:solidFill>
                  <a:srgbClr val="B5C7D9"/>
                </a:solidFill>
                <a:latin typeface="Segoe UI" pitchFamily="34" charset="0"/>
                <a:ea typeface="Segoe UI" pitchFamily="34" charset="-122"/>
                <a:cs typeface="Segoe UI" pitchFamily="34" charset="-120"/>
              </a:rPr>
              <a:t>The AI agent is powerful, but not uncontrolled.</a:t>
            </a:r>
            <a:endParaRPr lang="en-US" sz="1250" dirty="0"/>
          </a:p>
        </p:txBody>
      </p:sp>
      <p:sp>
        <p:nvSpPr>
          <p:cNvPr id="8" name="Shape 5"/>
          <p:cNvSpPr/>
          <p:nvPr/>
        </p:nvSpPr>
        <p:spPr>
          <a:xfrm>
            <a:off x="658368" y="1755648"/>
            <a:ext cx="4800600" cy="4251960"/>
          </a:xfrm>
          <a:prstGeom prst="roundRect">
            <a:avLst>
              <a:gd name="adj" fmla="val 2581"/>
            </a:avLst>
          </a:prstGeom>
          <a:solidFill>
            <a:srgbClr val="020916">
              <a:alpha val="88000"/>
            </a:srgbClr>
          </a:solidFill>
          <a:ln w="12700">
            <a:solidFill>
              <a:srgbClr val="00EBDF">
                <a:alpha val="35000"/>
              </a:srgbClr>
            </a:solidFill>
            <a:prstDash val="solid"/>
          </a:ln>
          <a:effectLst>
            <a:outerShdw blurRad="25400" dist="50800" dir="2700000" algn="bl" rotWithShape="0">
              <a:srgbClr val="00EBDF">
                <a:alpha val="18000"/>
              </a:srgbClr>
            </a:outerShdw>
          </a:effectLst>
        </p:spPr>
        <p:txBody>
          <a:bodyPr/>
          <a:lstStyle/>
          <a:p>
            <a:endParaRPr lang="en-US"/>
          </a:p>
        </p:txBody>
      </p:sp>
      <p:sp>
        <p:nvSpPr>
          <p:cNvPr id="9" name="Text 6"/>
          <p:cNvSpPr/>
          <p:nvPr/>
        </p:nvSpPr>
        <p:spPr>
          <a:xfrm>
            <a:off x="932688" y="1975104"/>
            <a:ext cx="3474720" cy="219456"/>
          </a:xfrm>
          <a:prstGeom prst="rect">
            <a:avLst/>
          </a:prstGeom>
          <a:noFill/>
          <a:ln/>
        </p:spPr>
        <p:txBody>
          <a:bodyPr wrap="square" lIns="0" tIns="0" rIns="0" bIns="0" rtlCol="0" anchor="ctr">
            <a:normAutofit/>
          </a:bodyPr>
          <a:lstStyle/>
          <a:p>
            <a:pPr marL="0" indent="0">
              <a:buNone/>
            </a:pPr>
            <a:r>
              <a:rPr lang="en-US" sz="850" dirty="0">
                <a:solidFill>
                  <a:srgbClr val="00EBDF"/>
                </a:solidFill>
                <a:latin typeface="Segoe UI Semibold" pitchFamily="34" charset="0"/>
                <a:ea typeface="Segoe UI Semibold" pitchFamily="34" charset="-122"/>
                <a:cs typeface="Segoe UI Semibold" pitchFamily="34" charset="-120"/>
              </a:rPr>
              <a:t>ROLE-BASED ACCESS CONTROL</a:t>
            </a:r>
            <a:endParaRPr lang="en-US" sz="850" dirty="0"/>
          </a:p>
        </p:txBody>
      </p:sp>
      <p:sp>
        <p:nvSpPr>
          <p:cNvPr id="10" name="Shape 7"/>
          <p:cNvSpPr/>
          <p:nvPr/>
        </p:nvSpPr>
        <p:spPr>
          <a:xfrm>
            <a:off x="950976" y="2523744"/>
            <a:ext cx="201168" cy="0"/>
          </a:xfrm>
          <a:prstGeom prst="line">
            <a:avLst/>
          </a:prstGeom>
          <a:noFill/>
          <a:ln w="27940">
            <a:solidFill>
              <a:srgbClr val="48CAE4"/>
            </a:solidFill>
            <a:prstDash val="solid"/>
          </a:ln>
        </p:spPr>
        <p:txBody>
          <a:bodyPr/>
          <a:lstStyle/>
          <a:p>
            <a:endParaRPr lang="en-US"/>
          </a:p>
        </p:txBody>
      </p:sp>
      <p:sp>
        <p:nvSpPr>
          <p:cNvPr id="11" name="Text 8"/>
          <p:cNvSpPr/>
          <p:nvPr/>
        </p:nvSpPr>
        <p:spPr>
          <a:xfrm>
            <a:off x="1252728" y="2450592"/>
            <a:ext cx="3840480" cy="201168"/>
          </a:xfrm>
          <a:prstGeom prst="rect">
            <a:avLst/>
          </a:prstGeom>
          <a:noFill/>
          <a:ln/>
        </p:spPr>
        <p:txBody>
          <a:bodyPr wrap="square" lIns="0" tIns="0" rIns="0" bIns="0" rtlCol="0" anchor="ctr">
            <a:normAutofit/>
          </a:bodyPr>
          <a:lstStyle/>
          <a:p>
            <a:pPr marL="0" indent="0">
              <a:buNone/>
            </a:pPr>
            <a:r>
              <a:rPr lang="en-US" sz="1180" dirty="0">
                <a:solidFill>
                  <a:srgbClr val="F5FBFF"/>
                </a:solidFill>
                <a:latin typeface="Segoe UI Semibold" pitchFamily="34" charset="0"/>
                <a:ea typeface="Segoe UI Semibold" pitchFamily="34" charset="-122"/>
                <a:cs typeface="Segoe UI Semibold" pitchFamily="34" charset="-120"/>
              </a:rPr>
              <a:t>Read-only boundaries</a:t>
            </a:r>
            <a:endParaRPr lang="en-US" sz="1180" dirty="0"/>
          </a:p>
        </p:txBody>
      </p:sp>
      <p:sp>
        <p:nvSpPr>
          <p:cNvPr id="12" name="Text 9"/>
          <p:cNvSpPr/>
          <p:nvPr/>
        </p:nvSpPr>
        <p:spPr>
          <a:xfrm>
            <a:off x="1252728" y="2679192"/>
            <a:ext cx="3840480" cy="475488"/>
          </a:xfrm>
          <a:prstGeom prst="rect">
            <a:avLst/>
          </a:prstGeom>
          <a:noFill/>
          <a:ln/>
        </p:spPr>
        <p:txBody>
          <a:bodyPr wrap="square" lIns="0" tIns="0" rIns="0" bIns="0" rtlCol="0" anchor="ctr">
            <a:normAutofit/>
          </a:bodyPr>
          <a:lstStyle/>
          <a:p>
            <a:pPr marL="0" indent="0">
              <a:buNone/>
            </a:pPr>
            <a:r>
              <a:rPr lang="en-US" sz="980" dirty="0">
                <a:solidFill>
                  <a:srgbClr val="B5C7D9"/>
                </a:solidFill>
                <a:latin typeface="Segoe UI" pitchFamily="34" charset="0"/>
                <a:ea typeface="Segoe UI" pitchFamily="34" charset="-122"/>
                <a:cs typeface="Segoe UI" pitchFamily="34" charset="-120"/>
              </a:rPr>
              <a:t>Non-admin users remain restricted to dashboards and safe data access.</a:t>
            </a:r>
            <a:endParaRPr lang="en-US" sz="980" dirty="0"/>
          </a:p>
        </p:txBody>
      </p:sp>
      <p:sp>
        <p:nvSpPr>
          <p:cNvPr id="13" name="Shape 10"/>
          <p:cNvSpPr/>
          <p:nvPr/>
        </p:nvSpPr>
        <p:spPr>
          <a:xfrm>
            <a:off x="950976" y="3319272"/>
            <a:ext cx="201168" cy="0"/>
          </a:xfrm>
          <a:prstGeom prst="line">
            <a:avLst/>
          </a:prstGeom>
          <a:noFill/>
          <a:ln w="27940">
            <a:solidFill>
              <a:srgbClr val="FF5277"/>
            </a:solidFill>
            <a:prstDash val="solid"/>
          </a:ln>
        </p:spPr>
        <p:txBody>
          <a:bodyPr/>
          <a:lstStyle/>
          <a:p>
            <a:endParaRPr lang="en-US"/>
          </a:p>
        </p:txBody>
      </p:sp>
      <p:sp>
        <p:nvSpPr>
          <p:cNvPr id="14" name="Text 11"/>
          <p:cNvSpPr/>
          <p:nvPr/>
        </p:nvSpPr>
        <p:spPr>
          <a:xfrm>
            <a:off x="1252728" y="3246120"/>
            <a:ext cx="3840480" cy="201168"/>
          </a:xfrm>
          <a:prstGeom prst="rect">
            <a:avLst/>
          </a:prstGeom>
          <a:noFill/>
          <a:ln/>
        </p:spPr>
        <p:txBody>
          <a:bodyPr wrap="square" lIns="0" tIns="0" rIns="0" bIns="0" rtlCol="0" anchor="ctr">
            <a:normAutofit/>
          </a:bodyPr>
          <a:lstStyle/>
          <a:p>
            <a:pPr marL="0" indent="0">
              <a:buNone/>
            </a:pPr>
            <a:r>
              <a:rPr lang="en-US" sz="1180" dirty="0">
                <a:solidFill>
                  <a:srgbClr val="F5FBFF"/>
                </a:solidFill>
                <a:latin typeface="Segoe UI Semibold" pitchFamily="34" charset="0"/>
                <a:ea typeface="Segoe UI Semibold" pitchFamily="34" charset="-122"/>
                <a:cs typeface="Segoe UI Semibold" pitchFamily="34" charset="-120"/>
              </a:rPr>
              <a:t>Zero AI autonomous deletions</a:t>
            </a:r>
            <a:endParaRPr lang="en-US" sz="1180" dirty="0"/>
          </a:p>
        </p:txBody>
      </p:sp>
      <p:sp>
        <p:nvSpPr>
          <p:cNvPr id="15" name="Text 12"/>
          <p:cNvSpPr/>
          <p:nvPr/>
        </p:nvSpPr>
        <p:spPr>
          <a:xfrm>
            <a:off x="1252728" y="3474720"/>
            <a:ext cx="3840480" cy="475488"/>
          </a:xfrm>
          <a:prstGeom prst="rect">
            <a:avLst/>
          </a:prstGeom>
          <a:noFill/>
          <a:ln/>
        </p:spPr>
        <p:txBody>
          <a:bodyPr wrap="square" lIns="0" tIns="0" rIns="0" bIns="0" rtlCol="0" anchor="ctr">
            <a:normAutofit/>
          </a:bodyPr>
          <a:lstStyle/>
          <a:p>
            <a:pPr marL="0" indent="0">
              <a:buNone/>
            </a:pPr>
            <a:r>
              <a:rPr lang="en-US" sz="980" dirty="0">
                <a:solidFill>
                  <a:srgbClr val="B5C7D9"/>
                </a:solidFill>
                <a:latin typeface="Segoe UI" pitchFamily="34" charset="0"/>
                <a:ea typeface="Segoe UI" pitchFamily="34" charset="-122"/>
                <a:cs typeface="Segoe UI" pitchFamily="34" charset="-120"/>
              </a:rPr>
              <a:t>The governance kernel blocks deletion commands at source.</a:t>
            </a:r>
            <a:endParaRPr lang="en-US" sz="980" dirty="0"/>
          </a:p>
        </p:txBody>
      </p:sp>
      <p:sp>
        <p:nvSpPr>
          <p:cNvPr id="16" name="Shape 13"/>
          <p:cNvSpPr/>
          <p:nvPr/>
        </p:nvSpPr>
        <p:spPr>
          <a:xfrm>
            <a:off x="950976" y="4114800"/>
            <a:ext cx="201168" cy="0"/>
          </a:xfrm>
          <a:prstGeom prst="line">
            <a:avLst/>
          </a:prstGeom>
          <a:noFill/>
          <a:ln w="27940">
            <a:solidFill>
              <a:srgbClr val="29F0A0"/>
            </a:solidFill>
            <a:prstDash val="solid"/>
          </a:ln>
        </p:spPr>
        <p:txBody>
          <a:bodyPr/>
          <a:lstStyle/>
          <a:p>
            <a:endParaRPr lang="en-US"/>
          </a:p>
        </p:txBody>
      </p:sp>
      <p:sp>
        <p:nvSpPr>
          <p:cNvPr id="17" name="Text 14"/>
          <p:cNvSpPr/>
          <p:nvPr/>
        </p:nvSpPr>
        <p:spPr>
          <a:xfrm>
            <a:off x="1252728" y="4041648"/>
            <a:ext cx="3840480" cy="201168"/>
          </a:xfrm>
          <a:prstGeom prst="rect">
            <a:avLst/>
          </a:prstGeom>
          <a:noFill/>
          <a:ln/>
        </p:spPr>
        <p:txBody>
          <a:bodyPr wrap="square" lIns="0" tIns="0" rIns="0" bIns="0" rtlCol="0" anchor="ctr">
            <a:normAutofit/>
          </a:bodyPr>
          <a:lstStyle/>
          <a:p>
            <a:pPr marL="0" indent="0">
              <a:buNone/>
            </a:pPr>
            <a:r>
              <a:rPr lang="en-US" sz="1180" dirty="0">
                <a:solidFill>
                  <a:srgbClr val="F5FBFF"/>
                </a:solidFill>
                <a:latin typeface="Segoe UI Semibold" pitchFamily="34" charset="0"/>
                <a:ea typeface="Segoe UI Semibold" pitchFamily="34" charset="-122"/>
                <a:cs typeface="Segoe UI Semibold" pitchFamily="34" charset="-120"/>
              </a:rPr>
              <a:t>Human-in-the-loop confirmation</a:t>
            </a:r>
            <a:endParaRPr lang="en-US" sz="1180" dirty="0"/>
          </a:p>
        </p:txBody>
      </p:sp>
      <p:sp>
        <p:nvSpPr>
          <p:cNvPr id="18" name="Text 15"/>
          <p:cNvSpPr/>
          <p:nvPr/>
        </p:nvSpPr>
        <p:spPr>
          <a:xfrm>
            <a:off x="1252728" y="4270248"/>
            <a:ext cx="3840480" cy="475488"/>
          </a:xfrm>
          <a:prstGeom prst="rect">
            <a:avLst/>
          </a:prstGeom>
          <a:noFill/>
          <a:ln/>
        </p:spPr>
        <p:txBody>
          <a:bodyPr wrap="square" lIns="0" tIns="0" rIns="0" bIns="0" rtlCol="0" anchor="ctr">
            <a:normAutofit/>
          </a:bodyPr>
          <a:lstStyle/>
          <a:p>
            <a:pPr marL="0" indent="0">
              <a:buNone/>
            </a:pPr>
            <a:r>
              <a:rPr lang="en-US" sz="980" dirty="0">
                <a:solidFill>
                  <a:srgbClr val="B5C7D9"/>
                </a:solidFill>
                <a:latin typeface="Segoe UI" pitchFamily="34" charset="0"/>
                <a:ea typeface="Segoe UI" pitchFamily="34" charset="-122"/>
                <a:cs typeface="Segoe UI" pitchFamily="34" charset="-120"/>
              </a:rPr>
              <a:t>Critical database changes require explicit UI approval.</a:t>
            </a:r>
            <a:endParaRPr lang="en-US" sz="980" dirty="0"/>
          </a:p>
        </p:txBody>
      </p:sp>
      <p:sp>
        <p:nvSpPr>
          <p:cNvPr id="19" name="Shape 16"/>
          <p:cNvSpPr/>
          <p:nvPr/>
        </p:nvSpPr>
        <p:spPr>
          <a:xfrm>
            <a:off x="7360920" y="1901952"/>
            <a:ext cx="3794760" cy="3429000"/>
          </a:xfrm>
          <a:prstGeom prst="roundRect">
            <a:avLst>
              <a:gd name="adj" fmla="val 3200"/>
            </a:avLst>
          </a:prstGeom>
          <a:solidFill>
            <a:srgbClr val="020916">
              <a:alpha val="94000"/>
            </a:srgbClr>
          </a:solidFill>
          <a:ln w="12700">
            <a:solidFill>
              <a:srgbClr val="00EBDF">
                <a:alpha val="38000"/>
              </a:srgbClr>
            </a:solidFill>
            <a:prstDash val="solid"/>
          </a:ln>
          <a:effectLst>
            <a:outerShdw blurRad="25400" dist="50800" dir="2700000" algn="bl" rotWithShape="0">
              <a:srgbClr val="00EBDF">
                <a:alpha val="18000"/>
              </a:srgbClr>
            </a:outerShdw>
          </a:effectLst>
        </p:spPr>
        <p:txBody>
          <a:bodyPr/>
          <a:lstStyle/>
          <a:p>
            <a:endParaRPr lang="en-US"/>
          </a:p>
        </p:txBody>
      </p:sp>
      <p:sp>
        <p:nvSpPr>
          <p:cNvPr id="20" name="Text 17"/>
          <p:cNvSpPr/>
          <p:nvPr/>
        </p:nvSpPr>
        <p:spPr>
          <a:xfrm>
            <a:off x="7635240" y="2121408"/>
            <a:ext cx="2194560" cy="219456"/>
          </a:xfrm>
          <a:prstGeom prst="rect">
            <a:avLst/>
          </a:prstGeom>
          <a:noFill/>
          <a:ln/>
        </p:spPr>
        <p:txBody>
          <a:bodyPr wrap="square" lIns="0" tIns="0" rIns="0" bIns="0" rtlCol="0" anchor="ctr">
            <a:normAutofit/>
          </a:bodyPr>
          <a:lstStyle/>
          <a:p>
            <a:pPr marL="0" indent="0">
              <a:buNone/>
            </a:pPr>
            <a:r>
              <a:rPr lang="en-US" sz="850" dirty="0">
                <a:solidFill>
                  <a:srgbClr val="00EBDF"/>
                </a:solidFill>
                <a:latin typeface="Segoe UI Semibold" pitchFamily="34" charset="0"/>
                <a:ea typeface="Segoe UI Semibold" pitchFamily="34" charset="-122"/>
                <a:cs typeface="Segoe UI Semibold" pitchFamily="34" charset="-120"/>
              </a:rPr>
              <a:t>AUDIT LEDGER</a:t>
            </a:r>
            <a:endParaRPr lang="en-US" sz="850" dirty="0"/>
          </a:p>
        </p:txBody>
      </p:sp>
      <p:sp>
        <p:nvSpPr>
          <p:cNvPr id="21" name="Shape 18"/>
          <p:cNvSpPr/>
          <p:nvPr/>
        </p:nvSpPr>
        <p:spPr>
          <a:xfrm>
            <a:off x="7662672" y="2560320"/>
            <a:ext cx="3090672" cy="310896"/>
          </a:xfrm>
          <a:prstGeom prst="roundRect">
            <a:avLst>
              <a:gd name="adj" fmla="val 17647"/>
            </a:avLst>
          </a:prstGeom>
          <a:solidFill>
            <a:srgbClr val="0C1C35">
              <a:alpha val="92000"/>
            </a:srgbClr>
          </a:solidFill>
          <a:ln w="6350">
            <a:solidFill>
              <a:srgbClr val="48CAE4">
                <a:alpha val="20000"/>
              </a:srgbClr>
            </a:solidFill>
            <a:prstDash val="solid"/>
          </a:ln>
        </p:spPr>
        <p:txBody>
          <a:bodyPr/>
          <a:lstStyle/>
          <a:p>
            <a:endParaRPr lang="en-US"/>
          </a:p>
        </p:txBody>
      </p:sp>
      <p:sp>
        <p:nvSpPr>
          <p:cNvPr id="22" name="Text 19"/>
          <p:cNvSpPr/>
          <p:nvPr/>
        </p:nvSpPr>
        <p:spPr>
          <a:xfrm>
            <a:off x="7818120" y="2633472"/>
            <a:ext cx="2560320" cy="146304"/>
          </a:xfrm>
          <a:prstGeom prst="rect">
            <a:avLst/>
          </a:prstGeom>
          <a:noFill/>
          <a:ln/>
        </p:spPr>
        <p:txBody>
          <a:bodyPr wrap="square" lIns="0" tIns="0" rIns="0" bIns="0" rtlCol="0" anchor="ctr">
            <a:normAutofit/>
          </a:bodyPr>
          <a:lstStyle/>
          <a:p>
            <a:pPr marL="0" indent="0">
              <a:buNone/>
            </a:pPr>
            <a:r>
              <a:rPr lang="en-US" sz="880" dirty="0">
                <a:solidFill>
                  <a:srgbClr val="B5C7D9"/>
                </a:solidFill>
                <a:latin typeface="Segoe UI" pitchFamily="34" charset="0"/>
                <a:ea typeface="Segoe UI" pitchFamily="34" charset="-122"/>
                <a:cs typeface="Segoe UI" pitchFamily="34" charset="-120"/>
              </a:rPr>
              <a:t>Timestamp</a:t>
            </a:r>
            <a:endParaRPr lang="en-US" sz="880" dirty="0"/>
          </a:p>
        </p:txBody>
      </p:sp>
      <p:sp>
        <p:nvSpPr>
          <p:cNvPr id="23" name="Shape 20"/>
          <p:cNvSpPr/>
          <p:nvPr/>
        </p:nvSpPr>
        <p:spPr>
          <a:xfrm>
            <a:off x="7662672" y="3035808"/>
            <a:ext cx="3090672" cy="310896"/>
          </a:xfrm>
          <a:prstGeom prst="roundRect">
            <a:avLst>
              <a:gd name="adj" fmla="val 17647"/>
            </a:avLst>
          </a:prstGeom>
          <a:solidFill>
            <a:srgbClr val="0C1C35">
              <a:alpha val="92000"/>
            </a:srgbClr>
          </a:solidFill>
          <a:ln w="6350">
            <a:solidFill>
              <a:srgbClr val="48CAE4">
                <a:alpha val="20000"/>
              </a:srgbClr>
            </a:solidFill>
            <a:prstDash val="solid"/>
          </a:ln>
        </p:spPr>
        <p:txBody>
          <a:bodyPr/>
          <a:lstStyle/>
          <a:p>
            <a:endParaRPr lang="en-US"/>
          </a:p>
        </p:txBody>
      </p:sp>
      <p:sp>
        <p:nvSpPr>
          <p:cNvPr id="24" name="Text 21"/>
          <p:cNvSpPr/>
          <p:nvPr/>
        </p:nvSpPr>
        <p:spPr>
          <a:xfrm>
            <a:off x="7818120" y="3108960"/>
            <a:ext cx="2560320" cy="146304"/>
          </a:xfrm>
          <a:prstGeom prst="rect">
            <a:avLst/>
          </a:prstGeom>
          <a:noFill/>
          <a:ln/>
        </p:spPr>
        <p:txBody>
          <a:bodyPr wrap="square" lIns="0" tIns="0" rIns="0" bIns="0" rtlCol="0" anchor="ctr">
            <a:normAutofit/>
          </a:bodyPr>
          <a:lstStyle/>
          <a:p>
            <a:pPr marL="0" indent="0">
              <a:buNone/>
            </a:pPr>
            <a:r>
              <a:rPr lang="en-US" sz="880" dirty="0">
                <a:solidFill>
                  <a:srgbClr val="B5C7D9"/>
                </a:solidFill>
                <a:latin typeface="Segoe UI" pitchFamily="34" charset="0"/>
                <a:ea typeface="Segoe UI" pitchFamily="34" charset="-122"/>
                <a:cs typeface="Segoe UI" pitchFamily="34" charset="-120"/>
              </a:rPr>
              <a:t>User / agent actor</a:t>
            </a:r>
            <a:endParaRPr lang="en-US" sz="880" dirty="0"/>
          </a:p>
        </p:txBody>
      </p:sp>
      <p:sp>
        <p:nvSpPr>
          <p:cNvPr id="25" name="Shape 22"/>
          <p:cNvSpPr/>
          <p:nvPr/>
        </p:nvSpPr>
        <p:spPr>
          <a:xfrm>
            <a:off x="7662672" y="3511296"/>
            <a:ext cx="3090672" cy="310896"/>
          </a:xfrm>
          <a:prstGeom prst="roundRect">
            <a:avLst>
              <a:gd name="adj" fmla="val 17647"/>
            </a:avLst>
          </a:prstGeom>
          <a:solidFill>
            <a:srgbClr val="0C1C35">
              <a:alpha val="92000"/>
            </a:srgbClr>
          </a:solidFill>
          <a:ln w="6350">
            <a:solidFill>
              <a:srgbClr val="48CAE4">
                <a:alpha val="20000"/>
              </a:srgbClr>
            </a:solidFill>
            <a:prstDash val="solid"/>
          </a:ln>
        </p:spPr>
        <p:txBody>
          <a:bodyPr/>
          <a:lstStyle/>
          <a:p>
            <a:endParaRPr lang="en-US"/>
          </a:p>
        </p:txBody>
      </p:sp>
      <p:sp>
        <p:nvSpPr>
          <p:cNvPr id="26" name="Text 23"/>
          <p:cNvSpPr/>
          <p:nvPr/>
        </p:nvSpPr>
        <p:spPr>
          <a:xfrm>
            <a:off x="7818120" y="3584448"/>
            <a:ext cx="2560320" cy="146304"/>
          </a:xfrm>
          <a:prstGeom prst="rect">
            <a:avLst/>
          </a:prstGeom>
          <a:noFill/>
          <a:ln/>
        </p:spPr>
        <p:txBody>
          <a:bodyPr wrap="square" lIns="0" tIns="0" rIns="0" bIns="0" rtlCol="0" anchor="ctr">
            <a:normAutofit/>
          </a:bodyPr>
          <a:lstStyle/>
          <a:p>
            <a:pPr marL="0" indent="0">
              <a:buNone/>
            </a:pPr>
            <a:r>
              <a:rPr lang="en-US" sz="880" dirty="0">
                <a:solidFill>
                  <a:srgbClr val="B5C7D9"/>
                </a:solidFill>
                <a:latin typeface="Segoe UI" pitchFamily="34" charset="0"/>
                <a:ea typeface="Segoe UI" pitchFamily="34" charset="-122"/>
                <a:cs typeface="Segoe UI" pitchFamily="34" charset="-120"/>
              </a:rPr>
              <a:t>Target record context</a:t>
            </a:r>
            <a:endParaRPr lang="en-US" sz="880" dirty="0"/>
          </a:p>
        </p:txBody>
      </p:sp>
      <p:sp>
        <p:nvSpPr>
          <p:cNvPr id="27" name="Shape 24"/>
          <p:cNvSpPr/>
          <p:nvPr/>
        </p:nvSpPr>
        <p:spPr>
          <a:xfrm>
            <a:off x="7662672" y="3986784"/>
            <a:ext cx="3090672" cy="310896"/>
          </a:xfrm>
          <a:prstGeom prst="roundRect">
            <a:avLst>
              <a:gd name="adj" fmla="val 17647"/>
            </a:avLst>
          </a:prstGeom>
          <a:solidFill>
            <a:srgbClr val="0C1C35">
              <a:alpha val="92000"/>
            </a:srgbClr>
          </a:solidFill>
          <a:ln w="6350">
            <a:solidFill>
              <a:srgbClr val="48CAE4">
                <a:alpha val="20000"/>
              </a:srgbClr>
            </a:solidFill>
            <a:prstDash val="solid"/>
          </a:ln>
        </p:spPr>
        <p:txBody>
          <a:bodyPr/>
          <a:lstStyle/>
          <a:p>
            <a:endParaRPr lang="en-US"/>
          </a:p>
        </p:txBody>
      </p:sp>
      <p:sp>
        <p:nvSpPr>
          <p:cNvPr id="28" name="Text 25"/>
          <p:cNvSpPr/>
          <p:nvPr/>
        </p:nvSpPr>
        <p:spPr>
          <a:xfrm>
            <a:off x="7818120" y="4059936"/>
            <a:ext cx="2560320" cy="146304"/>
          </a:xfrm>
          <a:prstGeom prst="rect">
            <a:avLst/>
          </a:prstGeom>
          <a:noFill/>
          <a:ln/>
        </p:spPr>
        <p:txBody>
          <a:bodyPr wrap="square" lIns="0" tIns="0" rIns="0" bIns="0" rtlCol="0" anchor="ctr">
            <a:normAutofit/>
          </a:bodyPr>
          <a:lstStyle/>
          <a:p>
            <a:pPr marL="0" indent="0">
              <a:buNone/>
            </a:pPr>
            <a:r>
              <a:rPr lang="en-US" sz="880" dirty="0">
                <a:solidFill>
                  <a:srgbClr val="B5C7D9"/>
                </a:solidFill>
                <a:latin typeface="Segoe UI" pitchFamily="34" charset="0"/>
                <a:ea typeface="Segoe UI" pitchFamily="34" charset="-122"/>
                <a:cs typeface="Segoe UI" pitchFamily="34" charset="-120"/>
              </a:rPr>
              <a:t>Blocked mutations</a:t>
            </a:r>
            <a:endParaRPr lang="en-US" sz="880" dirty="0"/>
          </a:p>
        </p:txBody>
      </p:sp>
      <p:sp>
        <p:nvSpPr>
          <p:cNvPr id="29" name="Shape 26"/>
          <p:cNvSpPr/>
          <p:nvPr/>
        </p:nvSpPr>
        <p:spPr>
          <a:xfrm>
            <a:off x="7662672" y="4462272"/>
            <a:ext cx="3090672" cy="310896"/>
          </a:xfrm>
          <a:prstGeom prst="roundRect">
            <a:avLst>
              <a:gd name="adj" fmla="val 17647"/>
            </a:avLst>
          </a:prstGeom>
          <a:solidFill>
            <a:srgbClr val="0C1C35">
              <a:alpha val="92000"/>
            </a:srgbClr>
          </a:solidFill>
          <a:ln w="6350">
            <a:solidFill>
              <a:srgbClr val="48CAE4">
                <a:alpha val="20000"/>
              </a:srgbClr>
            </a:solidFill>
            <a:prstDash val="solid"/>
          </a:ln>
        </p:spPr>
        <p:txBody>
          <a:bodyPr/>
          <a:lstStyle/>
          <a:p>
            <a:endParaRPr lang="en-US"/>
          </a:p>
        </p:txBody>
      </p:sp>
      <p:sp>
        <p:nvSpPr>
          <p:cNvPr id="30" name="Text 27"/>
          <p:cNvSpPr/>
          <p:nvPr/>
        </p:nvSpPr>
        <p:spPr>
          <a:xfrm>
            <a:off x="7818120" y="4535424"/>
            <a:ext cx="2560320" cy="146304"/>
          </a:xfrm>
          <a:prstGeom prst="rect">
            <a:avLst/>
          </a:prstGeom>
          <a:noFill/>
          <a:ln/>
        </p:spPr>
        <p:txBody>
          <a:bodyPr wrap="square" lIns="0" tIns="0" rIns="0" bIns="0" rtlCol="0" anchor="ctr">
            <a:normAutofit/>
          </a:bodyPr>
          <a:lstStyle/>
          <a:p>
            <a:pPr marL="0" indent="0">
              <a:buNone/>
            </a:pPr>
            <a:r>
              <a:rPr lang="en-US" sz="880" dirty="0">
                <a:solidFill>
                  <a:srgbClr val="B5C7D9"/>
                </a:solidFill>
                <a:latin typeface="Segoe UI" pitchFamily="34" charset="0"/>
                <a:ea typeface="Segoe UI" pitchFamily="34" charset="-122"/>
                <a:cs typeface="Segoe UI" pitchFamily="34" charset="-120"/>
              </a:rPr>
              <a:t>Security alert</a:t>
            </a:r>
            <a:endParaRPr lang="en-US" sz="880" dirty="0"/>
          </a:p>
        </p:txBody>
      </p:sp>
      <p:sp>
        <p:nvSpPr>
          <p:cNvPr id="31" name="Shape 28"/>
          <p:cNvSpPr/>
          <p:nvPr/>
        </p:nvSpPr>
        <p:spPr>
          <a:xfrm>
            <a:off x="548640" y="6446520"/>
            <a:ext cx="11109960" cy="0"/>
          </a:xfrm>
          <a:prstGeom prst="line">
            <a:avLst/>
          </a:prstGeom>
          <a:noFill/>
          <a:ln w="15240">
            <a:solidFill>
              <a:srgbClr val="00EBDF">
                <a:alpha val="45000"/>
              </a:srgbClr>
            </a:solidFill>
            <a:prstDash val="solid"/>
          </a:ln>
        </p:spPr>
        <p:txBody>
          <a:bodyPr/>
          <a:lstStyle/>
          <a:p>
            <a:endParaRPr lang="en-US"/>
          </a:p>
        </p:txBody>
      </p:sp>
      <p:sp>
        <p:nvSpPr>
          <p:cNvPr id="32" name="Text 29"/>
          <p:cNvSpPr/>
          <p:nvPr/>
        </p:nvSpPr>
        <p:spPr>
          <a:xfrm>
            <a:off x="594360" y="6528816"/>
            <a:ext cx="4937760" cy="182880"/>
          </a:xfrm>
          <a:prstGeom prst="rect">
            <a:avLst/>
          </a:prstGeom>
          <a:noFill/>
          <a:ln/>
        </p:spPr>
        <p:txBody>
          <a:bodyPr wrap="square" lIns="0" tIns="0" rIns="0" bIns="0" rtlCol="0" anchor="ctr"/>
          <a:lstStyle/>
          <a:p>
            <a:pPr marL="0" indent="0">
              <a:buNone/>
            </a:pPr>
            <a:r>
              <a:rPr lang="en-US" sz="750" dirty="0">
                <a:solidFill>
                  <a:srgbClr val="6D7F96"/>
                </a:solidFill>
                <a:latin typeface="Segoe UI" pitchFamily="34" charset="0"/>
                <a:ea typeface="Segoe UI" pitchFamily="34" charset="-122"/>
                <a:cs typeface="Segoe UI" pitchFamily="34" charset="-120"/>
              </a:rPr>
              <a:t>AURELIUS Management OS</a:t>
            </a:r>
            <a:endParaRPr lang="en-US" sz="750" dirty="0"/>
          </a:p>
        </p:txBody>
      </p:sp>
      <p:sp>
        <p:nvSpPr>
          <p:cNvPr id="33" name="Text 30"/>
          <p:cNvSpPr/>
          <p:nvPr/>
        </p:nvSpPr>
        <p:spPr>
          <a:xfrm>
            <a:off x="11384280" y="6473952"/>
            <a:ext cx="320040" cy="228600"/>
          </a:xfrm>
          <a:prstGeom prst="rect">
            <a:avLst/>
          </a:prstGeom>
          <a:noFill/>
          <a:ln/>
        </p:spPr>
        <p:txBody>
          <a:bodyPr wrap="square" lIns="0" tIns="0" rIns="0" bIns="0" rtlCol="0" anchor="ctr"/>
          <a:lstStyle/>
          <a:p>
            <a:pPr marL="0" indent="0" algn="r">
              <a:buNone/>
            </a:pPr>
            <a:r>
              <a:rPr lang="en-US" sz="800" dirty="0">
                <a:solidFill>
                  <a:srgbClr val="00EBDF"/>
                </a:solidFill>
                <a:latin typeface="Segoe UI Semibold" pitchFamily="34" charset="0"/>
                <a:ea typeface="Segoe UI Semibold" pitchFamily="34" charset="-122"/>
                <a:cs typeface="Segoe UI Semibold" pitchFamily="34" charset="-120"/>
              </a:rPr>
              <a:t>08</a:t>
            </a:r>
            <a:endParaRPr lang="en-US" sz="800" dirty="0"/>
          </a:p>
        </p:txBody>
      </p:sp>
      <p:sp>
        <p:nvSpPr>
          <p:cNvPr id="34" name="TextBox 33"/>
          <p:cNvSpPr txBox="1"/>
          <p:nvPr/>
        </p:nvSpPr>
        <p:spPr>
          <a:xfrm>
            <a:off x="6309360" y="5989320"/>
            <a:ext cx="5212080" cy="256032"/>
          </a:xfrm>
          <a:prstGeom prst="rect">
            <a:avLst/>
          </a:prstGeom>
          <a:noFill/>
        </p:spPr>
        <p:txBody>
          <a:bodyPr wrap="none">
            <a:spAutoFit/>
          </a:bodyPr>
          <a:lstStyle/>
          <a:p>
            <a:pPr algn="r">
              <a:defRPr sz="869" i="1">
                <a:solidFill>
                  <a:srgbClr val="91AAC3"/>
                </a:solidFill>
              </a:defRPr>
            </a:pPr>
            <a:r>
              <a:t>(Kaplan &amp; Haenlein, 2019)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Segoe UI Semi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1262</Words>
  <Application>Microsoft Office PowerPoint</Application>
  <PresentationFormat>Widescreen</PresentationFormat>
  <Paragraphs>184</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Cambria Math</vt:lpstr>
      <vt:lpstr>Segoe UI</vt:lpstr>
      <vt:lpstr>Segoe UI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AURELIUS Management OS Pitch Deck</dc:title>
  <dc:subject>AURELIUS Management OS — Executive Pitch Deck</dc:subject>
  <dc:creator>OpenAI</dc:creator>
  <cp:lastModifiedBy>Ravinder Singh</cp:lastModifiedBy>
  <cp:revision>2</cp:revision>
  <dcterms:created xsi:type="dcterms:W3CDTF">2026-05-22T23:00:27Z</dcterms:created>
  <dcterms:modified xsi:type="dcterms:W3CDTF">2026-05-22T23:09:22Z</dcterms:modified>
</cp:coreProperties>
</file>