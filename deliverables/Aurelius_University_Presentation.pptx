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0e9ab2b6034f14" /><Relationship Type="http://schemas.openxmlformats.org/officeDocument/2006/relationships/extended-properties" Target="/docProps/app.xml" Id="R24c9bd7b7ad845a3" /><Relationship Type="http://schemas.openxmlformats.org/officeDocument/2006/relationships/officeDocument" Target="/ppt/presentation.xml" Id="R9a7e1b8a1d8248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5e0e70245540dc"/>
  </p:sldMasterIdLst>
  <p:notesMasterIdLst>
    <p:notesMasterId xmlns:r="http://schemas.openxmlformats.org/officeDocument/2006/relationships" r:id="Ra968a1046d174035"/>
  </p:notesMasterIdLst>
  <p:sldIdLst>
    <p:sldId xmlns:r="http://schemas.openxmlformats.org/officeDocument/2006/relationships" id="256" r:id="R822b494045324ec2"/>
    <p:sldId xmlns:r="http://schemas.openxmlformats.org/officeDocument/2006/relationships" id="257" r:id="Rf768a2f089c94a66"/>
    <p:sldId xmlns:r="http://schemas.openxmlformats.org/officeDocument/2006/relationships" id="258" r:id="Rbb8060754f1649dc"/>
    <p:sldId xmlns:r="http://schemas.openxmlformats.org/officeDocument/2006/relationships" id="259" r:id="R9c69b745fef14124"/>
    <p:sldId xmlns:r="http://schemas.openxmlformats.org/officeDocument/2006/relationships" id="260" r:id="Reb7ac9764ff64ca0"/>
    <p:sldId xmlns:r="http://schemas.openxmlformats.org/officeDocument/2006/relationships" id="261" r:id="R73bbc943987c4b78"/>
    <p:sldId xmlns:r="http://schemas.openxmlformats.org/officeDocument/2006/relationships" id="262" r:id="Rbc5b9bf763604139"/>
    <p:sldId xmlns:r="http://schemas.openxmlformats.org/officeDocument/2006/relationships" id="263" r:id="Ra860130adf4549bd"/>
    <p:sldId xmlns:r="http://schemas.openxmlformats.org/officeDocument/2006/relationships" id="264" r:id="R2e8efd8e7b6c44a1"/>
    <p:sldId xmlns:r="http://schemas.openxmlformats.org/officeDocument/2006/relationships" id="265" r:id="Rb0c520ee525c4853"/>
    <p:sldId xmlns:r="http://schemas.openxmlformats.org/officeDocument/2006/relationships" id="266" r:id="R0bae641d3eef42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e0e70245540dc" /><Relationship Type="http://schemas.openxmlformats.org/officeDocument/2006/relationships/theme" Target="/ppt/theme/theme1.xml" Id="Rf24ca2f9037a4a12" /><Relationship Type="http://schemas.openxmlformats.org/officeDocument/2006/relationships/notesMaster" Target="/ppt/notesMasters/notesMaster1.xml" Id="Ra968a1046d174035" /><Relationship Type="http://schemas.openxmlformats.org/officeDocument/2006/relationships/presProps" Target="/ppt/presProps.xml" Id="R2428c1e93c55425a" /><Relationship Type="http://schemas.openxmlformats.org/officeDocument/2006/relationships/viewProps" Target="/ppt/viewProps.xml" Id="Rba95419e41064d7d" /><Relationship Type="http://schemas.openxmlformats.org/officeDocument/2006/relationships/tableStyles" Target="/ppt/tableStyles.xml" Id="R795198476c654ad8" /><Relationship Type="http://schemas.openxmlformats.org/officeDocument/2006/relationships/slide" Target="/ppt/slides/slide1.xml" Id="R822b494045324ec2" /><Relationship Type="http://schemas.openxmlformats.org/officeDocument/2006/relationships/slide" Target="/ppt/slides/slide2.xml" Id="Rf768a2f089c94a66" /><Relationship Type="http://schemas.openxmlformats.org/officeDocument/2006/relationships/slide" Target="/ppt/slides/slide3.xml" Id="Rbb8060754f1649dc" /><Relationship Type="http://schemas.openxmlformats.org/officeDocument/2006/relationships/slide" Target="/ppt/slides/slide4.xml" Id="R9c69b745fef14124" /><Relationship Type="http://schemas.openxmlformats.org/officeDocument/2006/relationships/slide" Target="/ppt/slides/slide5.xml" Id="Reb7ac9764ff64ca0" /><Relationship Type="http://schemas.openxmlformats.org/officeDocument/2006/relationships/slide" Target="/ppt/slides/slide6.xml" Id="R73bbc943987c4b78" /><Relationship Type="http://schemas.openxmlformats.org/officeDocument/2006/relationships/slide" Target="/ppt/slides/slide7.xml" Id="Rbc5b9bf763604139" /><Relationship Type="http://schemas.openxmlformats.org/officeDocument/2006/relationships/slide" Target="/ppt/slides/slide8.xml" Id="Ra860130adf4549bd" /><Relationship Type="http://schemas.openxmlformats.org/officeDocument/2006/relationships/slide" Target="/ppt/slides/slide9.xml" Id="R2e8efd8e7b6c44a1" /><Relationship Type="http://schemas.openxmlformats.org/officeDocument/2006/relationships/slide" Target="/ppt/slides/slide10.xml" Id="Rb0c520ee525c4853" /><Relationship Type="http://schemas.openxmlformats.org/officeDocument/2006/relationships/slide" Target="/ppt/slides/slide11.xml" Id="R0bae641d3eef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a6b39d23c0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6116c9f5204edd" /><Relationship Type="http://schemas.openxmlformats.org/officeDocument/2006/relationships/notesMaster" Target="/ppt/notesMasters/notesMaster1.xml" Id="R8ad91a8c11f8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bd227beaf14f84" /><Relationship Type="http://schemas.openxmlformats.org/officeDocument/2006/relationships/notesMaster" Target="/ppt/notesMasters/notesMaster1.xml" Id="Re74da0f263da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55845cb02e46de" /><Relationship Type="http://schemas.openxmlformats.org/officeDocument/2006/relationships/notesMaster" Target="/ppt/notesMasters/notesMaster1.xml" Id="Rcd62f2d0cf21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5b6c9a1ef444e" /><Relationship Type="http://schemas.openxmlformats.org/officeDocument/2006/relationships/notesMaster" Target="/ppt/notesMasters/notesMaster1.xml" Id="R6c2eea4341dd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03aebac524c96" /><Relationship Type="http://schemas.openxmlformats.org/officeDocument/2006/relationships/notesMaster" Target="/ppt/notesMasters/notesMaster1.xml" Id="Ra442483636094e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b0956045aa4914" /><Relationship Type="http://schemas.openxmlformats.org/officeDocument/2006/relationships/notesMaster" Target="/ppt/notesMasters/notesMaster1.xml" Id="R1749564f9df54d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8684de15e441c" /><Relationship Type="http://schemas.openxmlformats.org/officeDocument/2006/relationships/notesMaster" Target="/ppt/notesMasters/notesMaster1.xml" Id="Rbeeec9836ad242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a2a8a415664a6b" /><Relationship Type="http://schemas.openxmlformats.org/officeDocument/2006/relationships/notesMaster" Target="/ppt/notesMasters/notesMaster1.xml" Id="Rc5f4b72e5dbf45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f2417da4cd47e6" /><Relationship Type="http://schemas.openxmlformats.org/officeDocument/2006/relationships/notesMaster" Target="/ppt/notesMasters/notesMaster1.xml" Id="R73a029ef44e646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d6bb576b6403f" /><Relationship Type="http://schemas.openxmlformats.org/officeDocument/2006/relationships/notesMaster" Target="/ppt/notesMasters/notesMaster1.xml" Id="Rb1e627d9390a48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d46c0886294854" /><Relationship Type="http://schemas.openxmlformats.org/officeDocument/2006/relationships/notesMaster" Target="/ppt/notesMasters/notesMaster1.xml" Id="Rc63fc15a64f9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15d2beb2045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8b6712e2224da4" /><Relationship Type="http://schemas.openxmlformats.org/officeDocument/2006/relationships/slideLayout" Target="/ppt/slideLayouts/slideLayout2.xml" Id="Ra607b6059b93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7b6059b93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a8086945a4270" /><Relationship Type="http://schemas.openxmlformats.org/officeDocument/2006/relationships/notesSlide" Target="/ppt/notesSlides/notesSlide1.xml" Id="R58c85ab9758349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6988a20f234f1e" /><Relationship Type="http://schemas.openxmlformats.org/officeDocument/2006/relationships/notesSlide" Target="/ppt/notesSlides/notesSlide2.xml" Id="Rafeabba8435f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501d24e9af4a87" /><Relationship Type="http://schemas.openxmlformats.org/officeDocument/2006/relationships/notesSlide" Target="/ppt/notesSlides/notesSlide3.xml" Id="R4f3973f4cbb442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2527929ab443c" /><Relationship Type="http://schemas.openxmlformats.org/officeDocument/2006/relationships/notesSlide" Target="/ppt/notesSlides/notesSlide4.xml" Id="R817d734ba60e4b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46e0918584b7b" /><Relationship Type="http://schemas.openxmlformats.org/officeDocument/2006/relationships/notesSlide" Target="/ppt/notesSlides/notesSlide5.xml" Id="R016a630921374c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27bc7cc064ec5" /><Relationship Type="http://schemas.openxmlformats.org/officeDocument/2006/relationships/notesSlide" Target="/ppt/notesSlides/notesSlide6.xml" Id="R5c2b7dc84138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d1feb88274cc7" /><Relationship Type="http://schemas.openxmlformats.org/officeDocument/2006/relationships/notesSlide" Target="/ppt/notesSlides/notesSlide7.xml" Id="R7c6734923d534b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26e2a01d984f4f" /><Relationship Type="http://schemas.openxmlformats.org/officeDocument/2006/relationships/notesSlide" Target="/ppt/notesSlides/notesSlide8.xml" Id="R491f41cc3cbc44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ef95bb69fb43e2" /><Relationship Type="http://schemas.openxmlformats.org/officeDocument/2006/relationships/notesSlide" Target="/ppt/notesSlides/notesSlide9.xml" Id="Rf1e62de70ca943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b0d3e30feb42b9" /><Relationship Type="http://schemas.openxmlformats.org/officeDocument/2006/relationships/notesSlide" Target="/ppt/notesSlides/notesSlide10.xml" Id="R2d41f86a5e924c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c6d23b122e4bb2" /><Relationship Type="http://schemas.openxmlformats.org/officeDocument/2006/relationships/notesSlide" Target="/ppt/notesSlides/notesSlide11.xml" Id="Rd5f93aff5e0e45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2F6C3-4F2D-4F35-AA48-F63A171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4E6BF-CA62-47B4-B89B-E958FDA6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61A7E-AB7B-420A-9F9B-F8419D4A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35983-4A93-4A00-BE98-D789CAB9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B1ECF-096D-4599-BCBA-7A68A918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internal project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996DA-B71E-4759-8850-F92BF984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058B8-6DF8-46F7-853A-EB1A226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43ACC-0F31-4D08-B340-9C622A82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59048-DCC1-44D1-908F-90B2B3A2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25212-769F-4270-B188-91C35E9C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9E933-B28A-40A5-96D0-8F4E6936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Aurelius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69DF1-A35D-47C2-9246-EECA8C5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API-first HR intelligence for a university presentation.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327B0-F346-4F54-B9D0-B443BFB0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An application that takes workforce information through APIs, stores it in a database, and turns it into explainable HR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BE636-2CC6-4F15-9E3C-7E8650E8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246C2-3D51-4501-B702-C77A959D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API-first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3A6C9-E089-4709-B2C3-39F5DA5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528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744A4-2D69-43EE-BDFA-062F1B0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81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56A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56A2A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5759B-3C30-42FD-A64F-D3DD7E62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5280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30DC0-2363-45D1-AC94-8D1C585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63D40"/>
                </a:solidFill>
                <a:latin typeface="Aptos"/>
                <a:ea typeface="Aptos"/>
                <a:cs typeface="Aptos"/>
              </a:rPr>
              <a:t>Demo-ready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8D9A9-5293-41B9-AF8B-1DF2D3D0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5257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26574-CEA1-43EB-90F7-A3A8746C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1992D-0D75-4B26-B9B5-BE2DF78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0E641-BDB0-4B40-A826-B1B823F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196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Introduction / problem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F3017-D0EB-4C09-B0C4-9C82160A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C78C9-452B-4EEA-A329-7EDDAEE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 / system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AE428-B070-4028-B972-7B9763F6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AB3E3-85FB-44EA-98CD-BAFC69C4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functions /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58615-6123-41F2-AF50-A7227F55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FFAFF-B495-4D22-9968-FA1E919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625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Uniqueness / conclusion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39BF8-0CB6-4AAD-AC6D-0A12ABC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914400"/>
            <a:ext cx="2076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98DA1-B321-4903-8551-B8F4F8D5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430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What the panel should remember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43320-BFD7-45CA-AEDF-7788E21D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5260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B56A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77651-F31B-4576-9656-F6299D56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HR data</a:t>
            </a:r>
          </a:p>
          <a:p xmlns:a="http://schemas.openxmlformats.org/drawingml/2006/main">
            <a:pPr algn="ctr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comes 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C39626-D8B1-45C8-829D-D64956CC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24EE9-4D6D-45B4-A1C3-A05018F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71BA7-A524-4BDE-8594-5401483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3FDAE-F6E4-469B-85E4-0954F142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Aurelius</a:t>
            </a:r>
          </a:p>
          <a:p xmlns:a="http://schemas.openxmlformats.org/drawingml/2006/main">
            <a:pPr algn="ctr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interprets 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3B9A7-C1B3-405E-A662-99F1FBB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10100"/>
            <a:ext cx="1981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result is a simple story: connect, analyze, explain, act.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13455-4AE7-4283-ABC3-E09153D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876300"/>
            <a:ext cx="2705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AC3013-728E-4622-AE06-54DBE35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57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GROUP PRESENTATION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8E21E8-E513-4231-AFA9-13702FBA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209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15 minutes</a:t>
            </a:r>
          </a:p>
          <a:p xmlns:a="http://schemas.openxmlformats.org/drawingml/2006/main">
            <a:pPr algn="ctr">
              <a:defRPr sz="22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11 slides</a:t>
            </a:r>
          </a:p>
          <a:p xmlns:a="http://schemas.openxmlformats.org/drawingml/2006/main">
            <a:pPr algn="ctr">
              <a:defRPr sz="22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1 simple story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47927A-717E-47C8-9EB0-C43A18C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01D7F2-67F2-4489-9010-69F2B9C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The deck focuses on how the app works, why it is useful, and why it is different from a plain dashboard.</a:t>
            </a:r>
          </a:p>
        </p:txBody>
      </p:sp>
    </p:spTree>
    <p:extLst>
      <p:ext uri="{BB962C8B-B14F-4D97-AF65-F5344CB8AC3E}">
        <p14:creationId xmlns:p14="http://schemas.microsoft.com/office/powerpoint/2010/main" val="6584207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CD443-076A-4A78-9F37-977973D0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EAE5-B7CF-4FE3-A34B-677CBC8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325A-8B56-48B1-B712-D23899E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EB7E9-E47E-4860-9443-8C0B149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0C815-8026-4BB8-BC73-41B76E98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project brief + internal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3C02-8C26-4981-8D75-1EB4C4A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F396-3567-4612-8DE1-BC6BF75D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E4692-3024-409D-AD78-A52A9DC0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OUTLINE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02DA0-2188-47C3-B7CD-8E9384D0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We will move from the problem to the system, then to the class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0F2B5-1505-4FD5-B8EF-7CE73E98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order matters: first explain the pain point, then show the architecture, then show the useful functions.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24A98-C89A-4314-A267-6ADAA7E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A9C87-C9CD-4BDF-9B2C-872999AA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6ADB3-AAD1-452D-9972-30DF1FA3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98A86-D375-4D15-9B6D-4CD9501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HR teams need one decision flow instead of scattered reports.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4DA99-EBB3-43A3-BB3C-C0B310C7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C0E7-78DA-4537-8224-2E0CFF67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38B36-1A18-4F49-B4F3-3D3A375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109F8-E84A-46B3-9FF8-71C1B414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What Aurelius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26BDD-73B9-4470-8CE0-D3AB00AC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platform role, and why it sits on top of existing HR systems.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52FA3-8C9D-4C57-AA1E-2A98A046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D2512-0A62-4152-A80E-5B6DDBA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20D0C-3DC2-462E-8560-E8A0DE30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E54A6-B092-4D45-A3E9-480BBE7E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4B1B4-495C-4B04-8735-69802854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 and connector input, database storage, and intelligence endpoints.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37D91-A06F-49FE-9073-78F0E6C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B0273-2098-4A24-88E8-9F9598F8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5D2E7-5171-4F83-9EA9-9040B53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ADCAC-DE8C-47D5-B391-C977AA70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Core functions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C54E7-7E3F-4B34-92C1-BC6CDEA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Attrition, network, career path, and team optimization.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96072-3323-42EF-8DA4-F8C1434D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0489E-D917-45B5-AC46-21B60C22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98681-A99F-4CD7-AAC1-FFF0B013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A22E5A-FC8C-4DB3-81B2-CBB705F4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353298-A838-41C4-BF80-00102AA3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Explainability, action, and a presentation-friendly demo path.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E35A2-BC04-4D4A-805F-D88590B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56DB6-7EAE-40AD-BEAD-47671DD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480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4C4479-8C1C-477F-8438-243A5282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Group roles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0D3A2-4991-4B57-A445-66EC1BCF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A025E-EEEE-41E6-B831-1BCA22FC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24AC03-6C27-4798-8DF9-ACA5516B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and opening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460C96-35EB-4FA9-AC45-383299CA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2340E-7C22-4EDD-BB89-9955877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AB83FA-C92A-426B-B06A-F0A10DE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 and flow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9D28DF-19A0-45A9-AD68-8DDC71E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767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B129A9-99FA-42A4-8B9F-D0A914F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681259-BA63-4309-BBE3-CCA47A2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Functions and demo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F34338-949A-4273-B4DA-1D7D9E8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6725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B5709E-47A3-4B46-AA4D-F28DAFC0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6330CD-1F78-49D7-8A60-9171277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625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Uniqueness and close</a:t>
            </a:r>
          </a:p>
        </p:txBody>
      </p:sp>
    </p:spTree>
    <p:extLst>
      <p:ext uri="{BB962C8B-B14F-4D97-AF65-F5344CB8AC3E}">
        <p14:creationId xmlns:p14="http://schemas.microsoft.com/office/powerpoint/2010/main" val="7451663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DA5DA-47B2-40D8-847D-FE9233E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7C28C-C9D5-4879-8D71-56385365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47563-485C-4352-971A-8827A39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FFD21-834D-4DAC-BEC1-15A8B6F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22FEE-70FD-4E79-B354-BB9A711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internal docs + [2] + [3]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2B580-155A-4932-ADBC-5C0950FF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D0741-3F2F-43EB-A07D-4FCCAF7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E4B28-2BA7-4B10-A6D6-28453E1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3039C-087B-4EC1-8FCB-5AE9E7C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HR teams do not have a data shortage. They have a decision-flow shortage.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480B3-334B-49E1-8D0B-62CE1F0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is useful because it turns scattered records into a clear sequence: detect, explain, act, and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F701A-6772-41C0-87D0-2CE6DC2C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3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D2495-A955-40EF-B6FC-73609B0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F99B3-96D4-4EAB-8513-846BB32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3D4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A63D4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4E19A-63D1-491C-B3C5-6ACEAE9E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Data is scattered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51B17-FFD5-453A-9B16-5CED9F4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HRIS, ATS, engagement tools, and spreadsheets each hold one part of the 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B856C-7D8B-4D64-9549-5515FFE9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08928-707A-4AB7-BAEE-63E34D3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932E5-D9A1-4A5C-B274-610CF8A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6A2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56A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B6FC8-35CD-4B7A-A939-0C6FD31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Reports arrive 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26A65-E373-41BC-8EDA-9B03721C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43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By the time a dashboard is compiled, the situation has already changed.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7D798-1D77-449D-BC9C-65C85A7D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D5693-6D66-4FB8-B8DB-C4F4AA0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D47DF-2810-44A6-859A-8AD71FE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6A2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56A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37320-F624-4F2B-89AC-240C31A2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Actions are unclear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EAA79-E41E-48B9-9659-DA63BA2E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Managers see a score, but not the reason or the next step.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E8E63-0C96-4CDC-B253-4B9C769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CE84F-F013-4532-B741-7751292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443A1-6AF8-4601-AF97-88446EA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6A2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56A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D766E-02B2-4E22-93C9-73E7487B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Follow-up is weak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FD151-AD10-4379-B458-CB0D829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team often cannot tell if an action actually improved the situation.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B3A83-92C1-4FF8-B701-391F8315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0C0F5-0DB2-4E90-B902-6C2AF59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839B9-3BB9-40F8-A131-6F8AF02C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52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AA620-3A88-457E-84D9-64E61EB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15E645-21A4-4BFC-AC43-18EFBE69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2E8DF-B800-493A-B49C-D3EEF0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2CAB14-FA85-4CE6-B8C9-7CA3D33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ACEF39-2A3F-44C1-821A-21F5885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This is the gap the project fills: one system for input, explanation, and review instead of disconnected HR reporting.</a:t>
            </a:r>
          </a:p>
        </p:txBody>
      </p:sp>
    </p:spTree>
    <p:extLst>
      <p:ext uri="{BB962C8B-B14F-4D97-AF65-F5344CB8AC3E}">
        <p14:creationId xmlns:p14="http://schemas.microsoft.com/office/powerpoint/2010/main" val="16563074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60523-9091-47B9-85D8-87E79AA0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7126B-96CC-4D9B-A2D9-AAFBE53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18BFC-33B1-43BA-ACE2-D7FB65D7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48DBD-A8C7-42C7-9531-66BC715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79CE1-EBFE-4546-9377-B177B6CD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README.md + status report + landing blueprint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8E88F-03A8-44A1-A7A1-54E11A67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B1D04-FBDE-4063-8690-34EB91D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EEC79-E268-4E06-8D0C-E54721A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6ECDA-C386-45A0-BC09-070E678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23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Aurelius sits above existing HR systems instead of replacing them.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4C8E2-38D5-4E71-9762-A32693D4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That is the key framing for the presentation: the app is a decision layer, not a spreadsheet clone.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EEF7-D61C-4F18-AA1B-9EBD3BC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B9599-9C8E-4C70-A1A2-B1B9F62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35207-2BD9-4FB7-890D-3FC37B37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Source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DF1D-7384-49AE-9835-BCAB9B1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HRIS, ATS, engagement tools, and demo CSV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BED2E-6A16-429A-8B5A-D4022FBC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A7CA3-CB90-49FA-B8D2-027A3408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10412-907E-4C15-AD70-E223C46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Connectors and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5D39A-B948-471D-A971-B008AAF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Inbound API calls and sync jobs normalize incoming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11799-26F4-4307-9030-C739C1D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1752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6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5280B-E8C1-4A6A-BB1C-7B45B8E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A00A9-30B7-4A25-BAB0-E3881003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D84DD-1579-4EE2-B570-B21FF71A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Unified storage for employees, candidates, skills, and logs.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AC9B5-E898-484A-9B3C-E863325D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790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E3165-C4FC-484F-838C-FAF6AC8D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D9E70-D423-4595-9915-D8ECBD4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Intelligence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65AD9-5047-45E9-8D20-C280FE58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Attrition hazard, ONA, career path, and team optimization.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DD1B8-D22E-4170-B0C9-7554538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17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70D8D-2BE4-4374-BA94-E78252C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F9367-8E10-413A-A9EF-BCA167FE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Student-facing 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29105-90AE-4143-8EE1-3E648D2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Dashboard, integrations, and explanations presented in simple language.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0DFF5A-3631-4F45-B3A8-C53B60F7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24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ACA4C-6B6F-43FD-80DA-5CD3490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9960D-E0F8-4F1D-88C1-C5BD7E8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1F7A4-29CC-4249-A537-C24482F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18AD3A-2CF8-4965-934A-B7833F8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24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8241D-8D0D-49C2-8695-D1078AD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B21C31-3B19-4B61-BCDA-ED525E8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241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43B19-8791-48CA-99BB-C55CFEE9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9D763E-D88D-464B-8754-0C05FE7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8B145-1F55-4363-8ABF-03C93D5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How to say it simply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62EDF9-273C-4B9B-A4FF-A95BC1B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986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app reads incoming HR data through APIs or demo imports, stores it in one place, and shows the result through easy-to-read intelligence screens.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37AA76-2E26-4ABA-A541-C69F2041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986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For the class demo, CSV is only a fallback. The main story is API-first and workflow-based.</a:t>
            </a:r>
          </a:p>
        </p:txBody>
      </p:sp>
    </p:spTree>
    <p:extLst>
      <p:ext uri="{BB962C8B-B14F-4D97-AF65-F5344CB8AC3E}">
        <p14:creationId xmlns:p14="http://schemas.microsoft.com/office/powerpoint/2010/main" val="11102699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82A32-2D33-4868-AB98-ED4A17D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23D32-AA6A-4C9A-9209-BCE2EDB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6F638-FDD6-42E3-AFE8-7578A104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6449D-9DA2-412C-BDB9-58D9BB4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E4D61-91A1-4F88-8C59-013D78D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server/app/main.py + intelligence.py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5013B-428B-45E0-9815-B6E8770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9CA0B-C1AD-4899-82D3-D52D5325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CC32-880B-4F9B-9CC2-14E51D1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1A5C3-EF20-4E12-93A8-74834C29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application works in three stages: ingest, analyze, and display.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7751-76BC-4FB6-A9B8-A2C55C6B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is the easiest way to explain the system without showing raw tables or code.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E28A7-0F86-4F1C-9AB8-AF69D360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56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E909A-BC82-437B-89C5-D6CA4713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2D673-41FE-490F-B774-8D4D798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1. Ingest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1F094-7370-4471-9260-23FB642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backend accepts data from external systems or demo imports and normalizes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5994A-581F-4811-82AC-5DFAEE5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6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6A2A"/>
                </a:solidFill>
                <a:latin typeface="Aptos"/>
                <a:ea typeface="Aptos"/>
                <a:cs typeface="Aptos"/>
              </a:rPr>
              <a:t>/api/v1/integrations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A431E-A143-4537-8947-8B42D09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39FA0-F5C2-4E3E-99F3-13956A96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14676-08CD-4C6F-82C7-3834A2D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27E8B-8CD2-41DE-90B6-96FF722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2. Analyze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60AA8-CEE6-4150-8195-3236CE73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Endpoints calculate attrition hazard, network structure, career paths, and team fit.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F899F-B6CD-4F9C-A6E6-A961C783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/api/v1/intelligence/*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B7491-CFCC-4FA2-959C-3422F77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F280D-47EE-47CA-92EC-621F6A7E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3D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B6CC4-CFF3-4F8F-91F6-8BC1240C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C9994-D4CA-4B68-B873-EF8125DD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3. Display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96FC7-AFD0-4828-9799-E67EB582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front end reads the backend output and shows the result in plain language.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0AB3A-B354-497E-A580-4E604579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3D40"/>
                </a:solidFill>
                <a:latin typeface="Aptos"/>
                <a:ea typeface="Aptos"/>
                <a:cs typeface="Aptos"/>
              </a:rPr>
              <a:t>React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CA7B5-0509-48A1-A0CD-5AA8158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A4A4CB-B508-4FA3-93E4-A6C73F8C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ACBE9-A7CE-4D36-B0D0-E79B195A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69DA4-6E0F-4AD3-B003-E86B5E6B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428A13-FFCB-466B-AA09-D09F9DDC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F16FF-3215-4F13-8AFE-89FF48BD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F6EAD3-1B20-4167-A36E-FDD9C639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38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UI stays simple because all the heavy work happens in the backend. That keeps the presentation easy to explain to a non-technical panel.</a:t>
            </a:r>
          </a:p>
        </p:txBody>
      </p:sp>
    </p:spTree>
    <p:extLst>
      <p:ext uri="{BB962C8B-B14F-4D97-AF65-F5344CB8AC3E}">
        <p14:creationId xmlns:p14="http://schemas.microsoft.com/office/powerpoint/2010/main" val="694395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E0C4E5-4580-45C7-A4D1-6BF5CB6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39500-FC52-4C74-9B1C-FB456793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A4349-6D23-46A3-901C-86ED661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B5E4A-4E05-4DAA-A8D4-2C73995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BA699-844C-485A-A345-658B09ED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intelligence.py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16F8-2C77-4B66-990F-9A1B34CD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0A0AA-2DAD-4D48-9384-4C9A103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CD858-344C-4E93-9833-E4D33B3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CORE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7034-DAA7-4B9F-8D29-6720DA8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app answers four practical HR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4D4A6-E1DE-440F-AAAC-AC3D82ED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Each function serves a different decision need, so the platform feels coherent instead of random.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FDDE7-701F-4876-A9F3-CF95ECFA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3D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EE653-C9D6-4BF4-BBA5-30EDB03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3E632-1C65-4600-8645-CD31645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Attrition hazard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67500-863E-4A7D-B045-581313A3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629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Who is at risk, and what factors push the risk up or down?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04DF7-C128-4C43-943F-85F9951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8C334-95E4-40E9-A776-2707CA5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D11C6-6677-4FC5-A8F8-63CD819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ONA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4FB76-66C4-4C99-87BE-C354BFFA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4629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Who connects teams, where influence sits, and where collaboration is weak.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EE80D-DB97-439C-854D-6C3EEA16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56A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92A62-989F-4D8F-88FB-1316CA71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FEDAA-A30A-4FB3-AD70-0F314B25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Career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84BDE-A34D-4D74-9661-9AED7527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629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role could a person move toward, and which skills are missing?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886CF-D5D2-4215-B567-538BC081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3D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5D1E8-B441-4EFB-B832-EA303BF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7A41D-1B0E-46C1-8731-B7F2B26F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Team optimization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B6379-3395-4BE1-8874-AFDBDF2F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4629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How do we combine people under a budget while covering required skills?</a:t>
            </a:r>
          </a:p>
        </p:txBody>
      </p:sp>
    </p:spTree>
    <p:extLst>
      <p:ext uri="{BB962C8B-B14F-4D97-AF65-F5344CB8AC3E}">
        <p14:creationId xmlns:p14="http://schemas.microsoft.com/office/powerpoint/2010/main" val="1879705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332CE-0674-4EE0-BC92-EDBC4FB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5BD15-AE5A-4150-AE75-E85F15F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AE6D4-B37E-4AFD-AE32-0E41E257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249EE-146F-4B8E-A056-3505F731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FC00B-81A6-47A4-9C98-916A7B61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internal docs + [1] + [3]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050DA-63CB-4974-8D61-2A65720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3D1C5-9C6E-4167-9212-C201156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B779-5231-48A3-BE81-354C0B8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WHY IT IS UNIQUE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BE2B2-2F2B-40D1-93C7-393B217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Aurelius is not just a dashboard. It links explanation to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FBE5D-29EC-4BC5-9266-9E93E8B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That combination is the real story: explainable outputs, concrete workflows, and a presentation-friendly interface.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D4D06-8AF4-4658-B986-010CC9AE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09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932E5-35E3-46C1-BEBE-390E091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0861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471E3-87CA-438E-9A98-69DB7DD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505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97BC0-1648-44D9-B99D-38DC08D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Typical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DD757-24E4-47CA-A429-1F0CC06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Aurelius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F2C4C-1226-4897-905B-8D108DF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38890-F965-44A3-BE00-58C7880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9625E-4338-45A0-B0D2-79BB3B4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39B87-C167-446F-AA64-0B8EB3E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F351A-B6A2-4CF3-ABAE-0E1EFB1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Shows a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45620-5A12-4AC3-885C-34B87D1F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Shows the score and the factors behind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DB25A-F851-40B2-9BAE-737BDCAD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People can question the result, not just accept 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5F32A-5C93-4E38-AAEC-6AF6521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1E8EF-A548-46CA-AE8B-D60CF3A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6712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7D274-1783-4F4A-8E28-7476D310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90F32-273A-47D9-9847-186623F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Reports the past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FF1F5-5D4A-4950-B6FB-BC2E71BE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Points to a next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D9885-C23E-4609-9C0E-6447FD03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output becomes useful to managers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A093A-E61C-427E-9F49-F122D57D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143A9-4876-4195-AADB-0F1AC666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4337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31BB5F-F47D-4F09-9F97-5114597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24864-4401-43E5-896B-31FF8C4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Stays static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39DCFE-55C3-4A56-BB60-4252912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Supports workflow steps and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B4FFF-8948-46CE-8C01-E304DC97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team can track whether an intervention worked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C5A14-D51B-432E-A258-C570EF26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777B8D-5696-436D-9EB2-FF5137DF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19625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8F9AA2-1FA9-4EA8-A192-311773B0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9625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1052E1-5DCD-42DB-A1B8-8A2F266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Feels generic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D0984E-625A-47CC-BB86-D3B7065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Matches the project and the university demo story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080519-93F1-4E79-901A-79A68A9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presentation feels specific and real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58F42B-9F39-44E7-B302-FB66145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Explainability matters because users need to trust and challenge model outputs, not just see them [1]. People analytics also matters when insight leads to impact [3].</a:t>
            </a:r>
          </a:p>
        </p:txBody>
      </p:sp>
    </p:spTree>
    <p:extLst>
      <p:ext uri="{BB962C8B-B14F-4D97-AF65-F5344CB8AC3E}">
        <p14:creationId xmlns:p14="http://schemas.microsoft.com/office/powerpoint/2010/main" val="11397889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7E4C1F-FC4C-4919-A7DD-83817F2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ECFAC-4E31-4AB4-85DB-5AA7F52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D29AC-D095-43ED-9E90-8E697C8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1E800-5872-470A-B64A-D42B9837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5A2FE-D53A-464D-A077-7E643DA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status report + quick-start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3FAF-B71C-407B-BE3C-E040AE6F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446A3-760D-4A13-86EC-E74E4EF1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4A5D8-C411-402C-922D-B1B739B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E41FB-E5BC-431E-B584-83651690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class demo can be explained in five easy steps.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C0A84-5286-4340-AB44-4BC81FA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point is not to show every database row. The point is to show a believable workflow from data in to decision 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85BBF-177C-409B-BD30-869EAD93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790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B712F-BE22-4C98-8571-21DDC391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8226D-4B08-4B94-AEE2-FAF9DCDD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D34DC-6334-499E-964E-EF0A553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BACE8-3656-48F5-AB1A-BA5C6093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Start the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FE45E-E2DE-4C6D-BC45-93577CF3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44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Frontend and backend run locally for the presentation.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04121-443E-436A-8D51-E5E7611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1790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D8C88-1A30-4A5E-BD05-C83D810B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FFF45-53DD-4441-8C9F-6326743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AEB1F-372D-4B07-8439-03F6F8F3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24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7DE7-869B-4D17-8D85-1B65A01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Load sample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6AF97-E2FB-4312-84D8-B0EC8B2E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14700"/>
            <a:ext cx="144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the bundled demo import or connect the API-backed source.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FEE0F-5782-4BCB-B3D0-5DEE95F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1790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1F6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A1BBE-1641-4EB2-A508-69242B23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9D488-5E61-49BF-944B-72FC338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09143-A493-4F3B-A747-E644E3F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24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7DF16-D420-42C6-A10E-8B0E5208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Open intelligence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451C1-E6FF-4686-83B2-9FAB8D29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14700"/>
            <a:ext cx="144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Show attrition, network, career path, or team optimization.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39703-F5BD-4B82-BB57-A49E32FB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1790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0FFF7-105C-401C-A64C-73DC41D7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56F5E-0F21-4A8E-8761-F84738FA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4F29D-18A4-497F-B516-E02C4E4E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24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18782E-96D8-4B22-857D-A0BFA09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Explain the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5BDB6-6EA5-412D-85CE-CDDC8BC5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44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Describe what the app says and why the result appears.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6733D-5BF6-4EE6-BC97-D7AAB71E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17907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45F17-9252-411D-8EAD-1EE572F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FBC8DA-A1D8-4BAF-B6EA-1BF315A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C71D49-759C-4632-B94D-ADFF593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24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76C9CD-2EA1-4C26-8A21-38AE95E1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Close with impact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3BE727-107D-4450-B798-E7A96DD6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14700"/>
            <a:ext cx="1447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one clear conclusion instead of listing every feature.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C8D9B-6CEA-42F8-9C76-CFA90C2B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1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2F4FD3-BFAC-4DBB-B47A-51453404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32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This is why the app works well in class: the demo has a natural order, a simple explanation, and no need to dive into code.</a:t>
            </a:r>
          </a:p>
        </p:txBody>
      </p:sp>
    </p:spTree>
    <p:extLst>
      <p:ext uri="{BB962C8B-B14F-4D97-AF65-F5344CB8AC3E}">
        <p14:creationId xmlns:p14="http://schemas.microsoft.com/office/powerpoint/2010/main" val="1903921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5304F-5148-4B04-9561-2B30EDE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2EC37-9B8B-4700-9E9C-AA51D15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43C6C-3B67-40F7-85D3-23B6832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FD6A-7A63-4E47-B84D-FAE7FFE1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7435-4A0A-44EF-AB63-95333938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status report + landing blueprint + [2] + [3]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52894-77AB-4ED6-AA87-D0F4422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401CD-C1AD-444E-AED3-CCD6EE77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5FBB2-86FA-4673-BF28-BB274DA8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VALUE AND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740D-F60B-4AC2-BAAE-C1C66AA4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goal is better decisions, not a full replacement for every HR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93D43-B208-40B2-A123-282E2176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That framing keeps the explanation honest and easy to defend in a university Q&amp;A.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20E9F-F829-40A2-B38C-0EB2BC39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BEBBF-B08B-4C8F-8F78-3D244A2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2CB37-8CFF-48A2-BED0-4884F4F9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What it helps with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E434C-7F6E-4E27-A6B0-DB96B714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Find risk early, show why it matters, and keep the workflow readable.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6015E-9FE1-4E7C-8D27-3FEC117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B56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C882A-5E69-4497-887C-0C433E8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A6659-3AB8-4DDF-988D-1B6CFC0A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What it does not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14282-C195-40D1-869E-56F1E6A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It is not a full Workday/SAP/Oracle replacement and does not need vendor auth for the demo.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6EF98-4924-4BB9-9015-E889B9D7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3D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FA48F-DBC0-48B9-9874-574FA66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E46DC-0272-447D-BD56-BC2DB61A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Why that is good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B4E5F-A5F1-4BCC-8B84-05EF5CC8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914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stays realistic for a student project and still feels like a real platform.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5E570-34BE-47D2-B0BB-70F7DB6F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Aurelius is strongest when you want a system that is understandable, demonstrable, and built around actual workflow logic.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FB119-0D7A-4D6B-946B-089C100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Source-backed explanation: [2] HR analytics should be systematized, and [3] people analytics needs action, not just reporting.</a:t>
            </a:r>
          </a:p>
        </p:txBody>
      </p:sp>
    </p:spTree>
    <p:extLst>
      <p:ext uri="{BB962C8B-B14F-4D97-AF65-F5344CB8AC3E}">
        <p14:creationId xmlns:p14="http://schemas.microsoft.com/office/powerpoint/2010/main" val="5024764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F7D37-AEF0-4BB4-AE27-6A75324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4F22-7797-4964-A401-9915D8C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4E6B-0BE4-438F-BC1C-49C8EEC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0AF5-B984-4D74-9B8E-6C69CD4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200C3-ACD7-4A80-B95C-B7FAFFCD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References: DOI-backed literature + project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B3302-5C19-47CE-AC58-7C4973A1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32430-79AE-4EC1-B795-8E8B91A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2F82B-9097-4003-8D75-34FF755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AFCD2-30B3-4CF0-92D7-AE96F04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The deck is grounded in academic literature and the project codebase.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75B65-FCBD-49A9-BB67-E3BB11E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353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CA1CA-3A5A-47FA-BBCC-DAF9664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3721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E272B-0CD3-48BB-BE6F-94455131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Academic 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4759E-099D-4354-B331-3FB18BBD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[1] Ribeiro, Singh, Guestrin (2016)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31B84-9E41-4E5D-8C92-CB26433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"Why Should I Trust You?": Explaining the Predictions of Any Classifier. KDD. DOI: 10.1145/2939672.2939778.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A8BAC-482C-44D8-A5A4-847A7C11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2767C-8EEC-412B-838C-8CA9D49A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[2] Human resource analytics systematization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F9C3E-0810-4123-860B-6D307F57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Human resources analytics: a systematization of research topics and directions for future research. DOI: 10.1016/j.hrmr.2020.100795.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D87D2-C8F6-4CD4-A61D-AA011423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0327C-A0CE-4B10-A228-B8EA537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[3] Moving people analytics to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FA403-42B5-4A7A-A45D-A2E346DA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Moving people analytics from insight to impact. DOI: 10.1177/15344843231207220.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CA9DE-9F69-4284-8C76-80DB5E9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9855B-C408-45E1-95FE-01F49B6A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240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6A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6A2A"/>
                </a:solidFill>
                <a:latin typeface="Aptos"/>
                <a:ea typeface="Aptos"/>
                <a:cs typeface="Aptos"/>
              </a:rPr>
              <a:t>Internal project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C14EA-2FBD-4B69-8770-848033C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70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README.md - product positioning and hybrid intelligence overview.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0B89D-C49E-42B0-B453-046EDE1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045AE-5630-4DDC-AA9F-5B8CE41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70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Docs/Worked/aurelius_status_report.md - current app status and demo mode.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0C9CE-6D2F-4AA6-BADB-4D4C72E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AED94-2870-4974-A81C-16AF2DC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70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Docs/Planned_Architecture/aurelius_landing_page_blueprint.md - workflow story and audience framing.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D5C97-9A6D-489C-9C82-F14896DD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D2A60-1BE6-47B0-AF8E-2DC0D8AD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470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server/app/api/v1/intelligence.py - implemented intelligence endpoints.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C52D4-6887-45F9-A514-AF3A2B7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ED075-34D2-4891-AD9C-4B0AF51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70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32238"/>
                </a:solidFill>
                <a:latin typeface="Aptos"/>
                <a:ea typeface="Aptos"/>
                <a:cs typeface="Aptos"/>
              </a:rPr>
              <a:t>server/app/main.py - FastAPI app setup and CORS behavior.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A39F8-88B0-4D44-80C6-48DA0ED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33023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E4DCD-9B90-4B81-87DD-D7C8F63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EE1B3-8ACC-4854-AFA1-CA1E62A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FD0FE-41E7-4719-88C1-139BAFEB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006E5-9F13-44F8-8911-A2C55FB3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76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Aurelius | University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65D95-3B8E-4B08-88D7-34E7E5A8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769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internal project 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9540D-1BF6-429A-9FD7-429A56A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484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9854-FE68-4F53-AA6E-46896E1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528B2-66F5-4481-9104-AE3CC04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107061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F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7836C-3F92-48C4-8701-3BB4947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D158E-AD2D-4EF6-893A-8A51462C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4953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32238"/>
                </a:solidFill>
                <a:latin typeface="Georgia"/>
                <a:ea typeface="Georgia"/>
                <a:cs typeface="Georgia"/>
              </a:rPr>
              <a:t>Aurelius is an API-first HR intelligence platform that is easy to explain, easy to demo, and realistic for a university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72923-35B1-4432-8C92-2026ED3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F5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55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53FD5-62F3-4484-9EAF-1B8785A5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96964-928F-467A-BE85-551422C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0BC2E-395F-4F63-A0CC-12384B5B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288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Introduction and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51B34-AB42-41D2-9ED6-BC483C8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B6208-BB15-42EC-A3AD-FBAF5C2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DE0C2-4DBB-4875-8EE0-55234307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 and system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D780-433E-44AE-9089-E889C55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6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F1138-66CE-41D9-8386-7FEBE6B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29EB2-FC76-45B0-A043-1E2FF49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90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functions and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F0975-F7AB-4389-9C9E-EA67D223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42A4F-89DE-4D51-9C0C-FB28067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Student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1FB9E-24EF-4E51-BC93-ED8C2F45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Uniqueness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65952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2026-05-24T18:09:58.3180000Z</dcterms:created>
  <dcterms:modified xsi:type="dcterms:W3CDTF">2026-05-24T18:09:58.3190000Z</dcterms:modified>
</coreProperties>
</file>